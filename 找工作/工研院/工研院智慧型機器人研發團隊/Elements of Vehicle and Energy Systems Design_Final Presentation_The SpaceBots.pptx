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70" r:id="rId2"/>
    <p:sldId id="271" r:id="rId3"/>
    <p:sldId id="272" r:id="rId4"/>
    <p:sldId id="273" r:id="rId5"/>
    <p:sldId id="274" r:id="rId6"/>
    <p:sldId id="275" r:id="rId7"/>
    <p:sldId id="319" r:id="rId8"/>
    <p:sldId id="276" r:id="rId9"/>
    <p:sldId id="277" r:id="rId10"/>
    <p:sldId id="278" r:id="rId11"/>
    <p:sldId id="279" r:id="rId12"/>
    <p:sldId id="280" r:id="rId13"/>
    <p:sldId id="295" r:id="rId14"/>
    <p:sldId id="283" r:id="rId15"/>
    <p:sldId id="296" r:id="rId16"/>
    <p:sldId id="300" r:id="rId17"/>
    <p:sldId id="284" r:id="rId18"/>
    <p:sldId id="305" r:id="rId19"/>
    <p:sldId id="282" r:id="rId20"/>
    <p:sldId id="290" r:id="rId21"/>
    <p:sldId id="309" r:id="rId22"/>
    <p:sldId id="310" r:id="rId23"/>
    <p:sldId id="312" r:id="rId24"/>
    <p:sldId id="313" r:id="rId25"/>
    <p:sldId id="314" r:id="rId26"/>
    <p:sldId id="299" r:id="rId27"/>
    <p:sldId id="320" r:id="rId28"/>
    <p:sldId id="315" r:id="rId29"/>
    <p:sldId id="306" r:id="rId30"/>
    <p:sldId id="307" r:id="rId31"/>
    <p:sldId id="308" r:id="rId32"/>
    <p:sldId id="303" r:id="rId33"/>
    <p:sldId id="304" r:id="rId34"/>
    <p:sldId id="316" r:id="rId35"/>
    <p:sldId id="317" r:id="rId36"/>
    <p:sldId id="318" r:id="rId37"/>
  </p:sldIdLst>
  <p:sldSz cx="10160000" cy="7620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6" frameSlides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00000"/>
    <a:srgbClr val="693333"/>
    <a:srgbClr val="47E130"/>
    <a:srgbClr val="CC0000"/>
    <a:srgbClr val="990000"/>
    <a:srgbClr val="FFFF99"/>
    <a:srgbClr val="FFFFCC"/>
    <a:srgbClr val="FFFCEF"/>
    <a:srgbClr val="FFF6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9518" autoAdjust="0"/>
    <p:restoredTop sz="76165" autoAdjust="0"/>
  </p:normalViewPr>
  <p:slideViewPr>
    <p:cSldViewPr>
      <p:cViewPr>
        <p:scale>
          <a:sx n="80" d="100"/>
          <a:sy n="80" d="100"/>
        </p:scale>
        <p:origin x="-120" y="-11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3632"/>
    </p:cViewPr>
  </p:sorterViewPr>
  <p:notesViewPr>
    <p:cSldViewPr>
      <p:cViewPr varScale="1">
        <p:scale>
          <a:sx n="87" d="100"/>
          <a:sy n="87" d="100"/>
        </p:scale>
        <p:origin x="-894" y="-84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B977A9-7018-418A-9326-0C617F07136B}" type="datetimeFigureOut">
              <a:rPr lang="en-US" smtClean="0"/>
              <a:t>5/8/2013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9C2B4C-35FE-48AD-82CC-3873258FD9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23207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F133C18-2F8B-4D29-9974-27C5A472F874}" type="datetimeFigureOut">
              <a:rPr lang="en-US" smtClean="0"/>
              <a:pPr/>
              <a:t>5/8/2013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01EACF-F61A-4290-B7E5-8C999C4A6A9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360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1EACF-F61A-4290-B7E5-8C999C4A6A96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1EACF-F61A-4290-B7E5-8C999C4A6A96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3624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MLI, which is a generally a 0.001-inch </a:t>
            </a:r>
            <a:r>
              <a:rPr lang="en-US" altLang="zh-TW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Kapton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film backed with a few Angstroms thick layer of silver and being stuffed with multiple web-type layers of 0.00025-inch </a:t>
            </a:r>
            <a:r>
              <a:rPr lang="en-US" altLang="zh-TW" sz="1200" b="0" i="0" u="none" strike="noStrike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Kapton</a:t>
            </a:r>
            <a:r>
              <a:rPr lang="en-US" altLang="zh-TW" sz="1200" b="0" i="0" u="none" strike="noStrike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a few Angstrom thick layer of silver on each side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1EACF-F61A-4290-B7E5-8C999C4A6A96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03624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1EACF-F61A-4290-B7E5-8C999C4A6A96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783372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1EACF-F61A-4290-B7E5-8C999C4A6A96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153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1EACF-F61A-4290-B7E5-8C999C4A6A96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153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1EACF-F61A-4290-B7E5-8C999C4A6A96}" type="slidenum">
              <a:rPr lang="en-US" smtClean="0"/>
              <a:pPr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09017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1EACF-F61A-4290-B7E5-8C999C4A6A96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65073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1EACF-F61A-4290-B7E5-8C999C4A6A96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6507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601EACF-F61A-4290-B7E5-8C999C4A6A96}" type="slidenum">
              <a:rPr lang="en-US" smtClean="0"/>
              <a:pPr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6507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-2"/>
            <a:ext cx="10160002" cy="990602"/>
          </a:xfrm>
          <a:prstGeom prst="rect">
            <a:avLst/>
          </a:prstGeom>
          <a:noFill/>
          <a:ln w="889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36512" y="6781800"/>
            <a:ext cx="101092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2622880" y="6909528"/>
            <a:ext cx="1371600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err="1" smtClean="0">
                <a:solidFill>
                  <a:srgbClr val="693333"/>
                </a:solidFill>
              </a:rPr>
              <a:t>FuelBot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6127709" y="7201463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>
            <a:off x="2202749" y="7214328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 userDrawn="1"/>
        </p:nvSpPr>
        <p:spPr>
          <a:xfrm>
            <a:off x="8489538" y="6887757"/>
            <a:ext cx="1219200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Conclusions</a:t>
            </a:r>
            <a:endParaRPr lang="en-US" sz="1600" i="1" dirty="0">
              <a:solidFill>
                <a:srgbClr val="693333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431800" y="6925294"/>
            <a:ext cx="1524000" cy="578068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glow rad="139700">
              <a:srgbClr val="C0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Introduction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30" name="Straight Connector 9"/>
          <p:cNvCxnSpPr/>
          <p:nvPr userDrawn="1"/>
        </p:nvCxnSpPr>
        <p:spPr>
          <a:xfrm rot="5400000" flipH="1" flipV="1">
            <a:off x="6340474" y="3800472"/>
            <a:ext cx="7620002" cy="19054"/>
          </a:xfrm>
          <a:prstGeom prst="straightConnector1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 userDrawn="1"/>
        </p:nvCxnSpPr>
        <p:spPr>
          <a:xfrm>
            <a:off x="-19068" y="7650163"/>
            <a:ext cx="10210800" cy="1587"/>
          </a:xfrm>
          <a:prstGeom prst="line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 userDrawn="1"/>
        </p:nvCxnSpPr>
        <p:spPr>
          <a:xfrm>
            <a:off x="-25400" y="0"/>
            <a:ext cx="10210800" cy="1587"/>
          </a:xfrm>
          <a:prstGeom prst="line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9"/>
          <p:cNvCxnSpPr/>
          <p:nvPr userDrawn="1"/>
        </p:nvCxnSpPr>
        <p:spPr>
          <a:xfrm rot="5400000" flipH="1" flipV="1">
            <a:off x="-3811586" y="3800474"/>
            <a:ext cx="7620002" cy="19054"/>
          </a:xfrm>
          <a:prstGeom prst="straightConnector1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1117600" y="1752600"/>
            <a:ext cx="8077200" cy="4343400"/>
          </a:xfrm>
        </p:spPr>
        <p:txBody>
          <a:bodyPr/>
          <a:lstStyle>
            <a:lvl1pPr>
              <a:defRPr>
                <a:solidFill>
                  <a:srgbClr val="693333"/>
                </a:solidFill>
              </a:defRPr>
            </a:lvl1pPr>
            <a:lvl2pPr>
              <a:defRPr>
                <a:solidFill>
                  <a:srgbClr val="693333"/>
                </a:solidFill>
              </a:defRPr>
            </a:lvl2pPr>
            <a:lvl3pPr>
              <a:defRPr>
                <a:solidFill>
                  <a:srgbClr val="693333"/>
                </a:solidFill>
              </a:defRPr>
            </a:lvl3pPr>
            <a:lvl4pPr>
              <a:defRPr>
                <a:solidFill>
                  <a:srgbClr val="693333"/>
                </a:solidFill>
              </a:defRPr>
            </a:lvl4pPr>
            <a:lvl5pPr>
              <a:defRPr>
                <a:solidFill>
                  <a:srgbClr val="693333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62000" y="-2"/>
            <a:ext cx="8636000" cy="995362"/>
          </a:xfrm>
        </p:spPr>
        <p:txBody>
          <a:bodyPr/>
          <a:lstStyle>
            <a:lvl1pPr>
              <a:defRPr>
                <a:solidFill>
                  <a:srgbClr val="69333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7" name="Slide Number Placeholder 6"/>
          <p:cNvSpPr>
            <a:spLocks noGrp="1"/>
          </p:cNvSpPr>
          <p:nvPr>
            <p:ph type="sldNum" sz="quarter" idx="13"/>
          </p:nvPr>
        </p:nvSpPr>
        <p:spPr>
          <a:xfrm>
            <a:off x="9669516" y="7209476"/>
            <a:ext cx="439684" cy="410524"/>
          </a:xfrm>
        </p:spPr>
        <p:txBody>
          <a:bodyPr/>
          <a:lstStyle/>
          <a:p>
            <a:fld id="{2D25C865-99B9-4335-8FDD-FD387DF08D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4661560" y="6925294"/>
            <a:ext cx="1219200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Trade Studies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26" name="Straight Connector 25"/>
          <p:cNvCxnSpPr/>
          <p:nvPr userDrawn="1"/>
        </p:nvCxnSpPr>
        <p:spPr>
          <a:xfrm>
            <a:off x="4241429" y="7214328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 userDrawn="1"/>
        </p:nvSpPr>
        <p:spPr>
          <a:xfrm>
            <a:off x="6547840" y="6887757"/>
            <a:ext cx="1274618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Results </a:t>
            </a:r>
            <a:br>
              <a:rPr lang="en-US" sz="1600" i="1" dirty="0" smtClean="0">
                <a:solidFill>
                  <a:srgbClr val="693333"/>
                </a:solidFill>
              </a:rPr>
            </a:br>
            <a:r>
              <a:rPr lang="en-US" sz="1600" i="1" dirty="0" smtClean="0">
                <a:solidFill>
                  <a:srgbClr val="693333"/>
                </a:solidFill>
              </a:rPr>
              <a:t>&amp;</a:t>
            </a:r>
            <a:r>
              <a:rPr lang="en-US" sz="1600" i="1" baseline="0" dirty="0" smtClean="0">
                <a:solidFill>
                  <a:srgbClr val="693333"/>
                </a:solidFill>
              </a:rPr>
              <a:t> Cost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31" name="Straight Connector 30"/>
          <p:cNvCxnSpPr/>
          <p:nvPr userDrawn="1"/>
        </p:nvCxnSpPr>
        <p:spPr>
          <a:xfrm>
            <a:off x="8069407" y="7201463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-2"/>
            <a:ext cx="10160002" cy="990602"/>
          </a:xfrm>
          <a:prstGeom prst="rect">
            <a:avLst/>
          </a:prstGeom>
          <a:noFill/>
          <a:ln w="889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36512" y="6781800"/>
            <a:ext cx="101092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2570596" y="6934200"/>
            <a:ext cx="1371600" cy="578068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err="1" smtClean="0">
                <a:solidFill>
                  <a:srgbClr val="693333"/>
                </a:solidFill>
              </a:rPr>
              <a:t>FuelBot</a:t>
            </a:r>
            <a:endParaRPr lang="en-US" sz="1600" i="1" dirty="0" smtClean="0">
              <a:solidFill>
                <a:srgbClr val="693333"/>
              </a:solidFill>
            </a:endParaRP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6111299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>
            <a:off x="2138507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 userDrawn="1"/>
        </p:nvSpPr>
        <p:spPr>
          <a:xfrm>
            <a:off x="8509000" y="6949966"/>
            <a:ext cx="1219200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Conclusions</a:t>
            </a:r>
            <a:endParaRPr lang="en-US" sz="1600" i="1" dirty="0">
              <a:solidFill>
                <a:srgbClr val="693333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355600" y="6934200"/>
            <a:ext cx="1524000" cy="57806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Introduction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30" name="Straight Connector 9"/>
          <p:cNvCxnSpPr/>
          <p:nvPr userDrawn="1"/>
        </p:nvCxnSpPr>
        <p:spPr>
          <a:xfrm rot="5400000" flipH="1" flipV="1">
            <a:off x="6340474" y="3800472"/>
            <a:ext cx="7620002" cy="19054"/>
          </a:xfrm>
          <a:prstGeom prst="straightConnector1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 userDrawn="1"/>
        </p:nvCxnSpPr>
        <p:spPr>
          <a:xfrm>
            <a:off x="-19068" y="7650163"/>
            <a:ext cx="10210800" cy="1587"/>
          </a:xfrm>
          <a:prstGeom prst="line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 userDrawn="1"/>
        </p:nvCxnSpPr>
        <p:spPr>
          <a:xfrm>
            <a:off x="-25400" y="0"/>
            <a:ext cx="10210800" cy="1587"/>
          </a:xfrm>
          <a:prstGeom prst="line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9"/>
          <p:cNvCxnSpPr/>
          <p:nvPr userDrawn="1"/>
        </p:nvCxnSpPr>
        <p:spPr>
          <a:xfrm rot="5400000" flipH="1" flipV="1">
            <a:off x="-3811586" y="3800474"/>
            <a:ext cx="7620002" cy="19054"/>
          </a:xfrm>
          <a:prstGeom prst="straightConnector1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1117600" y="1752600"/>
            <a:ext cx="8077200" cy="4343400"/>
          </a:xfrm>
        </p:spPr>
        <p:txBody>
          <a:bodyPr/>
          <a:lstStyle>
            <a:lvl1pPr>
              <a:defRPr>
                <a:solidFill>
                  <a:srgbClr val="693333"/>
                </a:solidFill>
              </a:defRPr>
            </a:lvl1pPr>
            <a:lvl2pPr>
              <a:defRPr>
                <a:solidFill>
                  <a:srgbClr val="693333"/>
                </a:solidFill>
              </a:defRPr>
            </a:lvl2pPr>
            <a:lvl3pPr>
              <a:defRPr>
                <a:solidFill>
                  <a:srgbClr val="693333"/>
                </a:solidFill>
              </a:defRPr>
            </a:lvl3pPr>
            <a:lvl4pPr>
              <a:defRPr>
                <a:solidFill>
                  <a:srgbClr val="693333"/>
                </a:solidFill>
              </a:defRPr>
            </a:lvl4pPr>
            <a:lvl5pPr>
              <a:defRPr>
                <a:solidFill>
                  <a:srgbClr val="693333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62000" y="-2"/>
            <a:ext cx="8636000" cy="995362"/>
          </a:xfrm>
        </p:spPr>
        <p:txBody>
          <a:bodyPr/>
          <a:lstStyle>
            <a:lvl1pPr>
              <a:defRPr>
                <a:solidFill>
                  <a:srgbClr val="69333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7" name="Slide Number Placeholder 6"/>
          <p:cNvSpPr>
            <a:spLocks noGrp="1"/>
          </p:cNvSpPr>
          <p:nvPr>
            <p:ph type="sldNum" sz="quarter" idx="13"/>
          </p:nvPr>
        </p:nvSpPr>
        <p:spPr>
          <a:xfrm>
            <a:off x="9669516" y="7209476"/>
            <a:ext cx="439684" cy="410524"/>
          </a:xfrm>
        </p:spPr>
        <p:txBody>
          <a:bodyPr/>
          <a:lstStyle/>
          <a:p>
            <a:fld id="{2D25C865-99B9-4335-8FDD-FD387DF08D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4633192" y="6949966"/>
            <a:ext cx="1219200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Trade Studies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26" name="Straight Connector 25"/>
          <p:cNvCxnSpPr/>
          <p:nvPr userDrawn="1"/>
        </p:nvCxnSpPr>
        <p:spPr>
          <a:xfrm>
            <a:off x="4201103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 userDrawn="1"/>
        </p:nvSpPr>
        <p:spPr>
          <a:xfrm>
            <a:off x="6543388" y="6925294"/>
            <a:ext cx="1274618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Results &amp; Cost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31" name="Straight Connector 30"/>
          <p:cNvCxnSpPr/>
          <p:nvPr userDrawn="1"/>
        </p:nvCxnSpPr>
        <p:spPr>
          <a:xfrm>
            <a:off x="8076913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606967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-2"/>
            <a:ext cx="10160002" cy="990602"/>
          </a:xfrm>
          <a:prstGeom prst="rect">
            <a:avLst/>
          </a:prstGeom>
          <a:noFill/>
          <a:ln w="889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36512" y="6781800"/>
            <a:ext cx="101092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2570596" y="6934200"/>
            <a:ext cx="1371600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err="1" smtClean="0">
                <a:solidFill>
                  <a:srgbClr val="693333"/>
                </a:solidFill>
              </a:rPr>
              <a:t>FuelBot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6111299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>
            <a:off x="2138507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 userDrawn="1"/>
        </p:nvSpPr>
        <p:spPr>
          <a:xfrm>
            <a:off x="8509000" y="6949966"/>
            <a:ext cx="1219200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Conclusions</a:t>
            </a:r>
            <a:endParaRPr lang="en-US" sz="1600" i="1" dirty="0">
              <a:solidFill>
                <a:srgbClr val="693333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355600" y="6934200"/>
            <a:ext cx="1524000" cy="57806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Introduction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30" name="Straight Connector 9"/>
          <p:cNvCxnSpPr/>
          <p:nvPr userDrawn="1"/>
        </p:nvCxnSpPr>
        <p:spPr>
          <a:xfrm rot="5400000" flipH="1" flipV="1">
            <a:off x="6340474" y="3800472"/>
            <a:ext cx="7620002" cy="19054"/>
          </a:xfrm>
          <a:prstGeom prst="straightConnector1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 userDrawn="1"/>
        </p:nvCxnSpPr>
        <p:spPr>
          <a:xfrm>
            <a:off x="-19068" y="7650163"/>
            <a:ext cx="10210800" cy="1587"/>
          </a:xfrm>
          <a:prstGeom prst="line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 userDrawn="1"/>
        </p:nvCxnSpPr>
        <p:spPr>
          <a:xfrm>
            <a:off x="-25400" y="0"/>
            <a:ext cx="10210800" cy="1587"/>
          </a:xfrm>
          <a:prstGeom prst="line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9"/>
          <p:cNvCxnSpPr/>
          <p:nvPr userDrawn="1"/>
        </p:nvCxnSpPr>
        <p:spPr>
          <a:xfrm rot="5400000" flipH="1" flipV="1">
            <a:off x="-3811586" y="3800474"/>
            <a:ext cx="7620002" cy="19054"/>
          </a:xfrm>
          <a:prstGeom prst="straightConnector1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1117600" y="1752600"/>
            <a:ext cx="8077200" cy="4343400"/>
          </a:xfrm>
        </p:spPr>
        <p:txBody>
          <a:bodyPr/>
          <a:lstStyle>
            <a:lvl1pPr>
              <a:defRPr>
                <a:solidFill>
                  <a:srgbClr val="693333"/>
                </a:solidFill>
              </a:defRPr>
            </a:lvl1pPr>
            <a:lvl2pPr>
              <a:defRPr>
                <a:solidFill>
                  <a:srgbClr val="693333"/>
                </a:solidFill>
              </a:defRPr>
            </a:lvl2pPr>
            <a:lvl3pPr>
              <a:defRPr>
                <a:solidFill>
                  <a:srgbClr val="693333"/>
                </a:solidFill>
              </a:defRPr>
            </a:lvl3pPr>
            <a:lvl4pPr>
              <a:defRPr>
                <a:solidFill>
                  <a:srgbClr val="693333"/>
                </a:solidFill>
              </a:defRPr>
            </a:lvl4pPr>
            <a:lvl5pPr>
              <a:defRPr>
                <a:solidFill>
                  <a:srgbClr val="693333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62000" y="-2"/>
            <a:ext cx="8636000" cy="995362"/>
          </a:xfrm>
        </p:spPr>
        <p:txBody>
          <a:bodyPr/>
          <a:lstStyle>
            <a:lvl1pPr>
              <a:defRPr>
                <a:solidFill>
                  <a:srgbClr val="69333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7" name="Slide Number Placeholder 6"/>
          <p:cNvSpPr>
            <a:spLocks noGrp="1"/>
          </p:cNvSpPr>
          <p:nvPr>
            <p:ph type="sldNum" sz="quarter" idx="13"/>
          </p:nvPr>
        </p:nvSpPr>
        <p:spPr>
          <a:xfrm>
            <a:off x="9669516" y="7209476"/>
            <a:ext cx="439684" cy="410524"/>
          </a:xfrm>
        </p:spPr>
        <p:txBody>
          <a:bodyPr/>
          <a:lstStyle/>
          <a:p>
            <a:fld id="{2D25C865-99B9-4335-8FDD-FD387DF08D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4633192" y="6949966"/>
            <a:ext cx="1219200" cy="578068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Trade Studies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26" name="Straight Connector 25"/>
          <p:cNvCxnSpPr/>
          <p:nvPr userDrawn="1"/>
        </p:nvCxnSpPr>
        <p:spPr>
          <a:xfrm>
            <a:off x="4201103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 userDrawn="1"/>
        </p:nvSpPr>
        <p:spPr>
          <a:xfrm>
            <a:off x="6543388" y="6925294"/>
            <a:ext cx="1274618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Results &amp;</a:t>
            </a:r>
            <a:r>
              <a:rPr lang="en-US" sz="1600" i="1" baseline="0" dirty="0" smtClean="0">
                <a:solidFill>
                  <a:srgbClr val="693333"/>
                </a:solidFill>
              </a:rPr>
              <a:t> Cost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31" name="Straight Connector 30"/>
          <p:cNvCxnSpPr/>
          <p:nvPr userDrawn="1"/>
        </p:nvCxnSpPr>
        <p:spPr>
          <a:xfrm>
            <a:off x="8076913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115541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-2"/>
            <a:ext cx="10160002" cy="990602"/>
          </a:xfrm>
          <a:prstGeom prst="rect">
            <a:avLst/>
          </a:prstGeom>
          <a:noFill/>
          <a:ln w="889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36512" y="6781800"/>
            <a:ext cx="101092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2184400" y="6934200"/>
            <a:ext cx="1371600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err="1" smtClean="0">
                <a:solidFill>
                  <a:srgbClr val="693333"/>
                </a:solidFill>
              </a:rPr>
              <a:t>FuelBot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6735618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>
            <a:off x="1955800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 userDrawn="1"/>
        </p:nvSpPr>
        <p:spPr>
          <a:xfrm>
            <a:off x="8509000" y="6949966"/>
            <a:ext cx="1219200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Conclusions</a:t>
            </a:r>
            <a:endParaRPr lang="en-US" sz="1600" i="1" dirty="0">
              <a:solidFill>
                <a:srgbClr val="693333"/>
              </a:solidFill>
            </a:endParaRPr>
          </a:p>
        </p:txBody>
      </p:sp>
      <p:sp>
        <p:nvSpPr>
          <p:cNvPr id="24" name="Rectangle 23"/>
          <p:cNvSpPr/>
          <p:nvPr userDrawn="1"/>
        </p:nvSpPr>
        <p:spPr>
          <a:xfrm>
            <a:off x="5405582" y="6934200"/>
            <a:ext cx="1274618" cy="578068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Detailed Sizing</a:t>
            </a:r>
            <a:endParaRPr lang="en-US" sz="1600" i="1" dirty="0">
              <a:solidFill>
                <a:srgbClr val="693333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355600" y="6934200"/>
            <a:ext cx="1524000" cy="57806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Introduction </a:t>
            </a:r>
          </a:p>
        </p:txBody>
      </p:sp>
      <p:cxnSp>
        <p:nvCxnSpPr>
          <p:cNvPr id="30" name="Straight Connector 9"/>
          <p:cNvCxnSpPr/>
          <p:nvPr userDrawn="1"/>
        </p:nvCxnSpPr>
        <p:spPr>
          <a:xfrm rot="5400000" flipH="1" flipV="1">
            <a:off x="6340474" y="3800472"/>
            <a:ext cx="7620002" cy="19054"/>
          </a:xfrm>
          <a:prstGeom prst="straightConnector1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 userDrawn="1"/>
        </p:nvCxnSpPr>
        <p:spPr>
          <a:xfrm>
            <a:off x="-19068" y="7650163"/>
            <a:ext cx="10210800" cy="1587"/>
          </a:xfrm>
          <a:prstGeom prst="line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 userDrawn="1"/>
        </p:nvCxnSpPr>
        <p:spPr>
          <a:xfrm>
            <a:off x="-25400" y="0"/>
            <a:ext cx="10210800" cy="1587"/>
          </a:xfrm>
          <a:prstGeom prst="line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9"/>
          <p:cNvCxnSpPr/>
          <p:nvPr userDrawn="1"/>
        </p:nvCxnSpPr>
        <p:spPr>
          <a:xfrm rot="5400000" flipH="1" flipV="1">
            <a:off x="-3811586" y="3800474"/>
            <a:ext cx="7620002" cy="19054"/>
          </a:xfrm>
          <a:prstGeom prst="straightConnector1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1117600" y="1752600"/>
            <a:ext cx="8077200" cy="4343400"/>
          </a:xfrm>
        </p:spPr>
        <p:txBody>
          <a:bodyPr/>
          <a:lstStyle>
            <a:lvl1pPr>
              <a:defRPr>
                <a:solidFill>
                  <a:srgbClr val="693333"/>
                </a:solidFill>
              </a:defRPr>
            </a:lvl1pPr>
            <a:lvl2pPr>
              <a:defRPr>
                <a:solidFill>
                  <a:srgbClr val="693333"/>
                </a:solidFill>
              </a:defRPr>
            </a:lvl2pPr>
            <a:lvl3pPr>
              <a:defRPr>
                <a:solidFill>
                  <a:srgbClr val="693333"/>
                </a:solidFill>
              </a:defRPr>
            </a:lvl3pPr>
            <a:lvl4pPr>
              <a:defRPr>
                <a:solidFill>
                  <a:srgbClr val="693333"/>
                </a:solidFill>
              </a:defRPr>
            </a:lvl4pPr>
            <a:lvl5pPr>
              <a:defRPr>
                <a:solidFill>
                  <a:srgbClr val="693333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62000" y="-2"/>
            <a:ext cx="8636000" cy="995362"/>
          </a:xfrm>
        </p:spPr>
        <p:txBody>
          <a:bodyPr/>
          <a:lstStyle>
            <a:lvl1pPr>
              <a:defRPr>
                <a:solidFill>
                  <a:srgbClr val="69333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7" name="Slide Number Placeholder 6"/>
          <p:cNvSpPr>
            <a:spLocks noGrp="1"/>
          </p:cNvSpPr>
          <p:nvPr>
            <p:ph type="sldNum" sz="quarter" idx="13"/>
          </p:nvPr>
        </p:nvSpPr>
        <p:spPr>
          <a:xfrm>
            <a:off x="9669516" y="7209476"/>
            <a:ext cx="439684" cy="410524"/>
          </a:xfrm>
        </p:spPr>
        <p:txBody>
          <a:bodyPr/>
          <a:lstStyle/>
          <a:p>
            <a:fld id="{2D25C865-99B9-4335-8FDD-FD387DF08D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3860800" y="6949966"/>
            <a:ext cx="1219200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Trade Studies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26" name="Straight Connector 25"/>
          <p:cNvCxnSpPr/>
          <p:nvPr userDrawn="1"/>
        </p:nvCxnSpPr>
        <p:spPr>
          <a:xfrm>
            <a:off x="3611418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 userDrawn="1"/>
        </p:nvCxnSpPr>
        <p:spPr>
          <a:xfrm>
            <a:off x="5156200" y="7269678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 userDrawn="1"/>
        </p:nvSpPr>
        <p:spPr>
          <a:xfrm>
            <a:off x="7005782" y="6925294"/>
            <a:ext cx="1274618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Results &amp; Cost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31" name="Straight Connector 30"/>
          <p:cNvCxnSpPr/>
          <p:nvPr userDrawn="1"/>
        </p:nvCxnSpPr>
        <p:spPr>
          <a:xfrm>
            <a:off x="8356600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45188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-2"/>
            <a:ext cx="10160002" cy="990602"/>
          </a:xfrm>
          <a:prstGeom prst="rect">
            <a:avLst/>
          </a:prstGeom>
          <a:noFill/>
          <a:ln w="889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36512" y="6781800"/>
            <a:ext cx="101092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2570596" y="6934200"/>
            <a:ext cx="1371600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err="1" smtClean="0">
                <a:solidFill>
                  <a:srgbClr val="693333"/>
                </a:solidFill>
              </a:rPr>
              <a:t>FuelBot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6111299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>
            <a:off x="2138507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 userDrawn="1"/>
        </p:nvSpPr>
        <p:spPr>
          <a:xfrm>
            <a:off x="8509000" y="6949966"/>
            <a:ext cx="1219200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Conclusions</a:t>
            </a:r>
            <a:endParaRPr lang="en-US" sz="1600" i="1" dirty="0">
              <a:solidFill>
                <a:srgbClr val="693333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355600" y="6934200"/>
            <a:ext cx="1524000" cy="57806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Introduction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30" name="Straight Connector 9"/>
          <p:cNvCxnSpPr/>
          <p:nvPr userDrawn="1"/>
        </p:nvCxnSpPr>
        <p:spPr>
          <a:xfrm rot="5400000" flipH="1" flipV="1">
            <a:off x="6340474" y="3800472"/>
            <a:ext cx="7620002" cy="19054"/>
          </a:xfrm>
          <a:prstGeom prst="straightConnector1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 userDrawn="1"/>
        </p:nvCxnSpPr>
        <p:spPr>
          <a:xfrm>
            <a:off x="-19068" y="7650163"/>
            <a:ext cx="10210800" cy="1587"/>
          </a:xfrm>
          <a:prstGeom prst="line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 userDrawn="1"/>
        </p:nvCxnSpPr>
        <p:spPr>
          <a:xfrm>
            <a:off x="-25400" y="0"/>
            <a:ext cx="10210800" cy="1587"/>
          </a:xfrm>
          <a:prstGeom prst="line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9"/>
          <p:cNvCxnSpPr/>
          <p:nvPr userDrawn="1"/>
        </p:nvCxnSpPr>
        <p:spPr>
          <a:xfrm rot="5400000" flipH="1" flipV="1">
            <a:off x="-3811586" y="3800474"/>
            <a:ext cx="7620002" cy="19054"/>
          </a:xfrm>
          <a:prstGeom prst="straightConnector1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1117600" y="1752600"/>
            <a:ext cx="8077200" cy="4343400"/>
          </a:xfrm>
        </p:spPr>
        <p:txBody>
          <a:bodyPr/>
          <a:lstStyle>
            <a:lvl1pPr>
              <a:defRPr>
                <a:solidFill>
                  <a:srgbClr val="693333"/>
                </a:solidFill>
              </a:defRPr>
            </a:lvl1pPr>
            <a:lvl2pPr>
              <a:defRPr>
                <a:solidFill>
                  <a:srgbClr val="693333"/>
                </a:solidFill>
              </a:defRPr>
            </a:lvl2pPr>
            <a:lvl3pPr>
              <a:defRPr>
                <a:solidFill>
                  <a:srgbClr val="693333"/>
                </a:solidFill>
              </a:defRPr>
            </a:lvl3pPr>
            <a:lvl4pPr>
              <a:defRPr>
                <a:solidFill>
                  <a:srgbClr val="693333"/>
                </a:solidFill>
              </a:defRPr>
            </a:lvl4pPr>
            <a:lvl5pPr>
              <a:defRPr>
                <a:solidFill>
                  <a:srgbClr val="693333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62000" y="-2"/>
            <a:ext cx="8636000" cy="995362"/>
          </a:xfrm>
        </p:spPr>
        <p:txBody>
          <a:bodyPr/>
          <a:lstStyle>
            <a:lvl1pPr>
              <a:defRPr>
                <a:solidFill>
                  <a:srgbClr val="69333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7" name="Slide Number Placeholder 6"/>
          <p:cNvSpPr>
            <a:spLocks noGrp="1"/>
          </p:cNvSpPr>
          <p:nvPr>
            <p:ph type="sldNum" sz="quarter" idx="13"/>
          </p:nvPr>
        </p:nvSpPr>
        <p:spPr>
          <a:xfrm>
            <a:off x="9669516" y="7209476"/>
            <a:ext cx="439684" cy="410524"/>
          </a:xfrm>
        </p:spPr>
        <p:txBody>
          <a:bodyPr/>
          <a:lstStyle/>
          <a:p>
            <a:fld id="{2D25C865-99B9-4335-8FDD-FD387DF08D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4633192" y="6949966"/>
            <a:ext cx="1219200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Trade Studies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26" name="Straight Connector 25"/>
          <p:cNvCxnSpPr/>
          <p:nvPr userDrawn="1"/>
        </p:nvCxnSpPr>
        <p:spPr>
          <a:xfrm>
            <a:off x="4201103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 userDrawn="1"/>
        </p:nvSpPr>
        <p:spPr>
          <a:xfrm>
            <a:off x="6543388" y="6925294"/>
            <a:ext cx="1274618" cy="578068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Results &amp;</a:t>
            </a:r>
            <a:r>
              <a:rPr lang="en-US" sz="1600" i="1" baseline="0" dirty="0" smtClean="0">
                <a:solidFill>
                  <a:srgbClr val="693333"/>
                </a:solidFill>
              </a:rPr>
              <a:t> Cost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31" name="Straight Connector 30"/>
          <p:cNvCxnSpPr/>
          <p:nvPr userDrawn="1"/>
        </p:nvCxnSpPr>
        <p:spPr>
          <a:xfrm>
            <a:off x="8076913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7196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-2"/>
            <a:ext cx="10160002" cy="990602"/>
          </a:xfrm>
          <a:prstGeom prst="rect">
            <a:avLst/>
          </a:prstGeom>
          <a:noFill/>
          <a:ln w="889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36512" y="6781800"/>
            <a:ext cx="101092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2570596" y="6934200"/>
            <a:ext cx="1371600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err="1" smtClean="0">
                <a:solidFill>
                  <a:srgbClr val="693333"/>
                </a:solidFill>
              </a:rPr>
              <a:t>FuelBot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6111299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>
            <a:off x="2138507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 userDrawn="1"/>
        </p:nvSpPr>
        <p:spPr>
          <a:xfrm>
            <a:off x="8509000" y="6949966"/>
            <a:ext cx="1219200" cy="578068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Conclusions</a:t>
            </a:r>
            <a:endParaRPr lang="en-US" sz="1600" i="1" dirty="0">
              <a:solidFill>
                <a:srgbClr val="693333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355600" y="6934200"/>
            <a:ext cx="1524000" cy="57806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Introduction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30" name="Straight Connector 9"/>
          <p:cNvCxnSpPr/>
          <p:nvPr userDrawn="1"/>
        </p:nvCxnSpPr>
        <p:spPr>
          <a:xfrm rot="5400000" flipH="1" flipV="1">
            <a:off x="6340474" y="3800472"/>
            <a:ext cx="7620002" cy="19054"/>
          </a:xfrm>
          <a:prstGeom prst="straightConnector1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 userDrawn="1"/>
        </p:nvCxnSpPr>
        <p:spPr>
          <a:xfrm>
            <a:off x="-19068" y="7650163"/>
            <a:ext cx="10210800" cy="1587"/>
          </a:xfrm>
          <a:prstGeom prst="line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 userDrawn="1"/>
        </p:nvCxnSpPr>
        <p:spPr>
          <a:xfrm>
            <a:off x="-25400" y="0"/>
            <a:ext cx="10210800" cy="1587"/>
          </a:xfrm>
          <a:prstGeom prst="line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9"/>
          <p:cNvCxnSpPr/>
          <p:nvPr userDrawn="1"/>
        </p:nvCxnSpPr>
        <p:spPr>
          <a:xfrm rot="5400000" flipH="1" flipV="1">
            <a:off x="-3811586" y="3800474"/>
            <a:ext cx="7620002" cy="19054"/>
          </a:xfrm>
          <a:prstGeom prst="straightConnector1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1117600" y="1752600"/>
            <a:ext cx="8077200" cy="4343400"/>
          </a:xfrm>
        </p:spPr>
        <p:txBody>
          <a:bodyPr/>
          <a:lstStyle>
            <a:lvl1pPr>
              <a:defRPr>
                <a:solidFill>
                  <a:srgbClr val="693333"/>
                </a:solidFill>
              </a:defRPr>
            </a:lvl1pPr>
            <a:lvl2pPr>
              <a:defRPr>
                <a:solidFill>
                  <a:srgbClr val="693333"/>
                </a:solidFill>
              </a:defRPr>
            </a:lvl2pPr>
            <a:lvl3pPr>
              <a:defRPr>
                <a:solidFill>
                  <a:srgbClr val="693333"/>
                </a:solidFill>
              </a:defRPr>
            </a:lvl3pPr>
            <a:lvl4pPr>
              <a:defRPr>
                <a:solidFill>
                  <a:srgbClr val="693333"/>
                </a:solidFill>
              </a:defRPr>
            </a:lvl4pPr>
            <a:lvl5pPr>
              <a:defRPr>
                <a:solidFill>
                  <a:srgbClr val="693333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62000" y="-2"/>
            <a:ext cx="8636000" cy="995362"/>
          </a:xfrm>
        </p:spPr>
        <p:txBody>
          <a:bodyPr/>
          <a:lstStyle>
            <a:lvl1pPr>
              <a:defRPr>
                <a:solidFill>
                  <a:srgbClr val="69333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7" name="Slide Number Placeholder 6"/>
          <p:cNvSpPr>
            <a:spLocks noGrp="1"/>
          </p:cNvSpPr>
          <p:nvPr>
            <p:ph type="sldNum" sz="quarter" idx="13"/>
          </p:nvPr>
        </p:nvSpPr>
        <p:spPr>
          <a:xfrm>
            <a:off x="9669516" y="7209476"/>
            <a:ext cx="439684" cy="410524"/>
          </a:xfrm>
        </p:spPr>
        <p:txBody>
          <a:bodyPr/>
          <a:lstStyle/>
          <a:p>
            <a:fld id="{2D25C865-99B9-4335-8FDD-FD387DF08D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4633192" y="6949966"/>
            <a:ext cx="1219200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Trade Studies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26" name="Straight Connector 25"/>
          <p:cNvCxnSpPr/>
          <p:nvPr userDrawn="1"/>
        </p:nvCxnSpPr>
        <p:spPr>
          <a:xfrm>
            <a:off x="4201103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 userDrawn="1"/>
        </p:nvSpPr>
        <p:spPr>
          <a:xfrm>
            <a:off x="6543388" y="6925294"/>
            <a:ext cx="1274618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Results &amp; Cost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31" name="Straight Connector 30"/>
          <p:cNvCxnSpPr/>
          <p:nvPr userDrawn="1"/>
        </p:nvCxnSpPr>
        <p:spPr>
          <a:xfrm>
            <a:off x="8076913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16072662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-2"/>
            <a:ext cx="10160002" cy="990602"/>
          </a:xfrm>
          <a:prstGeom prst="rect">
            <a:avLst/>
          </a:prstGeom>
          <a:noFill/>
          <a:ln w="889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36512" y="6781800"/>
            <a:ext cx="101092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2570596" y="6934200"/>
            <a:ext cx="1371600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err="1" smtClean="0">
                <a:solidFill>
                  <a:srgbClr val="693333"/>
                </a:solidFill>
              </a:rPr>
              <a:t>FuelBot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6111299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>
            <a:off x="2138507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 userDrawn="1"/>
        </p:nvSpPr>
        <p:spPr>
          <a:xfrm>
            <a:off x="8509000" y="6949966"/>
            <a:ext cx="1219200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Conclusions</a:t>
            </a:r>
            <a:endParaRPr lang="en-US" sz="1600" i="1" dirty="0">
              <a:solidFill>
                <a:srgbClr val="693333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355600" y="6934200"/>
            <a:ext cx="1524000" cy="57806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Introduction</a:t>
            </a:r>
          </a:p>
        </p:txBody>
      </p:sp>
      <p:cxnSp>
        <p:nvCxnSpPr>
          <p:cNvPr id="30" name="Straight Connector 9"/>
          <p:cNvCxnSpPr/>
          <p:nvPr userDrawn="1"/>
        </p:nvCxnSpPr>
        <p:spPr>
          <a:xfrm rot="5400000" flipH="1" flipV="1">
            <a:off x="6340474" y="3800472"/>
            <a:ext cx="7620002" cy="19054"/>
          </a:xfrm>
          <a:prstGeom prst="straightConnector1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 userDrawn="1"/>
        </p:nvCxnSpPr>
        <p:spPr>
          <a:xfrm>
            <a:off x="-19068" y="7650163"/>
            <a:ext cx="10210800" cy="1587"/>
          </a:xfrm>
          <a:prstGeom prst="line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 userDrawn="1"/>
        </p:nvCxnSpPr>
        <p:spPr>
          <a:xfrm>
            <a:off x="-25400" y="0"/>
            <a:ext cx="10210800" cy="1587"/>
          </a:xfrm>
          <a:prstGeom prst="line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9"/>
          <p:cNvCxnSpPr/>
          <p:nvPr userDrawn="1"/>
        </p:nvCxnSpPr>
        <p:spPr>
          <a:xfrm rot="5400000" flipH="1" flipV="1">
            <a:off x="-3811586" y="3800474"/>
            <a:ext cx="7620002" cy="19054"/>
          </a:xfrm>
          <a:prstGeom prst="straightConnector1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1117600" y="1752600"/>
            <a:ext cx="8077200" cy="4343400"/>
          </a:xfrm>
        </p:spPr>
        <p:txBody>
          <a:bodyPr/>
          <a:lstStyle>
            <a:lvl1pPr>
              <a:defRPr>
                <a:solidFill>
                  <a:srgbClr val="693333"/>
                </a:solidFill>
              </a:defRPr>
            </a:lvl1pPr>
            <a:lvl2pPr>
              <a:defRPr>
                <a:solidFill>
                  <a:srgbClr val="693333"/>
                </a:solidFill>
              </a:defRPr>
            </a:lvl2pPr>
            <a:lvl3pPr>
              <a:defRPr>
                <a:solidFill>
                  <a:srgbClr val="693333"/>
                </a:solidFill>
              </a:defRPr>
            </a:lvl3pPr>
            <a:lvl4pPr>
              <a:defRPr>
                <a:solidFill>
                  <a:srgbClr val="693333"/>
                </a:solidFill>
              </a:defRPr>
            </a:lvl4pPr>
            <a:lvl5pPr>
              <a:defRPr>
                <a:solidFill>
                  <a:srgbClr val="693333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62000" y="-2"/>
            <a:ext cx="8636000" cy="995362"/>
          </a:xfrm>
        </p:spPr>
        <p:txBody>
          <a:bodyPr/>
          <a:lstStyle>
            <a:lvl1pPr>
              <a:defRPr>
                <a:solidFill>
                  <a:srgbClr val="69333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7" name="Slide Number Placeholder 6"/>
          <p:cNvSpPr>
            <a:spLocks noGrp="1"/>
          </p:cNvSpPr>
          <p:nvPr>
            <p:ph type="sldNum" sz="quarter" idx="13"/>
          </p:nvPr>
        </p:nvSpPr>
        <p:spPr>
          <a:xfrm>
            <a:off x="9669516" y="7209476"/>
            <a:ext cx="439684" cy="410524"/>
          </a:xfrm>
        </p:spPr>
        <p:txBody>
          <a:bodyPr/>
          <a:lstStyle/>
          <a:p>
            <a:fld id="{2D25C865-99B9-4335-8FDD-FD387DF08D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4633192" y="6949966"/>
            <a:ext cx="1219200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Trade Studies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26" name="Straight Connector 25"/>
          <p:cNvCxnSpPr/>
          <p:nvPr userDrawn="1"/>
        </p:nvCxnSpPr>
        <p:spPr>
          <a:xfrm>
            <a:off x="4201103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 userDrawn="1"/>
        </p:nvSpPr>
        <p:spPr>
          <a:xfrm>
            <a:off x="6543388" y="6925294"/>
            <a:ext cx="1274618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Results &amp; Cost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31" name="Straight Connector 30"/>
          <p:cNvCxnSpPr/>
          <p:nvPr userDrawn="1"/>
        </p:nvCxnSpPr>
        <p:spPr>
          <a:xfrm>
            <a:off x="8076913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006179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-2"/>
            <a:ext cx="10160002" cy="990602"/>
          </a:xfrm>
          <a:prstGeom prst="rect">
            <a:avLst/>
          </a:prstGeom>
          <a:noFill/>
          <a:ln w="889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36512" y="6781800"/>
            <a:ext cx="101092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2184400" y="6934200"/>
            <a:ext cx="1371600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Research</a:t>
            </a:r>
            <a:r>
              <a:rPr lang="en-US" sz="1600" i="1" baseline="0" dirty="0" smtClean="0">
                <a:solidFill>
                  <a:srgbClr val="693333"/>
                </a:solidFill>
              </a:rPr>
              <a:t> &amp; Selection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6735618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>
            <a:off x="1955800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 userDrawn="1"/>
        </p:nvSpPr>
        <p:spPr>
          <a:xfrm>
            <a:off x="8509000" y="6949966"/>
            <a:ext cx="1219200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Future Tasks</a:t>
            </a:r>
            <a:endParaRPr lang="en-US" sz="1600" i="1" dirty="0">
              <a:solidFill>
                <a:srgbClr val="693333"/>
              </a:solidFill>
            </a:endParaRPr>
          </a:p>
        </p:txBody>
      </p:sp>
      <p:sp>
        <p:nvSpPr>
          <p:cNvPr id="24" name="Rectangle 23"/>
          <p:cNvSpPr/>
          <p:nvPr userDrawn="1"/>
        </p:nvSpPr>
        <p:spPr>
          <a:xfrm>
            <a:off x="5537200" y="6934200"/>
            <a:ext cx="1143000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Testing</a:t>
            </a:r>
            <a:endParaRPr lang="en-US" sz="1600" i="1" dirty="0">
              <a:solidFill>
                <a:srgbClr val="693333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355600" y="6934200"/>
            <a:ext cx="1524000" cy="57806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Introduction &amp; Goals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30" name="Straight Connector 9"/>
          <p:cNvCxnSpPr/>
          <p:nvPr userDrawn="1"/>
        </p:nvCxnSpPr>
        <p:spPr>
          <a:xfrm rot="5400000" flipH="1" flipV="1">
            <a:off x="6340474" y="3800472"/>
            <a:ext cx="7620002" cy="19054"/>
          </a:xfrm>
          <a:prstGeom prst="straightConnector1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 userDrawn="1"/>
        </p:nvCxnSpPr>
        <p:spPr>
          <a:xfrm>
            <a:off x="-19068" y="7650163"/>
            <a:ext cx="10210800" cy="1587"/>
          </a:xfrm>
          <a:prstGeom prst="line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 userDrawn="1"/>
        </p:nvCxnSpPr>
        <p:spPr>
          <a:xfrm>
            <a:off x="-25400" y="0"/>
            <a:ext cx="10210800" cy="1587"/>
          </a:xfrm>
          <a:prstGeom prst="line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9"/>
          <p:cNvCxnSpPr/>
          <p:nvPr userDrawn="1"/>
        </p:nvCxnSpPr>
        <p:spPr>
          <a:xfrm rot="5400000" flipH="1" flipV="1">
            <a:off x="-3811586" y="3800474"/>
            <a:ext cx="7620002" cy="19054"/>
          </a:xfrm>
          <a:prstGeom prst="straightConnector1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1117600" y="1752600"/>
            <a:ext cx="8077200" cy="4343400"/>
          </a:xfrm>
        </p:spPr>
        <p:txBody>
          <a:bodyPr/>
          <a:lstStyle>
            <a:lvl1pPr>
              <a:defRPr>
                <a:solidFill>
                  <a:srgbClr val="693333"/>
                </a:solidFill>
              </a:defRPr>
            </a:lvl1pPr>
            <a:lvl2pPr>
              <a:defRPr>
                <a:solidFill>
                  <a:srgbClr val="693333"/>
                </a:solidFill>
              </a:defRPr>
            </a:lvl2pPr>
            <a:lvl3pPr>
              <a:defRPr>
                <a:solidFill>
                  <a:srgbClr val="693333"/>
                </a:solidFill>
              </a:defRPr>
            </a:lvl3pPr>
            <a:lvl4pPr>
              <a:defRPr>
                <a:solidFill>
                  <a:srgbClr val="693333"/>
                </a:solidFill>
              </a:defRPr>
            </a:lvl4pPr>
            <a:lvl5pPr>
              <a:defRPr>
                <a:solidFill>
                  <a:srgbClr val="693333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62000" y="-2"/>
            <a:ext cx="8636000" cy="995362"/>
          </a:xfrm>
        </p:spPr>
        <p:txBody>
          <a:bodyPr/>
          <a:lstStyle>
            <a:lvl1pPr>
              <a:defRPr>
                <a:solidFill>
                  <a:srgbClr val="69333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7" name="Slide Number Placeholder 6"/>
          <p:cNvSpPr>
            <a:spLocks noGrp="1"/>
          </p:cNvSpPr>
          <p:nvPr>
            <p:ph type="sldNum" sz="quarter" idx="13"/>
          </p:nvPr>
        </p:nvSpPr>
        <p:spPr>
          <a:xfrm>
            <a:off x="9669516" y="7209476"/>
            <a:ext cx="439684" cy="410524"/>
          </a:xfrm>
        </p:spPr>
        <p:txBody>
          <a:bodyPr/>
          <a:lstStyle/>
          <a:p>
            <a:fld id="{2D25C865-99B9-4335-8FDD-FD387DF08D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3937000" y="6949966"/>
            <a:ext cx="1295400" cy="578068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Design &amp; Testing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26" name="Straight Connector 25"/>
          <p:cNvCxnSpPr/>
          <p:nvPr userDrawn="1"/>
        </p:nvCxnSpPr>
        <p:spPr>
          <a:xfrm>
            <a:off x="3611418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 userDrawn="1"/>
        </p:nvCxnSpPr>
        <p:spPr>
          <a:xfrm>
            <a:off x="5287818" y="7269678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 userDrawn="1"/>
        </p:nvSpPr>
        <p:spPr>
          <a:xfrm>
            <a:off x="7005782" y="6925294"/>
            <a:ext cx="1274618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Performance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31" name="Straight Connector 30"/>
          <p:cNvCxnSpPr/>
          <p:nvPr userDrawn="1"/>
        </p:nvCxnSpPr>
        <p:spPr>
          <a:xfrm>
            <a:off x="8356600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2620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-2"/>
            <a:ext cx="10160002" cy="990602"/>
          </a:xfrm>
          <a:prstGeom prst="rect">
            <a:avLst/>
          </a:prstGeom>
          <a:noFill/>
          <a:ln w="889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36512" y="6781800"/>
            <a:ext cx="101092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2184400" y="6934200"/>
            <a:ext cx="1371600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Research</a:t>
            </a:r>
            <a:r>
              <a:rPr lang="en-US" sz="1600" i="1" baseline="0" dirty="0" smtClean="0">
                <a:solidFill>
                  <a:srgbClr val="693333"/>
                </a:solidFill>
              </a:rPr>
              <a:t> &amp; Selection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6735618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>
            <a:off x="1955800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 userDrawn="1"/>
        </p:nvSpPr>
        <p:spPr>
          <a:xfrm>
            <a:off x="8509000" y="6949966"/>
            <a:ext cx="1219200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Future Tasks</a:t>
            </a:r>
            <a:endParaRPr lang="en-US" sz="1600" i="1" dirty="0">
              <a:solidFill>
                <a:srgbClr val="693333"/>
              </a:solidFill>
            </a:endParaRPr>
          </a:p>
        </p:txBody>
      </p:sp>
      <p:sp>
        <p:nvSpPr>
          <p:cNvPr id="24" name="Rectangle 23"/>
          <p:cNvSpPr/>
          <p:nvPr userDrawn="1"/>
        </p:nvSpPr>
        <p:spPr>
          <a:xfrm>
            <a:off x="5537200" y="6934200"/>
            <a:ext cx="1143000" cy="578068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Testing</a:t>
            </a:r>
            <a:endParaRPr lang="en-US" sz="1600" i="1" dirty="0">
              <a:solidFill>
                <a:srgbClr val="693333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355600" y="6934200"/>
            <a:ext cx="1524000" cy="57806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Introduction &amp; Goals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30" name="Straight Connector 9"/>
          <p:cNvCxnSpPr/>
          <p:nvPr userDrawn="1"/>
        </p:nvCxnSpPr>
        <p:spPr>
          <a:xfrm rot="5400000" flipH="1" flipV="1">
            <a:off x="6340474" y="3800472"/>
            <a:ext cx="7620002" cy="19054"/>
          </a:xfrm>
          <a:prstGeom prst="straightConnector1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 userDrawn="1"/>
        </p:nvCxnSpPr>
        <p:spPr>
          <a:xfrm>
            <a:off x="-19068" y="7650163"/>
            <a:ext cx="10210800" cy="1587"/>
          </a:xfrm>
          <a:prstGeom prst="line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 userDrawn="1"/>
        </p:nvCxnSpPr>
        <p:spPr>
          <a:xfrm>
            <a:off x="-25400" y="0"/>
            <a:ext cx="10210800" cy="1587"/>
          </a:xfrm>
          <a:prstGeom prst="line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9"/>
          <p:cNvCxnSpPr/>
          <p:nvPr userDrawn="1"/>
        </p:nvCxnSpPr>
        <p:spPr>
          <a:xfrm rot="5400000" flipH="1" flipV="1">
            <a:off x="-3811586" y="3800474"/>
            <a:ext cx="7620002" cy="19054"/>
          </a:xfrm>
          <a:prstGeom prst="straightConnector1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1117600" y="1752600"/>
            <a:ext cx="8077200" cy="4343400"/>
          </a:xfrm>
        </p:spPr>
        <p:txBody>
          <a:bodyPr/>
          <a:lstStyle>
            <a:lvl1pPr>
              <a:defRPr>
                <a:solidFill>
                  <a:srgbClr val="693333"/>
                </a:solidFill>
              </a:defRPr>
            </a:lvl1pPr>
            <a:lvl2pPr>
              <a:defRPr>
                <a:solidFill>
                  <a:srgbClr val="693333"/>
                </a:solidFill>
              </a:defRPr>
            </a:lvl2pPr>
            <a:lvl3pPr>
              <a:defRPr>
                <a:solidFill>
                  <a:srgbClr val="693333"/>
                </a:solidFill>
              </a:defRPr>
            </a:lvl3pPr>
            <a:lvl4pPr>
              <a:defRPr>
                <a:solidFill>
                  <a:srgbClr val="693333"/>
                </a:solidFill>
              </a:defRPr>
            </a:lvl4pPr>
            <a:lvl5pPr>
              <a:defRPr>
                <a:solidFill>
                  <a:srgbClr val="693333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62000" y="-2"/>
            <a:ext cx="8636000" cy="995362"/>
          </a:xfrm>
        </p:spPr>
        <p:txBody>
          <a:bodyPr/>
          <a:lstStyle>
            <a:lvl1pPr>
              <a:defRPr>
                <a:solidFill>
                  <a:srgbClr val="69333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7" name="Slide Number Placeholder 6"/>
          <p:cNvSpPr>
            <a:spLocks noGrp="1"/>
          </p:cNvSpPr>
          <p:nvPr>
            <p:ph type="sldNum" sz="quarter" idx="13"/>
          </p:nvPr>
        </p:nvSpPr>
        <p:spPr>
          <a:xfrm>
            <a:off x="9669516" y="7209476"/>
            <a:ext cx="439684" cy="410524"/>
          </a:xfrm>
        </p:spPr>
        <p:txBody>
          <a:bodyPr/>
          <a:lstStyle/>
          <a:p>
            <a:fld id="{2D25C865-99B9-4335-8FDD-FD387DF08D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3860800" y="6949966"/>
            <a:ext cx="1427018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Design</a:t>
            </a:r>
            <a:r>
              <a:rPr lang="en-US" sz="1600" i="1" baseline="0" dirty="0" smtClean="0">
                <a:solidFill>
                  <a:srgbClr val="693333"/>
                </a:solidFill>
              </a:rPr>
              <a:t> &amp; Construction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26" name="Straight Connector 25"/>
          <p:cNvCxnSpPr/>
          <p:nvPr userDrawn="1"/>
        </p:nvCxnSpPr>
        <p:spPr>
          <a:xfrm>
            <a:off x="3611418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 userDrawn="1"/>
        </p:nvCxnSpPr>
        <p:spPr>
          <a:xfrm>
            <a:off x="5287818" y="7269678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 userDrawn="1"/>
        </p:nvSpPr>
        <p:spPr>
          <a:xfrm>
            <a:off x="7005782" y="6925294"/>
            <a:ext cx="1274618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Performance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31" name="Straight Connector 30"/>
          <p:cNvCxnSpPr/>
          <p:nvPr userDrawn="1"/>
        </p:nvCxnSpPr>
        <p:spPr>
          <a:xfrm>
            <a:off x="8356600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91096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-2"/>
            <a:ext cx="10160002" cy="990602"/>
          </a:xfrm>
          <a:prstGeom prst="rect">
            <a:avLst/>
          </a:prstGeom>
          <a:noFill/>
          <a:ln w="889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36512" y="6781800"/>
            <a:ext cx="101092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2184400" y="6934200"/>
            <a:ext cx="1371600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Research</a:t>
            </a:r>
            <a:r>
              <a:rPr lang="en-US" sz="1600" i="1" baseline="0" dirty="0" smtClean="0">
                <a:solidFill>
                  <a:srgbClr val="693333"/>
                </a:solidFill>
              </a:rPr>
              <a:t> &amp; Selection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6735618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>
            <a:off x="1955800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 userDrawn="1"/>
        </p:nvSpPr>
        <p:spPr>
          <a:xfrm>
            <a:off x="8509000" y="6949966"/>
            <a:ext cx="1219200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Future Tasks</a:t>
            </a:r>
            <a:endParaRPr lang="en-US" sz="1600" i="1" dirty="0">
              <a:solidFill>
                <a:srgbClr val="693333"/>
              </a:solidFill>
            </a:endParaRPr>
          </a:p>
        </p:txBody>
      </p:sp>
      <p:sp>
        <p:nvSpPr>
          <p:cNvPr id="24" name="Rectangle 23"/>
          <p:cNvSpPr/>
          <p:nvPr userDrawn="1"/>
        </p:nvSpPr>
        <p:spPr>
          <a:xfrm>
            <a:off x="5537200" y="6934200"/>
            <a:ext cx="1143000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Testing</a:t>
            </a:r>
            <a:endParaRPr lang="en-US" sz="1600" i="1" dirty="0">
              <a:solidFill>
                <a:srgbClr val="693333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355600" y="6934200"/>
            <a:ext cx="1524000" cy="57806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Introduction &amp; Goals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30" name="Straight Connector 9"/>
          <p:cNvCxnSpPr/>
          <p:nvPr userDrawn="1"/>
        </p:nvCxnSpPr>
        <p:spPr>
          <a:xfrm rot="5400000" flipH="1" flipV="1">
            <a:off x="6340474" y="3800472"/>
            <a:ext cx="7620002" cy="19054"/>
          </a:xfrm>
          <a:prstGeom prst="straightConnector1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 userDrawn="1"/>
        </p:nvCxnSpPr>
        <p:spPr>
          <a:xfrm>
            <a:off x="-19068" y="7650163"/>
            <a:ext cx="10210800" cy="1587"/>
          </a:xfrm>
          <a:prstGeom prst="line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 userDrawn="1"/>
        </p:nvCxnSpPr>
        <p:spPr>
          <a:xfrm>
            <a:off x="-25400" y="0"/>
            <a:ext cx="10210800" cy="1587"/>
          </a:xfrm>
          <a:prstGeom prst="line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9"/>
          <p:cNvCxnSpPr/>
          <p:nvPr userDrawn="1"/>
        </p:nvCxnSpPr>
        <p:spPr>
          <a:xfrm rot="5400000" flipH="1" flipV="1">
            <a:off x="-3811586" y="3800474"/>
            <a:ext cx="7620002" cy="19054"/>
          </a:xfrm>
          <a:prstGeom prst="straightConnector1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1117600" y="1752600"/>
            <a:ext cx="8077200" cy="4343400"/>
          </a:xfrm>
        </p:spPr>
        <p:txBody>
          <a:bodyPr/>
          <a:lstStyle>
            <a:lvl1pPr>
              <a:defRPr>
                <a:solidFill>
                  <a:srgbClr val="693333"/>
                </a:solidFill>
              </a:defRPr>
            </a:lvl1pPr>
            <a:lvl2pPr>
              <a:defRPr>
                <a:solidFill>
                  <a:srgbClr val="693333"/>
                </a:solidFill>
              </a:defRPr>
            </a:lvl2pPr>
            <a:lvl3pPr>
              <a:defRPr>
                <a:solidFill>
                  <a:srgbClr val="693333"/>
                </a:solidFill>
              </a:defRPr>
            </a:lvl3pPr>
            <a:lvl4pPr>
              <a:defRPr>
                <a:solidFill>
                  <a:srgbClr val="693333"/>
                </a:solidFill>
              </a:defRPr>
            </a:lvl4pPr>
            <a:lvl5pPr>
              <a:defRPr>
                <a:solidFill>
                  <a:srgbClr val="693333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62000" y="-2"/>
            <a:ext cx="8636000" cy="995362"/>
          </a:xfrm>
        </p:spPr>
        <p:txBody>
          <a:bodyPr/>
          <a:lstStyle>
            <a:lvl1pPr>
              <a:defRPr>
                <a:solidFill>
                  <a:srgbClr val="69333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7" name="Slide Number Placeholder 6"/>
          <p:cNvSpPr>
            <a:spLocks noGrp="1"/>
          </p:cNvSpPr>
          <p:nvPr>
            <p:ph type="sldNum" sz="quarter" idx="13"/>
          </p:nvPr>
        </p:nvSpPr>
        <p:spPr>
          <a:xfrm>
            <a:off x="9669516" y="7209476"/>
            <a:ext cx="439684" cy="410524"/>
          </a:xfrm>
        </p:spPr>
        <p:txBody>
          <a:bodyPr/>
          <a:lstStyle/>
          <a:p>
            <a:fld id="{2D25C865-99B9-4335-8FDD-FD387DF08D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3860800" y="6949966"/>
            <a:ext cx="1427018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Design &amp; Construction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26" name="Straight Connector 25"/>
          <p:cNvCxnSpPr/>
          <p:nvPr userDrawn="1"/>
        </p:nvCxnSpPr>
        <p:spPr>
          <a:xfrm>
            <a:off x="3611418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 userDrawn="1"/>
        </p:nvCxnSpPr>
        <p:spPr>
          <a:xfrm>
            <a:off x="5287818" y="7269678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 userDrawn="1"/>
        </p:nvSpPr>
        <p:spPr>
          <a:xfrm>
            <a:off x="7005782" y="6925294"/>
            <a:ext cx="1274618" cy="578068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Performance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31" name="Straight Connector 30"/>
          <p:cNvCxnSpPr/>
          <p:nvPr userDrawn="1"/>
        </p:nvCxnSpPr>
        <p:spPr>
          <a:xfrm>
            <a:off x="8356600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622791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-2"/>
            <a:ext cx="10160002" cy="990602"/>
          </a:xfrm>
          <a:prstGeom prst="rect">
            <a:avLst/>
          </a:prstGeom>
          <a:noFill/>
          <a:ln w="889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36512" y="6781800"/>
            <a:ext cx="101092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2184400" y="6934200"/>
            <a:ext cx="1371600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Research</a:t>
            </a:r>
            <a:r>
              <a:rPr lang="en-US" sz="1600" i="1" baseline="0" dirty="0" smtClean="0">
                <a:solidFill>
                  <a:srgbClr val="693333"/>
                </a:solidFill>
              </a:rPr>
              <a:t> &amp; Selection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6735618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>
            <a:off x="1955800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 userDrawn="1"/>
        </p:nvSpPr>
        <p:spPr>
          <a:xfrm>
            <a:off x="8585200" y="6949966"/>
            <a:ext cx="1066800" cy="578068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Future Tasks</a:t>
            </a:r>
            <a:endParaRPr lang="en-US" sz="1600" i="1" dirty="0">
              <a:solidFill>
                <a:srgbClr val="693333"/>
              </a:solidFill>
            </a:endParaRPr>
          </a:p>
        </p:txBody>
      </p:sp>
      <p:sp>
        <p:nvSpPr>
          <p:cNvPr id="24" name="Rectangle 23"/>
          <p:cNvSpPr/>
          <p:nvPr userDrawn="1"/>
        </p:nvSpPr>
        <p:spPr>
          <a:xfrm>
            <a:off x="5537200" y="6934200"/>
            <a:ext cx="1143000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Testing</a:t>
            </a:r>
            <a:endParaRPr lang="en-US" sz="1600" i="1" dirty="0">
              <a:solidFill>
                <a:srgbClr val="693333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355600" y="6934200"/>
            <a:ext cx="1524000" cy="57806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Introduction &amp; Goals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30" name="Straight Connector 9"/>
          <p:cNvCxnSpPr/>
          <p:nvPr userDrawn="1"/>
        </p:nvCxnSpPr>
        <p:spPr>
          <a:xfrm rot="5400000" flipH="1" flipV="1">
            <a:off x="6340474" y="3800472"/>
            <a:ext cx="7620002" cy="19054"/>
          </a:xfrm>
          <a:prstGeom prst="straightConnector1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 userDrawn="1"/>
        </p:nvCxnSpPr>
        <p:spPr>
          <a:xfrm>
            <a:off x="-19068" y="7650163"/>
            <a:ext cx="10210800" cy="1587"/>
          </a:xfrm>
          <a:prstGeom prst="line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 userDrawn="1"/>
        </p:nvCxnSpPr>
        <p:spPr>
          <a:xfrm>
            <a:off x="-25400" y="0"/>
            <a:ext cx="10210800" cy="1587"/>
          </a:xfrm>
          <a:prstGeom prst="line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9"/>
          <p:cNvCxnSpPr/>
          <p:nvPr userDrawn="1"/>
        </p:nvCxnSpPr>
        <p:spPr>
          <a:xfrm rot="5400000" flipH="1" flipV="1">
            <a:off x="-3811586" y="3800474"/>
            <a:ext cx="7620002" cy="19054"/>
          </a:xfrm>
          <a:prstGeom prst="straightConnector1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1117600" y="1752600"/>
            <a:ext cx="8077200" cy="4343400"/>
          </a:xfrm>
        </p:spPr>
        <p:txBody>
          <a:bodyPr/>
          <a:lstStyle>
            <a:lvl1pPr>
              <a:defRPr>
                <a:solidFill>
                  <a:srgbClr val="693333"/>
                </a:solidFill>
              </a:defRPr>
            </a:lvl1pPr>
            <a:lvl2pPr>
              <a:defRPr>
                <a:solidFill>
                  <a:srgbClr val="693333"/>
                </a:solidFill>
              </a:defRPr>
            </a:lvl2pPr>
            <a:lvl3pPr>
              <a:defRPr>
                <a:solidFill>
                  <a:srgbClr val="693333"/>
                </a:solidFill>
              </a:defRPr>
            </a:lvl3pPr>
            <a:lvl4pPr>
              <a:defRPr>
                <a:solidFill>
                  <a:srgbClr val="693333"/>
                </a:solidFill>
              </a:defRPr>
            </a:lvl4pPr>
            <a:lvl5pPr>
              <a:defRPr>
                <a:solidFill>
                  <a:srgbClr val="693333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62000" y="-2"/>
            <a:ext cx="8636000" cy="995362"/>
          </a:xfrm>
        </p:spPr>
        <p:txBody>
          <a:bodyPr/>
          <a:lstStyle>
            <a:lvl1pPr>
              <a:defRPr>
                <a:solidFill>
                  <a:srgbClr val="69333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7" name="Slide Number Placeholder 6"/>
          <p:cNvSpPr>
            <a:spLocks noGrp="1"/>
          </p:cNvSpPr>
          <p:nvPr>
            <p:ph type="sldNum" sz="quarter" idx="13"/>
          </p:nvPr>
        </p:nvSpPr>
        <p:spPr>
          <a:xfrm>
            <a:off x="9652000" y="7209476"/>
            <a:ext cx="439684" cy="410524"/>
          </a:xfrm>
        </p:spPr>
        <p:txBody>
          <a:bodyPr/>
          <a:lstStyle/>
          <a:p>
            <a:fld id="{2D25C865-99B9-4335-8FDD-FD387DF08D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3860800" y="6949966"/>
            <a:ext cx="1427018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Design</a:t>
            </a:r>
            <a:r>
              <a:rPr lang="en-US" sz="1600" i="1" baseline="0" dirty="0" smtClean="0">
                <a:solidFill>
                  <a:srgbClr val="693333"/>
                </a:solidFill>
              </a:rPr>
              <a:t> &amp; Construction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26" name="Straight Connector 25"/>
          <p:cNvCxnSpPr/>
          <p:nvPr userDrawn="1"/>
        </p:nvCxnSpPr>
        <p:spPr>
          <a:xfrm>
            <a:off x="3611418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 userDrawn="1"/>
        </p:nvCxnSpPr>
        <p:spPr>
          <a:xfrm>
            <a:off x="5287818" y="7269678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 userDrawn="1"/>
        </p:nvSpPr>
        <p:spPr>
          <a:xfrm>
            <a:off x="7005782" y="6925294"/>
            <a:ext cx="1274618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Performance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31" name="Straight Connector 30"/>
          <p:cNvCxnSpPr/>
          <p:nvPr userDrawn="1"/>
        </p:nvCxnSpPr>
        <p:spPr>
          <a:xfrm>
            <a:off x="8356600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082956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-2"/>
            <a:ext cx="10160002" cy="990602"/>
          </a:xfrm>
          <a:prstGeom prst="rect">
            <a:avLst/>
          </a:prstGeom>
          <a:noFill/>
          <a:ln w="889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36512" y="6781800"/>
            <a:ext cx="101092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2184400" y="6934200"/>
            <a:ext cx="1371600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Research</a:t>
            </a:r>
            <a:r>
              <a:rPr lang="en-US" sz="1600" i="1" baseline="0" dirty="0" smtClean="0">
                <a:solidFill>
                  <a:srgbClr val="693333"/>
                </a:solidFill>
              </a:rPr>
              <a:t> &amp; Selection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6735618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>
            <a:off x="1955800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 userDrawn="1"/>
        </p:nvSpPr>
        <p:spPr>
          <a:xfrm>
            <a:off x="8585200" y="6949966"/>
            <a:ext cx="1066800" cy="57806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Future Tasks</a:t>
            </a:r>
            <a:endParaRPr lang="en-US" sz="1600" i="1" dirty="0">
              <a:solidFill>
                <a:srgbClr val="693333"/>
              </a:solidFill>
            </a:endParaRPr>
          </a:p>
        </p:txBody>
      </p:sp>
      <p:sp>
        <p:nvSpPr>
          <p:cNvPr id="24" name="Rectangle 23"/>
          <p:cNvSpPr/>
          <p:nvPr userDrawn="1"/>
        </p:nvSpPr>
        <p:spPr>
          <a:xfrm>
            <a:off x="5537200" y="6934200"/>
            <a:ext cx="1143000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Testing</a:t>
            </a:r>
            <a:endParaRPr lang="en-US" sz="1600" i="1" dirty="0">
              <a:solidFill>
                <a:srgbClr val="693333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355600" y="6934200"/>
            <a:ext cx="1524000" cy="578068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Introduction &amp; Goals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30" name="Straight Connector 9"/>
          <p:cNvCxnSpPr/>
          <p:nvPr userDrawn="1"/>
        </p:nvCxnSpPr>
        <p:spPr>
          <a:xfrm rot="5400000" flipH="1" flipV="1">
            <a:off x="6340474" y="3800472"/>
            <a:ext cx="7620002" cy="19054"/>
          </a:xfrm>
          <a:prstGeom prst="straightConnector1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 userDrawn="1"/>
        </p:nvCxnSpPr>
        <p:spPr>
          <a:xfrm>
            <a:off x="-19068" y="7650163"/>
            <a:ext cx="10210800" cy="1587"/>
          </a:xfrm>
          <a:prstGeom prst="line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 userDrawn="1"/>
        </p:nvCxnSpPr>
        <p:spPr>
          <a:xfrm>
            <a:off x="-25400" y="0"/>
            <a:ext cx="10210800" cy="1587"/>
          </a:xfrm>
          <a:prstGeom prst="line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9"/>
          <p:cNvCxnSpPr/>
          <p:nvPr userDrawn="1"/>
        </p:nvCxnSpPr>
        <p:spPr>
          <a:xfrm rot="5400000" flipH="1" flipV="1">
            <a:off x="-3811586" y="3800474"/>
            <a:ext cx="7620002" cy="19054"/>
          </a:xfrm>
          <a:prstGeom prst="straightConnector1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1117600" y="1752600"/>
            <a:ext cx="8077200" cy="4343400"/>
          </a:xfrm>
        </p:spPr>
        <p:txBody>
          <a:bodyPr/>
          <a:lstStyle>
            <a:lvl1pPr>
              <a:defRPr>
                <a:solidFill>
                  <a:srgbClr val="693333"/>
                </a:solidFill>
              </a:defRPr>
            </a:lvl1pPr>
            <a:lvl2pPr>
              <a:defRPr>
                <a:solidFill>
                  <a:srgbClr val="693333"/>
                </a:solidFill>
              </a:defRPr>
            </a:lvl2pPr>
            <a:lvl3pPr>
              <a:defRPr>
                <a:solidFill>
                  <a:srgbClr val="693333"/>
                </a:solidFill>
              </a:defRPr>
            </a:lvl3pPr>
            <a:lvl4pPr>
              <a:defRPr>
                <a:solidFill>
                  <a:srgbClr val="693333"/>
                </a:solidFill>
              </a:defRPr>
            </a:lvl4pPr>
            <a:lvl5pPr>
              <a:defRPr>
                <a:solidFill>
                  <a:srgbClr val="693333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62000" y="-2"/>
            <a:ext cx="8636000" cy="995362"/>
          </a:xfrm>
        </p:spPr>
        <p:txBody>
          <a:bodyPr/>
          <a:lstStyle>
            <a:lvl1pPr>
              <a:defRPr>
                <a:solidFill>
                  <a:srgbClr val="69333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7" name="Slide Number Placeholder 6"/>
          <p:cNvSpPr>
            <a:spLocks noGrp="1"/>
          </p:cNvSpPr>
          <p:nvPr>
            <p:ph type="sldNum" sz="quarter" idx="13"/>
          </p:nvPr>
        </p:nvSpPr>
        <p:spPr>
          <a:xfrm>
            <a:off x="9652000" y="7209476"/>
            <a:ext cx="439684" cy="410524"/>
          </a:xfrm>
        </p:spPr>
        <p:txBody>
          <a:bodyPr/>
          <a:lstStyle/>
          <a:p>
            <a:fld id="{2D25C865-99B9-4335-8FDD-FD387DF08D1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Rectangle 17"/>
          <p:cNvSpPr/>
          <p:nvPr userDrawn="1"/>
        </p:nvSpPr>
        <p:spPr>
          <a:xfrm>
            <a:off x="3860800" y="6949966"/>
            <a:ext cx="1427018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Design</a:t>
            </a:r>
            <a:r>
              <a:rPr lang="en-US" sz="1600" i="1" baseline="0" dirty="0" smtClean="0">
                <a:solidFill>
                  <a:srgbClr val="693333"/>
                </a:solidFill>
              </a:rPr>
              <a:t> &amp; Construction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26" name="Straight Connector 25"/>
          <p:cNvCxnSpPr/>
          <p:nvPr userDrawn="1"/>
        </p:nvCxnSpPr>
        <p:spPr>
          <a:xfrm>
            <a:off x="3611418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 userDrawn="1"/>
        </p:nvCxnSpPr>
        <p:spPr>
          <a:xfrm>
            <a:off x="5287818" y="7269678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Rectangle 28"/>
          <p:cNvSpPr/>
          <p:nvPr userDrawn="1"/>
        </p:nvSpPr>
        <p:spPr>
          <a:xfrm>
            <a:off x="7005782" y="6925294"/>
            <a:ext cx="1274618" cy="578068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Performance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31" name="Straight Connector 30"/>
          <p:cNvCxnSpPr/>
          <p:nvPr userDrawn="1"/>
        </p:nvCxnSpPr>
        <p:spPr>
          <a:xfrm>
            <a:off x="8356600" y="7239000"/>
            <a:ext cx="173182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585054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-2"/>
            <a:ext cx="10160002" cy="990602"/>
          </a:xfrm>
          <a:prstGeom prst="rect">
            <a:avLst/>
          </a:prstGeom>
          <a:noFill/>
          <a:ln w="889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36512" y="6934200"/>
            <a:ext cx="101092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3041648" y="704554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Requirements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7172036" y="7315200"/>
            <a:ext cx="346364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>
            <a:off x="4975224" y="7315200"/>
            <a:ext cx="346364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>
            <a:off x="2676236" y="7315200"/>
            <a:ext cx="346364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 userDrawn="1"/>
        </p:nvSpPr>
        <p:spPr>
          <a:xfrm>
            <a:off x="7518400" y="7031252"/>
            <a:ext cx="1905000" cy="457200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Future Tasks</a:t>
            </a:r>
            <a:endParaRPr lang="en-US" sz="1600" i="1" dirty="0">
              <a:solidFill>
                <a:srgbClr val="693333"/>
              </a:solidFill>
            </a:endParaRPr>
          </a:p>
        </p:txBody>
      </p:sp>
      <p:sp>
        <p:nvSpPr>
          <p:cNvPr id="24" name="Rectangle 23"/>
          <p:cNvSpPr/>
          <p:nvPr userDrawn="1"/>
        </p:nvSpPr>
        <p:spPr>
          <a:xfrm>
            <a:off x="5308600" y="7045540"/>
            <a:ext cx="1905000" cy="457200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Design</a:t>
            </a:r>
            <a:endParaRPr lang="en-US" sz="1600" i="1" dirty="0">
              <a:solidFill>
                <a:srgbClr val="693333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750888" y="7045540"/>
            <a:ext cx="1905000" cy="4572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glow rad="139700">
              <a:srgbClr val="C0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Introduction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30" name="Straight Connector 9"/>
          <p:cNvCxnSpPr/>
          <p:nvPr userDrawn="1"/>
        </p:nvCxnSpPr>
        <p:spPr>
          <a:xfrm rot="5400000" flipH="1" flipV="1">
            <a:off x="6340474" y="3800472"/>
            <a:ext cx="7620002" cy="19054"/>
          </a:xfrm>
          <a:prstGeom prst="straightConnector1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 userDrawn="1"/>
        </p:nvCxnSpPr>
        <p:spPr>
          <a:xfrm>
            <a:off x="-53976" y="7648576"/>
            <a:ext cx="10210800" cy="1587"/>
          </a:xfrm>
          <a:prstGeom prst="line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 userDrawn="1"/>
        </p:nvCxnSpPr>
        <p:spPr>
          <a:xfrm>
            <a:off x="-25400" y="0"/>
            <a:ext cx="10210800" cy="1587"/>
          </a:xfrm>
          <a:prstGeom prst="line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9"/>
          <p:cNvCxnSpPr/>
          <p:nvPr userDrawn="1"/>
        </p:nvCxnSpPr>
        <p:spPr>
          <a:xfrm rot="5400000" flipH="1" flipV="1">
            <a:off x="-3811586" y="3800474"/>
            <a:ext cx="7620002" cy="19054"/>
          </a:xfrm>
          <a:prstGeom prst="straightConnector1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1117600" y="1752600"/>
            <a:ext cx="8077200" cy="4343400"/>
          </a:xfrm>
        </p:spPr>
        <p:txBody>
          <a:bodyPr/>
          <a:lstStyle>
            <a:lvl1pPr>
              <a:defRPr>
                <a:solidFill>
                  <a:srgbClr val="693333"/>
                </a:solidFill>
              </a:defRPr>
            </a:lvl1pPr>
            <a:lvl2pPr>
              <a:defRPr>
                <a:solidFill>
                  <a:srgbClr val="693333"/>
                </a:solidFill>
              </a:defRPr>
            </a:lvl2pPr>
            <a:lvl3pPr>
              <a:defRPr>
                <a:solidFill>
                  <a:srgbClr val="693333"/>
                </a:solidFill>
              </a:defRPr>
            </a:lvl3pPr>
            <a:lvl4pPr>
              <a:defRPr>
                <a:solidFill>
                  <a:srgbClr val="693333"/>
                </a:solidFill>
              </a:defRPr>
            </a:lvl4pPr>
            <a:lvl5pPr>
              <a:defRPr>
                <a:solidFill>
                  <a:srgbClr val="693333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62000" y="-2"/>
            <a:ext cx="8636000" cy="995362"/>
          </a:xfrm>
        </p:spPr>
        <p:txBody>
          <a:bodyPr/>
          <a:lstStyle>
            <a:lvl1pPr>
              <a:defRPr>
                <a:solidFill>
                  <a:srgbClr val="69333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6" name="Slide Number Placeholder 6"/>
          <p:cNvSpPr>
            <a:spLocks noGrp="1"/>
          </p:cNvSpPr>
          <p:nvPr>
            <p:ph type="sldNum" sz="quarter" idx="13"/>
          </p:nvPr>
        </p:nvSpPr>
        <p:spPr>
          <a:xfrm>
            <a:off x="9482084" y="7092838"/>
            <a:ext cx="533400" cy="457199"/>
          </a:xfrm>
        </p:spPr>
        <p:txBody>
          <a:bodyPr/>
          <a:lstStyle/>
          <a:p>
            <a:fld id="{2D25C865-99B9-4335-8FDD-FD387DF08D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499381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-2"/>
            <a:ext cx="10160002" cy="990602"/>
          </a:xfrm>
          <a:prstGeom prst="rect">
            <a:avLst/>
          </a:prstGeom>
          <a:noFill/>
          <a:ln w="889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36512" y="6934200"/>
            <a:ext cx="101092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3041648" y="7045540"/>
            <a:ext cx="1905000" cy="4572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glow rad="139700">
              <a:srgbClr val="C0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Requirements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7172036" y="7315200"/>
            <a:ext cx="346364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>
            <a:off x="4975224" y="7315200"/>
            <a:ext cx="346364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>
            <a:off x="2676236" y="7315200"/>
            <a:ext cx="346364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 userDrawn="1"/>
        </p:nvSpPr>
        <p:spPr>
          <a:xfrm>
            <a:off x="7518400" y="7031252"/>
            <a:ext cx="1905000" cy="457200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Future Tasks</a:t>
            </a:r>
            <a:endParaRPr lang="en-US" sz="1600" i="1" dirty="0">
              <a:solidFill>
                <a:srgbClr val="693333"/>
              </a:solidFill>
            </a:endParaRPr>
          </a:p>
        </p:txBody>
      </p:sp>
      <p:sp>
        <p:nvSpPr>
          <p:cNvPr id="24" name="Rectangle 23"/>
          <p:cNvSpPr/>
          <p:nvPr userDrawn="1"/>
        </p:nvSpPr>
        <p:spPr>
          <a:xfrm>
            <a:off x="5308600" y="7045540"/>
            <a:ext cx="1905000" cy="457200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Design</a:t>
            </a:r>
            <a:endParaRPr lang="en-US" sz="1600" i="1" dirty="0">
              <a:solidFill>
                <a:srgbClr val="693333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750888" y="7045540"/>
            <a:ext cx="1905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Introduction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30" name="Straight Connector 9"/>
          <p:cNvCxnSpPr/>
          <p:nvPr userDrawn="1"/>
        </p:nvCxnSpPr>
        <p:spPr>
          <a:xfrm rot="5400000" flipH="1" flipV="1">
            <a:off x="6340474" y="3800472"/>
            <a:ext cx="7620002" cy="19054"/>
          </a:xfrm>
          <a:prstGeom prst="straightConnector1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 userDrawn="1"/>
        </p:nvCxnSpPr>
        <p:spPr>
          <a:xfrm>
            <a:off x="-53976" y="7648576"/>
            <a:ext cx="10210800" cy="1587"/>
          </a:xfrm>
          <a:prstGeom prst="line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 userDrawn="1"/>
        </p:nvCxnSpPr>
        <p:spPr>
          <a:xfrm>
            <a:off x="-25400" y="0"/>
            <a:ext cx="10210800" cy="1587"/>
          </a:xfrm>
          <a:prstGeom prst="line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9"/>
          <p:cNvCxnSpPr/>
          <p:nvPr userDrawn="1"/>
        </p:nvCxnSpPr>
        <p:spPr>
          <a:xfrm rot="5400000" flipH="1" flipV="1">
            <a:off x="-3811586" y="3800474"/>
            <a:ext cx="7620002" cy="19054"/>
          </a:xfrm>
          <a:prstGeom prst="straightConnector1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1117600" y="1752600"/>
            <a:ext cx="8077200" cy="4343400"/>
          </a:xfrm>
        </p:spPr>
        <p:txBody>
          <a:bodyPr/>
          <a:lstStyle>
            <a:lvl1pPr>
              <a:defRPr>
                <a:solidFill>
                  <a:srgbClr val="693333"/>
                </a:solidFill>
              </a:defRPr>
            </a:lvl1pPr>
            <a:lvl2pPr>
              <a:defRPr>
                <a:solidFill>
                  <a:srgbClr val="693333"/>
                </a:solidFill>
              </a:defRPr>
            </a:lvl2pPr>
            <a:lvl3pPr>
              <a:defRPr>
                <a:solidFill>
                  <a:srgbClr val="693333"/>
                </a:solidFill>
              </a:defRPr>
            </a:lvl3pPr>
            <a:lvl4pPr>
              <a:defRPr>
                <a:solidFill>
                  <a:srgbClr val="693333"/>
                </a:solidFill>
              </a:defRPr>
            </a:lvl4pPr>
            <a:lvl5pPr>
              <a:defRPr>
                <a:solidFill>
                  <a:srgbClr val="693333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62000" y="-2"/>
            <a:ext cx="8636000" cy="995362"/>
          </a:xfrm>
        </p:spPr>
        <p:txBody>
          <a:bodyPr/>
          <a:lstStyle>
            <a:lvl1pPr>
              <a:defRPr>
                <a:solidFill>
                  <a:srgbClr val="69333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26" name="Slide Number Placeholder 6"/>
          <p:cNvSpPr>
            <a:spLocks noGrp="1"/>
          </p:cNvSpPr>
          <p:nvPr>
            <p:ph type="sldNum" sz="quarter" idx="13"/>
          </p:nvPr>
        </p:nvSpPr>
        <p:spPr>
          <a:xfrm>
            <a:off x="9482084" y="7092838"/>
            <a:ext cx="533400" cy="457199"/>
          </a:xfrm>
        </p:spPr>
        <p:txBody>
          <a:bodyPr/>
          <a:lstStyle/>
          <a:p>
            <a:fld id="{2D25C865-99B9-4335-8FDD-FD387DF08D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5016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-2"/>
            <a:ext cx="10160002" cy="990602"/>
          </a:xfrm>
          <a:prstGeom prst="rect">
            <a:avLst/>
          </a:prstGeom>
          <a:noFill/>
          <a:ln w="889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36512" y="6934200"/>
            <a:ext cx="101092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3041648" y="7045540"/>
            <a:ext cx="1905000" cy="457200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Requirements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7172036" y="7315200"/>
            <a:ext cx="346364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>
            <a:off x="4975224" y="7315200"/>
            <a:ext cx="346364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>
            <a:off x="2676236" y="7315200"/>
            <a:ext cx="346364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 userDrawn="1"/>
        </p:nvSpPr>
        <p:spPr>
          <a:xfrm>
            <a:off x="7518400" y="7031252"/>
            <a:ext cx="1905000" cy="457200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Future Tasks</a:t>
            </a:r>
            <a:endParaRPr lang="en-US" sz="1600" i="1" dirty="0">
              <a:solidFill>
                <a:srgbClr val="693333"/>
              </a:solidFill>
            </a:endParaRPr>
          </a:p>
        </p:txBody>
      </p:sp>
      <p:sp>
        <p:nvSpPr>
          <p:cNvPr id="24" name="Rectangle 23"/>
          <p:cNvSpPr/>
          <p:nvPr userDrawn="1"/>
        </p:nvSpPr>
        <p:spPr>
          <a:xfrm>
            <a:off x="5308600" y="7045540"/>
            <a:ext cx="1905000" cy="4572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glow rad="139700">
              <a:srgbClr val="C0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Design</a:t>
            </a:r>
            <a:endParaRPr lang="en-US" sz="1600" i="1" dirty="0">
              <a:solidFill>
                <a:srgbClr val="693333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750888" y="7045540"/>
            <a:ext cx="1905000" cy="457200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Introduction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30" name="Straight Connector 9"/>
          <p:cNvCxnSpPr/>
          <p:nvPr userDrawn="1"/>
        </p:nvCxnSpPr>
        <p:spPr>
          <a:xfrm rot="5400000" flipH="1" flipV="1">
            <a:off x="6340474" y="3800472"/>
            <a:ext cx="7620002" cy="19054"/>
          </a:xfrm>
          <a:prstGeom prst="straightConnector1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 userDrawn="1"/>
        </p:nvCxnSpPr>
        <p:spPr>
          <a:xfrm>
            <a:off x="-53976" y="7648576"/>
            <a:ext cx="10210800" cy="1587"/>
          </a:xfrm>
          <a:prstGeom prst="line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 userDrawn="1"/>
        </p:nvCxnSpPr>
        <p:spPr>
          <a:xfrm>
            <a:off x="-25400" y="0"/>
            <a:ext cx="10210800" cy="1587"/>
          </a:xfrm>
          <a:prstGeom prst="line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9"/>
          <p:cNvCxnSpPr/>
          <p:nvPr userDrawn="1"/>
        </p:nvCxnSpPr>
        <p:spPr>
          <a:xfrm rot="5400000" flipH="1" flipV="1">
            <a:off x="-3811586" y="3800474"/>
            <a:ext cx="7620002" cy="19054"/>
          </a:xfrm>
          <a:prstGeom prst="straightConnector1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1117600" y="1752600"/>
            <a:ext cx="8077200" cy="4343400"/>
          </a:xfrm>
        </p:spPr>
        <p:txBody>
          <a:bodyPr/>
          <a:lstStyle>
            <a:lvl1pPr>
              <a:defRPr>
                <a:solidFill>
                  <a:srgbClr val="693333"/>
                </a:solidFill>
              </a:defRPr>
            </a:lvl1pPr>
            <a:lvl2pPr>
              <a:defRPr>
                <a:solidFill>
                  <a:srgbClr val="693333"/>
                </a:solidFill>
              </a:defRPr>
            </a:lvl2pPr>
            <a:lvl3pPr>
              <a:defRPr>
                <a:solidFill>
                  <a:srgbClr val="693333"/>
                </a:solidFill>
              </a:defRPr>
            </a:lvl3pPr>
            <a:lvl4pPr>
              <a:defRPr>
                <a:solidFill>
                  <a:srgbClr val="693333"/>
                </a:solidFill>
              </a:defRPr>
            </a:lvl4pPr>
            <a:lvl5pPr>
              <a:defRPr>
                <a:solidFill>
                  <a:srgbClr val="693333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62000" y="-2"/>
            <a:ext cx="8636000" cy="995362"/>
          </a:xfrm>
        </p:spPr>
        <p:txBody>
          <a:bodyPr/>
          <a:lstStyle>
            <a:lvl1pPr>
              <a:defRPr>
                <a:solidFill>
                  <a:srgbClr val="69333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8" name="Slide Number Placeholder 6"/>
          <p:cNvSpPr>
            <a:spLocks noGrp="1"/>
          </p:cNvSpPr>
          <p:nvPr>
            <p:ph type="sldNum" sz="quarter" idx="13"/>
          </p:nvPr>
        </p:nvSpPr>
        <p:spPr>
          <a:xfrm>
            <a:off x="9482084" y="7092838"/>
            <a:ext cx="533400" cy="457199"/>
          </a:xfrm>
        </p:spPr>
        <p:txBody>
          <a:bodyPr/>
          <a:lstStyle/>
          <a:p>
            <a:fld id="{2D25C865-99B9-4335-8FDD-FD387DF08D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5016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-2"/>
            <a:ext cx="10160002" cy="990602"/>
          </a:xfrm>
          <a:prstGeom prst="rect">
            <a:avLst/>
          </a:prstGeom>
          <a:noFill/>
          <a:ln w="889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36512" y="6934200"/>
            <a:ext cx="101092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3041648" y="7045540"/>
            <a:ext cx="1905000" cy="457200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Requirements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7172036" y="7315200"/>
            <a:ext cx="346364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>
            <a:off x="4975224" y="7315200"/>
            <a:ext cx="346364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>
            <a:off x="2676236" y="7315200"/>
            <a:ext cx="346364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 userDrawn="1"/>
        </p:nvSpPr>
        <p:spPr>
          <a:xfrm>
            <a:off x="7518400" y="7031252"/>
            <a:ext cx="1905000" cy="457200"/>
          </a:xfrm>
          <a:prstGeom prst="rect">
            <a:avLst/>
          </a:prstGeom>
          <a:solidFill>
            <a:schemeClr val="bg1"/>
          </a:solidFill>
          <a:ln>
            <a:solidFill>
              <a:srgbClr val="C00000"/>
            </a:solidFill>
          </a:ln>
          <a:effectLst>
            <a:glow rad="139700">
              <a:srgbClr val="C0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Future Tasks</a:t>
            </a:r>
            <a:endParaRPr lang="en-US" sz="1600" i="1" dirty="0">
              <a:solidFill>
                <a:srgbClr val="693333"/>
              </a:solidFill>
            </a:endParaRPr>
          </a:p>
        </p:txBody>
      </p:sp>
      <p:sp>
        <p:nvSpPr>
          <p:cNvPr id="24" name="Rectangle 23"/>
          <p:cNvSpPr/>
          <p:nvPr userDrawn="1"/>
        </p:nvSpPr>
        <p:spPr>
          <a:xfrm>
            <a:off x="5308600" y="7045540"/>
            <a:ext cx="1905000" cy="457200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Design</a:t>
            </a:r>
            <a:endParaRPr lang="en-US" sz="1600" i="1" dirty="0">
              <a:solidFill>
                <a:srgbClr val="693333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750888" y="704554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Introduction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30" name="Straight Connector 9"/>
          <p:cNvCxnSpPr/>
          <p:nvPr userDrawn="1"/>
        </p:nvCxnSpPr>
        <p:spPr>
          <a:xfrm rot="5400000" flipH="1" flipV="1">
            <a:off x="6340474" y="3800472"/>
            <a:ext cx="7620002" cy="19054"/>
          </a:xfrm>
          <a:prstGeom prst="straightConnector1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 userDrawn="1"/>
        </p:nvCxnSpPr>
        <p:spPr>
          <a:xfrm>
            <a:off x="-53976" y="7648576"/>
            <a:ext cx="10210800" cy="1587"/>
          </a:xfrm>
          <a:prstGeom prst="line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 userDrawn="1"/>
        </p:nvCxnSpPr>
        <p:spPr>
          <a:xfrm>
            <a:off x="-25400" y="0"/>
            <a:ext cx="10210800" cy="1587"/>
          </a:xfrm>
          <a:prstGeom prst="line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9"/>
          <p:cNvCxnSpPr/>
          <p:nvPr userDrawn="1"/>
        </p:nvCxnSpPr>
        <p:spPr>
          <a:xfrm rot="5400000" flipH="1" flipV="1">
            <a:off x="-3811586" y="3800474"/>
            <a:ext cx="7620002" cy="19054"/>
          </a:xfrm>
          <a:prstGeom prst="straightConnector1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1117600" y="1752600"/>
            <a:ext cx="8077200" cy="4343400"/>
          </a:xfrm>
        </p:spPr>
        <p:txBody>
          <a:bodyPr/>
          <a:lstStyle>
            <a:lvl1pPr>
              <a:defRPr>
                <a:solidFill>
                  <a:srgbClr val="693333"/>
                </a:solidFill>
              </a:defRPr>
            </a:lvl1pPr>
            <a:lvl2pPr>
              <a:defRPr>
                <a:solidFill>
                  <a:srgbClr val="693333"/>
                </a:solidFill>
              </a:defRPr>
            </a:lvl2pPr>
            <a:lvl3pPr>
              <a:defRPr>
                <a:solidFill>
                  <a:srgbClr val="693333"/>
                </a:solidFill>
              </a:defRPr>
            </a:lvl3pPr>
            <a:lvl4pPr>
              <a:defRPr>
                <a:solidFill>
                  <a:srgbClr val="693333"/>
                </a:solidFill>
              </a:defRPr>
            </a:lvl4pPr>
            <a:lvl5pPr>
              <a:defRPr>
                <a:solidFill>
                  <a:srgbClr val="693333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62000" y="-2"/>
            <a:ext cx="8636000" cy="995362"/>
          </a:xfrm>
        </p:spPr>
        <p:txBody>
          <a:bodyPr/>
          <a:lstStyle>
            <a:lvl1pPr>
              <a:defRPr>
                <a:solidFill>
                  <a:srgbClr val="69333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18" name="Slide Number Placeholder 6"/>
          <p:cNvSpPr>
            <a:spLocks noGrp="1"/>
          </p:cNvSpPr>
          <p:nvPr>
            <p:ph type="sldNum" sz="quarter" idx="13"/>
          </p:nvPr>
        </p:nvSpPr>
        <p:spPr>
          <a:xfrm>
            <a:off x="9482084" y="7092838"/>
            <a:ext cx="533400" cy="457199"/>
          </a:xfrm>
        </p:spPr>
        <p:txBody>
          <a:bodyPr/>
          <a:lstStyle/>
          <a:p>
            <a:fld id="{2D25C865-99B9-4335-8FDD-FD387DF08D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5016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-2"/>
            <a:ext cx="10160002" cy="990602"/>
          </a:xfrm>
          <a:prstGeom prst="rect">
            <a:avLst/>
          </a:prstGeom>
          <a:noFill/>
          <a:ln w="889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36512" y="6934200"/>
            <a:ext cx="10109200" cy="0"/>
          </a:xfrm>
          <a:prstGeom prst="line">
            <a:avLst/>
          </a:prstGeom>
          <a:ln w="25400">
            <a:solidFill>
              <a:srgbClr val="C0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3041648" y="7045540"/>
            <a:ext cx="1905000" cy="457200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Requirements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7172036" y="7315200"/>
            <a:ext cx="346364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>
            <a:off x="4975224" y="7315200"/>
            <a:ext cx="346364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>
            <a:off x="2676236" y="7315200"/>
            <a:ext cx="346364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 userDrawn="1"/>
        </p:nvSpPr>
        <p:spPr>
          <a:xfrm>
            <a:off x="7518400" y="7031252"/>
            <a:ext cx="1905000" cy="457200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Future Tasks</a:t>
            </a:r>
            <a:endParaRPr lang="en-US" sz="1600" i="1" dirty="0">
              <a:solidFill>
                <a:srgbClr val="693333"/>
              </a:solidFill>
            </a:endParaRPr>
          </a:p>
        </p:txBody>
      </p:sp>
      <p:sp>
        <p:nvSpPr>
          <p:cNvPr id="24" name="Rectangle 23"/>
          <p:cNvSpPr/>
          <p:nvPr userDrawn="1"/>
        </p:nvSpPr>
        <p:spPr>
          <a:xfrm>
            <a:off x="5308600" y="7045540"/>
            <a:ext cx="1905000" cy="457200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Design</a:t>
            </a:r>
            <a:endParaRPr lang="en-US" sz="1600" i="1" dirty="0">
              <a:solidFill>
                <a:srgbClr val="693333"/>
              </a:solidFill>
            </a:endParaRPr>
          </a:p>
        </p:txBody>
      </p:sp>
      <p:sp>
        <p:nvSpPr>
          <p:cNvPr id="25" name="Rectangle 24"/>
          <p:cNvSpPr/>
          <p:nvPr userDrawn="1"/>
        </p:nvSpPr>
        <p:spPr>
          <a:xfrm>
            <a:off x="750888" y="7045540"/>
            <a:ext cx="1905000" cy="457200"/>
          </a:xfrm>
          <a:prstGeom prst="rect">
            <a:avLst/>
          </a:prstGeom>
          <a:noFill/>
          <a:ln>
            <a:noFill/>
          </a:ln>
          <a:effectLst>
            <a:glow rad="139700">
              <a:srgbClr val="C00000">
                <a:alpha val="40000"/>
              </a:srgb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rgbClr val="693333"/>
                </a:solidFill>
              </a:rPr>
              <a:t>Introduction</a:t>
            </a:r>
            <a:endParaRPr lang="en-US" sz="1600" i="1" dirty="0">
              <a:solidFill>
                <a:srgbClr val="693333"/>
              </a:solidFill>
            </a:endParaRPr>
          </a:p>
        </p:txBody>
      </p:sp>
      <p:cxnSp>
        <p:nvCxnSpPr>
          <p:cNvPr id="30" name="Straight Connector 9"/>
          <p:cNvCxnSpPr/>
          <p:nvPr userDrawn="1"/>
        </p:nvCxnSpPr>
        <p:spPr>
          <a:xfrm rot="5400000" flipH="1" flipV="1">
            <a:off x="6340474" y="3800472"/>
            <a:ext cx="7620002" cy="19054"/>
          </a:xfrm>
          <a:prstGeom prst="straightConnector1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/>
          <p:cNvCxnSpPr/>
          <p:nvPr userDrawn="1"/>
        </p:nvCxnSpPr>
        <p:spPr>
          <a:xfrm>
            <a:off x="-53976" y="7648576"/>
            <a:ext cx="10210800" cy="1587"/>
          </a:xfrm>
          <a:prstGeom prst="line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/>
          <p:cNvCxnSpPr/>
          <p:nvPr userDrawn="1"/>
        </p:nvCxnSpPr>
        <p:spPr>
          <a:xfrm>
            <a:off x="-25400" y="0"/>
            <a:ext cx="10210800" cy="1587"/>
          </a:xfrm>
          <a:prstGeom prst="line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9"/>
          <p:cNvCxnSpPr/>
          <p:nvPr userDrawn="1"/>
        </p:nvCxnSpPr>
        <p:spPr>
          <a:xfrm rot="5400000" flipH="1" flipV="1">
            <a:off x="-3811586" y="3800474"/>
            <a:ext cx="7620002" cy="19054"/>
          </a:xfrm>
          <a:prstGeom prst="straightConnector1">
            <a:avLst/>
          </a:prstGeom>
          <a:ln w="88900" cmpd="sng"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1117600" y="1752600"/>
            <a:ext cx="8077200" cy="4343400"/>
          </a:xfrm>
        </p:spPr>
        <p:txBody>
          <a:bodyPr/>
          <a:lstStyle>
            <a:lvl1pPr>
              <a:defRPr>
                <a:solidFill>
                  <a:srgbClr val="693333"/>
                </a:solidFill>
              </a:defRPr>
            </a:lvl1pPr>
            <a:lvl2pPr>
              <a:defRPr>
                <a:solidFill>
                  <a:srgbClr val="693333"/>
                </a:solidFill>
              </a:defRPr>
            </a:lvl2pPr>
            <a:lvl3pPr>
              <a:defRPr>
                <a:solidFill>
                  <a:srgbClr val="693333"/>
                </a:solidFill>
              </a:defRPr>
            </a:lvl3pPr>
            <a:lvl4pPr>
              <a:defRPr>
                <a:solidFill>
                  <a:srgbClr val="693333"/>
                </a:solidFill>
              </a:defRPr>
            </a:lvl4pPr>
            <a:lvl5pPr>
              <a:defRPr>
                <a:solidFill>
                  <a:srgbClr val="693333"/>
                </a:solidFill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762000" y="-2"/>
            <a:ext cx="8636000" cy="995362"/>
          </a:xfrm>
        </p:spPr>
        <p:txBody>
          <a:bodyPr/>
          <a:lstStyle>
            <a:lvl1pPr>
              <a:defRPr>
                <a:solidFill>
                  <a:srgbClr val="693333"/>
                </a:solidFill>
              </a:defRPr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>
          <a:xfrm>
            <a:off x="9482084" y="7092838"/>
            <a:ext cx="533400" cy="457199"/>
          </a:xfrm>
        </p:spPr>
        <p:txBody>
          <a:bodyPr/>
          <a:lstStyle/>
          <a:p>
            <a:fld id="{2D25C865-99B9-4335-8FDD-FD387DF08D14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850169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-1588" y="995360"/>
            <a:ext cx="10161588" cy="0"/>
          </a:xfrm>
          <a:prstGeom prst="line">
            <a:avLst/>
          </a:prstGeom>
          <a:ln w="38100" cmpd="sng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650" name="Picture 2" descr="http://gauss.unh.edu/~kay73/CS%20Pictures/J-water%5B1%5D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8" y="38099"/>
            <a:ext cx="10109200" cy="952501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 userDrawn="1"/>
        </p:nvSpPr>
        <p:spPr>
          <a:xfrm>
            <a:off x="203200" y="152400"/>
            <a:ext cx="9753600" cy="68834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36512" y="7010400"/>
            <a:ext cx="101092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7518400" y="7067552"/>
            <a:ext cx="1905000" cy="457200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chemeClr val="tx1"/>
                </a:solidFill>
              </a:rPr>
              <a:t>Future Tasks</a:t>
            </a:r>
            <a:endParaRPr lang="en-US" sz="1600" i="1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7172036" y="7315200"/>
            <a:ext cx="346364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4975224" y="7315200"/>
            <a:ext cx="346364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2676236" y="7315200"/>
            <a:ext cx="346364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 userDrawn="1"/>
        </p:nvSpPr>
        <p:spPr>
          <a:xfrm>
            <a:off x="750888" y="7067552"/>
            <a:ext cx="1905000" cy="457200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chemeClr val="tx1"/>
                </a:solidFill>
              </a:rPr>
              <a:t>Introduction</a:t>
            </a:r>
            <a:endParaRPr lang="en-US" sz="1600" i="1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5308600" y="7077072"/>
            <a:ext cx="1905000" cy="457200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chemeClr val="tx1"/>
                </a:solidFill>
              </a:rPr>
              <a:t>Design</a:t>
            </a:r>
            <a:endParaRPr lang="en-US" sz="1600" i="1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 userDrawn="1"/>
        </p:nvSpPr>
        <p:spPr>
          <a:xfrm>
            <a:off x="3041648" y="7072360"/>
            <a:ext cx="1905000" cy="457200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chemeClr val="tx1"/>
                </a:solidFill>
              </a:rPr>
              <a:t>Requirements</a:t>
            </a:r>
            <a:endParaRPr lang="en-US" sz="1600" i="1" dirty="0">
              <a:solidFill>
                <a:schemeClr val="tx1"/>
              </a:solidFill>
            </a:endParaRPr>
          </a:p>
        </p:txBody>
      </p:sp>
      <p:cxnSp>
        <p:nvCxnSpPr>
          <p:cNvPr id="21" name="Straight Connector 9"/>
          <p:cNvCxnSpPr/>
          <p:nvPr userDrawn="1"/>
        </p:nvCxnSpPr>
        <p:spPr>
          <a:xfrm rot="5400000" flipH="1" flipV="1">
            <a:off x="6340474" y="3800472"/>
            <a:ext cx="7620002" cy="19054"/>
          </a:xfrm>
          <a:prstGeom prst="straightConnector1">
            <a:avLst/>
          </a:prstGeom>
          <a:ln w="88900" cmpd="sng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>
            <a:off x="-53976" y="7648576"/>
            <a:ext cx="10210800" cy="1587"/>
          </a:xfrm>
          <a:prstGeom prst="line">
            <a:avLst/>
          </a:prstGeom>
          <a:ln w="88900" cmpd="sng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 userDrawn="1"/>
        </p:nvCxnSpPr>
        <p:spPr>
          <a:xfrm>
            <a:off x="-25400" y="0"/>
            <a:ext cx="10210800" cy="1587"/>
          </a:xfrm>
          <a:prstGeom prst="line">
            <a:avLst/>
          </a:prstGeom>
          <a:ln w="88900" cmpd="sng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9"/>
          <p:cNvCxnSpPr/>
          <p:nvPr userDrawn="1"/>
        </p:nvCxnSpPr>
        <p:spPr>
          <a:xfrm rot="5400000" flipH="1" flipV="1">
            <a:off x="-3811586" y="3800474"/>
            <a:ext cx="7620002" cy="19054"/>
          </a:xfrm>
          <a:prstGeom prst="straightConnector1">
            <a:avLst/>
          </a:prstGeom>
          <a:ln w="88900" cmpd="sng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itle 5"/>
          <p:cNvSpPr>
            <a:spLocks noGrp="1"/>
          </p:cNvSpPr>
          <p:nvPr>
            <p:ph type="title"/>
          </p:nvPr>
        </p:nvSpPr>
        <p:spPr>
          <a:xfrm>
            <a:off x="762000" y="-204788"/>
            <a:ext cx="8636000" cy="127158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8" name="Content Placeholder 4"/>
          <p:cNvSpPr>
            <a:spLocks noGrp="1"/>
          </p:cNvSpPr>
          <p:nvPr>
            <p:ph sz="quarter" idx="10"/>
          </p:nvPr>
        </p:nvSpPr>
        <p:spPr>
          <a:xfrm>
            <a:off x="1117600" y="1752600"/>
            <a:ext cx="8077200" cy="4343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-1588" y="995360"/>
            <a:ext cx="10161588" cy="0"/>
          </a:xfrm>
          <a:prstGeom prst="line">
            <a:avLst/>
          </a:prstGeom>
          <a:ln w="38100" cmpd="sng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650" name="Picture 2" descr="http://gauss.unh.edu/~kay73/CS%20Pictures/J-water%5B1%5D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8" y="38099"/>
            <a:ext cx="10109200" cy="952501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 userDrawn="1"/>
        </p:nvSpPr>
        <p:spPr>
          <a:xfrm>
            <a:off x="203200" y="152400"/>
            <a:ext cx="9753600" cy="68834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/>
          <p:cNvCxnSpPr/>
          <p:nvPr userDrawn="1"/>
        </p:nvCxnSpPr>
        <p:spPr>
          <a:xfrm>
            <a:off x="36512" y="7010400"/>
            <a:ext cx="101092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 userDrawn="1"/>
        </p:nvSpPr>
        <p:spPr>
          <a:xfrm>
            <a:off x="3041648" y="7077072"/>
            <a:ext cx="1905000" cy="457200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chemeClr val="tx1"/>
                </a:solidFill>
              </a:rPr>
              <a:t>Requirements</a:t>
            </a:r>
            <a:endParaRPr lang="en-US" sz="1600" i="1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14"/>
          <p:cNvCxnSpPr/>
          <p:nvPr userDrawn="1"/>
        </p:nvCxnSpPr>
        <p:spPr>
          <a:xfrm>
            <a:off x="7172036" y="7315200"/>
            <a:ext cx="346364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 userDrawn="1"/>
        </p:nvCxnSpPr>
        <p:spPr>
          <a:xfrm>
            <a:off x="4975224" y="7315200"/>
            <a:ext cx="346364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2676236" y="7315200"/>
            <a:ext cx="346364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 userDrawn="1"/>
        </p:nvSpPr>
        <p:spPr>
          <a:xfrm>
            <a:off x="750888" y="7067552"/>
            <a:ext cx="1905000" cy="457200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chemeClr val="tx1"/>
                </a:solidFill>
              </a:rPr>
              <a:t>Introduction</a:t>
            </a:r>
            <a:endParaRPr lang="en-US" sz="1600" i="1" dirty="0">
              <a:solidFill>
                <a:schemeClr val="tx1"/>
              </a:solidFill>
            </a:endParaRPr>
          </a:p>
        </p:txBody>
      </p:sp>
      <p:sp>
        <p:nvSpPr>
          <p:cNvPr id="19" name="Rectangle 18"/>
          <p:cNvSpPr/>
          <p:nvPr userDrawn="1"/>
        </p:nvSpPr>
        <p:spPr>
          <a:xfrm>
            <a:off x="7518400" y="7062784"/>
            <a:ext cx="1905000" cy="457200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chemeClr val="tx1"/>
                </a:solidFill>
              </a:rPr>
              <a:t>Future Tasks</a:t>
            </a:r>
            <a:endParaRPr lang="en-US" sz="1600" i="1" dirty="0">
              <a:solidFill>
                <a:schemeClr val="tx1"/>
              </a:solidFill>
            </a:endParaRPr>
          </a:p>
        </p:txBody>
      </p:sp>
      <p:sp>
        <p:nvSpPr>
          <p:cNvPr id="20" name="Rectangle 19"/>
          <p:cNvSpPr/>
          <p:nvPr userDrawn="1"/>
        </p:nvSpPr>
        <p:spPr>
          <a:xfrm>
            <a:off x="5341936" y="7072360"/>
            <a:ext cx="1905000" cy="457200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chemeClr val="tx1"/>
                </a:solidFill>
              </a:rPr>
              <a:t>Design</a:t>
            </a:r>
            <a:endParaRPr lang="en-US" sz="1600" i="1" dirty="0">
              <a:solidFill>
                <a:schemeClr val="tx1"/>
              </a:solidFill>
            </a:endParaRPr>
          </a:p>
        </p:txBody>
      </p:sp>
      <p:cxnSp>
        <p:nvCxnSpPr>
          <p:cNvPr id="21" name="Straight Connector 9"/>
          <p:cNvCxnSpPr/>
          <p:nvPr userDrawn="1"/>
        </p:nvCxnSpPr>
        <p:spPr>
          <a:xfrm rot="5400000" flipH="1" flipV="1">
            <a:off x="6340474" y="3800472"/>
            <a:ext cx="7620002" cy="19054"/>
          </a:xfrm>
          <a:prstGeom prst="straightConnector1">
            <a:avLst/>
          </a:prstGeom>
          <a:ln w="88900" cmpd="sng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>
            <a:off x="-53976" y="7648576"/>
            <a:ext cx="10210800" cy="1587"/>
          </a:xfrm>
          <a:prstGeom prst="line">
            <a:avLst/>
          </a:prstGeom>
          <a:ln w="88900" cmpd="sng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 userDrawn="1"/>
        </p:nvCxnSpPr>
        <p:spPr>
          <a:xfrm>
            <a:off x="-25400" y="0"/>
            <a:ext cx="10210800" cy="1587"/>
          </a:xfrm>
          <a:prstGeom prst="line">
            <a:avLst/>
          </a:prstGeom>
          <a:ln w="88900" cmpd="sng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9"/>
          <p:cNvCxnSpPr/>
          <p:nvPr userDrawn="1"/>
        </p:nvCxnSpPr>
        <p:spPr>
          <a:xfrm rot="5400000" flipH="1" flipV="1">
            <a:off x="-3811586" y="3800474"/>
            <a:ext cx="7620002" cy="19054"/>
          </a:xfrm>
          <a:prstGeom prst="straightConnector1">
            <a:avLst/>
          </a:prstGeom>
          <a:ln w="88900" cmpd="sng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itle 5"/>
          <p:cNvSpPr>
            <a:spLocks noGrp="1"/>
          </p:cNvSpPr>
          <p:nvPr>
            <p:ph type="title"/>
          </p:nvPr>
        </p:nvSpPr>
        <p:spPr>
          <a:xfrm>
            <a:off x="762000" y="-204788"/>
            <a:ext cx="8636000" cy="127158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8" name="Content Placeholder 4"/>
          <p:cNvSpPr>
            <a:spLocks noGrp="1"/>
          </p:cNvSpPr>
          <p:nvPr>
            <p:ph sz="quarter" idx="10"/>
          </p:nvPr>
        </p:nvSpPr>
        <p:spPr>
          <a:xfrm>
            <a:off x="1117600" y="1752600"/>
            <a:ext cx="8077200" cy="4343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-1588" y="995360"/>
            <a:ext cx="10161588" cy="0"/>
          </a:xfrm>
          <a:prstGeom prst="line">
            <a:avLst/>
          </a:prstGeom>
          <a:ln w="38100" cmpd="sng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650" name="Picture 2" descr="http://gauss.unh.edu/~kay73/CS%20Pictures/J-water%5B1%5D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8" y="38099"/>
            <a:ext cx="10109200" cy="952501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 userDrawn="1"/>
        </p:nvSpPr>
        <p:spPr>
          <a:xfrm>
            <a:off x="203200" y="152400"/>
            <a:ext cx="9753600" cy="68834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36512" y="7010400"/>
            <a:ext cx="101092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 userDrawn="1"/>
        </p:nvSpPr>
        <p:spPr>
          <a:xfrm>
            <a:off x="3041648" y="7077072"/>
            <a:ext cx="1905000" cy="457200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chemeClr val="tx1"/>
                </a:solidFill>
              </a:rPr>
              <a:t>Requirements</a:t>
            </a:r>
            <a:endParaRPr lang="en-US" sz="1600" i="1" dirty="0">
              <a:solidFill>
                <a:schemeClr val="tx1"/>
              </a:solidFill>
            </a:endParaRP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7172036" y="7315200"/>
            <a:ext cx="346364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>
            <a:off x="4975224" y="7315200"/>
            <a:ext cx="346364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>
            <a:off x="2676236" y="7315200"/>
            <a:ext cx="346364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 userDrawn="1"/>
        </p:nvSpPr>
        <p:spPr>
          <a:xfrm>
            <a:off x="750888" y="7067552"/>
            <a:ext cx="1905000" cy="457200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chemeClr val="tx1"/>
                </a:solidFill>
              </a:rPr>
              <a:t>Introduction</a:t>
            </a:r>
            <a:endParaRPr lang="en-US" sz="1600" i="1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 userDrawn="1"/>
        </p:nvSpPr>
        <p:spPr>
          <a:xfrm>
            <a:off x="5308600" y="7077072"/>
            <a:ext cx="1905000" cy="457200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chemeClr val="tx1"/>
                </a:solidFill>
              </a:rPr>
              <a:t>Design</a:t>
            </a:r>
            <a:endParaRPr lang="en-US" sz="1600" i="1" dirty="0">
              <a:solidFill>
                <a:schemeClr val="tx1"/>
              </a:solidFill>
            </a:endParaRPr>
          </a:p>
        </p:txBody>
      </p:sp>
      <p:sp>
        <p:nvSpPr>
          <p:cNvPr id="35" name="Rectangle 34"/>
          <p:cNvSpPr/>
          <p:nvPr userDrawn="1"/>
        </p:nvSpPr>
        <p:spPr>
          <a:xfrm>
            <a:off x="7537448" y="7072360"/>
            <a:ext cx="1905000" cy="457200"/>
          </a:xfrm>
          <a:prstGeom prst="rect">
            <a:avLst/>
          </a:prstGeom>
          <a:solidFill>
            <a:schemeClr val="bg1"/>
          </a:solidFill>
          <a:ln>
            <a:solidFill>
              <a:srgbClr val="002060"/>
            </a:solidFill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chemeClr val="tx1"/>
                </a:solidFill>
              </a:rPr>
              <a:t>Future Tasks</a:t>
            </a:r>
            <a:endParaRPr lang="en-US" sz="1600" i="1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9"/>
          <p:cNvCxnSpPr/>
          <p:nvPr userDrawn="1"/>
        </p:nvCxnSpPr>
        <p:spPr>
          <a:xfrm rot="5400000" flipH="1" flipV="1">
            <a:off x="6340474" y="3800472"/>
            <a:ext cx="7620002" cy="19054"/>
          </a:xfrm>
          <a:prstGeom prst="straightConnector1">
            <a:avLst/>
          </a:prstGeom>
          <a:ln w="88900" cmpd="sng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-53976" y="7648576"/>
            <a:ext cx="10210800" cy="1587"/>
          </a:xfrm>
          <a:prstGeom prst="line">
            <a:avLst/>
          </a:prstGeom>
          <a:ln w="88900" cmpd="sng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>
            <a:off x="-25400" y="0"/>
            <a:ext cx="10210800" cy="1587"/>
          </a:xfrm>
          <a:prstGeom prst="line">
            <a:avLst/>
          </a:prstGeom>
          <a:ln w="88900" cmpd="sng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9"/>
          <p:cNvCxnSpPr/>
          <p:nvPr userDrawn="1"/>
        </p:nvCxnSpPr>
        <p:spPr>
          <a:xfrm rot="5400000" flipH="1" flipV="1">
            <a:off x="-3811586" y="3800474"/>
            <a:ext cx="7620002" cy="19054"/>
          </a:xfrm>
          <a:prstGeom prst="straightConnector1">
            <a:avLst/>
          </a:prstGeom>
          <a:ln w="88900" cmpd="sng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tle 5"/>
          <p:cNvSpPr>
            <a:spLocks noGrp="1"/>
          </p:cNvSpPr>
          <p:nvPr>
            <p:ph type="title"/>
          </p:nvPr>
        </p:nvSpPr>
        <p:spPr>
          <a:xfrm>
            <a:off x="762000" y="-204788"/>
            <a:ext cx="8636000" cy="127158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5" name="Content Placeholder 4"/>
          <p:cNvSpPr>
            <a:spLocks noGrp="1"/>
          </p:cNvSpPr>
          <p:nvPr>
            <p:ph sz="quarter" idx="10"/>
          </p:nvPr>
        </p:nvSpPr>
        <p:spPr>
          <a:xfrm>
            <a:off x="1117600" y="1752600"/>
            <a:ext cx="8077200" cy="4343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-1588" y="995360"/>
            <a:ext cx="10161588" cy="0"/>
          </a:xfrm>
          <a:prstGeom prst="line">
            <a:avLst/>
          </a:prstGeom>
          <a:ln w="38100" cmpd="sng"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7650" name="Picture 2" descr="http://gauss.unh.edu/~kay73/CS%20Pictures/J-water%5B1%5D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8" y="38099"/>
            <a:ext cx="10109200" cy="952501"/>
          </a:xfrm>
          <a:prstGeom prst="rect">
            <a:avLst/>
          </a:prstGeom>
          <a:noFill/>
        </p:spPr>
      </p:pic>
      <p:sp>
        <p:nvSpPr>
          <p:cNvPr id="12" name="Rectangle 11"/>
          <p:cNvSpPr/>
          <p:nvPr userDrawn="1"/>
        </p:nvSpPr>
        <p:spPr>
          <a:xfrm>
            <a:off x="203200" y="152400"/>
            <a:ext cx="9753600" cy="688340"/>
          </a:xfrm>
          <a:prstGeom prst="rect">
            <a:avLst/>
          </a:prstGeom>
          <a:solidFill>
            <a:schemeClr val="bg1"/>
          </a:solidFill>
          <a:ln w="1905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36512" y="7010400"/>
            <a:ext cx="10109200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 userDrawn="1"/>
        </p:nvSpPr>
        <p:spPr>
          <a:xfrm>
            <a:off x="3041648" y="7077072"/>
            <a:ext cx="1905000" cy="457200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chemeClr val="tx1"/>
                </a:solidFill>
              </a:rPr>
              <a:t>Requirements</a:t>
            </a:r>
            <a:endParaRPr lang="en-US" sz="1600" i="1" dirty="0">
              <a:solidFill>
                <a:schemeClr val="tx1"/>
              </a:solidFill>
            </a:endParaRPr>
          </a:p>
        </p:txBody>
      </p:sp>
      <p:cxnSp>
        <p:nvCxnSpPr>
          <p:cNvPr id="20" name="Straight Connector 19"/>
          <p:cNvCxnSpPr/>
          <p:nvPr userDrawn="1"/>
        </p:nvCxnSpPr>
        <p:spPr>
          <a:xfrm>
            <a:off x="7172036" y="7315200"/>
            <a:ext cx="346364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 userDrawn="1"/>
        </p:nvCxnSpPr>
        <p:spPr>
          <a:xfrm>
            <a:off x="4975224" y="7315200"/>
            <a:ext cx="346364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 userDrawn="1"/>
        </p:nvCxnSpPr>
        <p:spPr>
          <a:xfrm>
            <a:off x="2676236" y="7315200"/>
            <a:ext cx="346364" cy="0"/>
          </a:xfrm>
          <a:prstGeom prst="line">
            <a:avLst/>
          </a:prstGeom>
          <a:ln w="254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 userDrawn="1"/>
        </p:nvSpPr>
        <p:spPr>
          <a:xfrm>
            <a:off x="750888" y="7067552"/>
            <a:ext cx="1905000" cy="457200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chemeClr val="tx1"/>
                </a:solidFill>
              </a:rPr>
              <a:t>Introduction</a:t>
            </a:r>
            <a:endParaRPr lang="en-US" sz="1600" i="1" dirty="0">
              <a:solidFill>
                <a:schemeClr val="tx1"/>
              </a:solidFill>
            </a:endParaRPr>
          </a:p>
        </p:txBody>
      </p:sp>
      <p:sp>
        <p:nvSpPr>
          <p:cNvPr id="34" name="Rectangle 33"/>
          <p:cNvSpPr/>
          <p:nvPr userDrawn="1"/>
        </p:nvSpPr>
        <p:spPr>
          <a:xfrm>
            <a:off x="5308600" y="7077072"/>
            <a:ext cx="1905000" cy="457200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chemeClr val="tx1"/>
                </a:solidFill>
              </a:rPr>
              <a:t>Design</a:t>
            </a:r>
            <a:endParaRPr lang="en-US" sz="1600" i="1" dirty="0">
              <a:solidFill>
                <a:schemeClr val="tx1"/>
              </a:solidFill>
            </a:endParaRPr>
          </a:p>
        </p:txBody>
      </p:sp>
      <p:sp>
        <p:nvSpPr>
          <p:cNvPr id="35" name="Rectangle 34"/>
          <p:cNvSpPr/>
          <p:nvPr userDrawn="1"/>
        </p:nvSpPr>
        <p:spPr>
          <a:xfrm>
            <a:off x="7537448" y="7072360"/>
            <a:ext cx="1905000" cy="457200"/>
          </a:xfrm>
          <a:prstGeom prst="rect">
            <a:avLst/>
          </a:prstGeom>
          <a:noFill/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 smtClean="0">
                <a:solidFill>
                  <a:schemeClr val="tx1"/>
                </a:solidFill>
              </a:rPr>
              <a:t>Future Tasks</a:t>
            </a:r>
            <a:endParaRPr lang="en-US" sz="1600" i="1" dirty="0">
              <a:solidFill>
                <a:schemeClr val="tx1"/>
              </a:solidFill>
            </a:endParaRPr>
          </a:p>
        </p:txBody>
      </p:sp>
      <p:cxnSp>
        <p:nvCxnSpPr>
          <p:cNvPr id="15" name="Straight Connector 9"/>
          <p:cNvCxnSpPr/>
          <p:nvPr userDrawn="1"/>
        </p:nvCxnSpPr>
        <p:spPr>
          <a:xfrm rot="5400000" flipH="1" flipV="1">
            <a:off x="6340474" y="3800472"/>
            <a:ext cx="7620002" cy="19054"/>
          </a:xfrm>
          <a:prstGeom prst="straightConnector1">
            <a:avLst/>
          </a:prstGeom>
          <a:ln w="88900" cmpd="sng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 userDrawn="1"/>
        </p:nvCxnSpPr>
        <p:spPr>
          <a:xfrm>
            <a:off x="-53976" y="7648576"/>
            <a:ext cx="10210800" cy="1587"/>
          </a:xfrm>
          <a:prstGeom prst="line">
            <a:avLst/>
          </a:prstGeom>
          <a:ln w="88900" cmpd="sng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 userDrawn="1"/>
        </p:nvCxnSpPr>
        <p:spPr>
          <a:xfrm>
            <a:off x="-25400" y="0"/>
            <a:ext cx="10210800" cy="1587"/>
          </a:xfrm>
          <a:prstGeom prst="line">
            <a:avLst/>
          </a:prstGeom>
          <a:ln w="88900" cmpd="sng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9"/>
          <p:cNvCxnSpPr/>
          <p:nvPr userDrawn="1"/>
        </p:nvCxnSpPr>
        <p:spPr>
          <a:xfrm rot="5400000" flipH="1" flipV="1">
            <a:off x="-3811586" y="3800474"/>
            <a:ext cx="7620002" cy="19054"/>
          </a:xfrm>
          <a:prstGeom prst="straightConnector1">
            <a:avLst/>
          </a:prstGeom>
          <a:ln w="88900" cmpd="sng">
            <a:solidFill>
              <a:schemeClr val="tx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itle 5"/>
          <p:cNvSpPr>
            <a:spLocks noGrp="1"/>
          </p:cNvSpPr>
          <p:nvPr>
            <p:ph type="title"/>
          </p:nvPr>
        </p:nvSpPr>
        <p:spPr>
          <a:xfrm>
            <a:off x="762000" y="-204788"/>
            <a:ext cx="8636000" cy="1271588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25" name="Content Placeholder 4"/>
          <p:cNvSpPr>
            <a:spLocks noGrp="1"/>
          </p:cNvSpPr>
          <p:nvPr>
            <p:ph sz="quarter" idx="10"/>
          </p:nvPr>
        </p:nvSpPr>
        <p:spPr>
          <a:xfrm>
            <a:off x="1117600" y="1752600"/>
            <a:ext cx="8077200" cy="4343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81DC297-D0CA-4A79-8AED-48C1A37220C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3275" y="4895850"/>
            <a:ext cx="8636000" cy="15144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03275" y="3228975"/>
            <a:ext cx="8636000" cy="166687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F373F05-7558-401B-A0CE-A89DF9D9EBE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2200275"/>
            <a:ext cx="4241800" cy="4573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56200" y="2200275"/>
            <a:ext cx="4241800" cy="45735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C9CA4E2-AD58-4E0B-B066-5B5363DEF92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4800"/>
            <a:ext cx="9144000" cy="127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8000" y="1704975"/>
            <a:ext cx="4489450" cy="7112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000" y="2416175"/>
            <a:ext cx="4489450" cy="43910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60963" y="1704975"/>
            <a:ext cx="4491037" cy="71120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60963" y="2416175"/>
            <a:ext cx="4491037" cy="439102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25455B-DA76-492A-A499-F7AFB8BB105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23ED5E7-2372-4DEE-90E7-BE3FA23FB5F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153DA89-8A9B-471D-A9B9-86FB35BF216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303213"/>
            <a:ext cx="3343275" cy="129063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71925" y="303213"/>
            <a:ext cx="5680075" cy="650398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8000" y="1593850"/>
            <a:ext cx="3343275" cy="521335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BF170F8-9ABE-4019-A90B-DB65F70A216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0725" y="5334000"/>
            <a:ext cx="6096000" cy="6302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90725" y="681038"/>
            <a:ext cx="6096000" cy="45720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90725" y="5964238"/>
            <a:ext cx="6096000" cy="8937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A360D4D-BE55-4B6C-B670-43C9CE575ACC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70A6875-0D63-4EE7-A806-32DE852FBDB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239000" y="676275"/>
            <a:ext cx="2159000" cy="609758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676275"/>
            <a:ext cx="6324600" cy="609758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780C75A-CC4E-4CCE-A935-5F8E922477C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62000" y="2367140"/>
            <a:ext cx="8636000" cy="163336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4318000"/>
            <a:ext cx="7112000" cy="1947333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0799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159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239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319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399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479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5596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6395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6DED4C-BFDD-4DA6-BE89-50479844CB6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0" y="676275"/>
            <a:ext cx="8636000" cy="1271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2200275"/>
            <a:ext cx="8636000" cy="45735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62000" y="6942138"/>
            <a:ext cx="2117725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470275" y="6942138"/>
            <a:ext cx="3219450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80275" y="6942138"/>
            <a:ext cx="2119313" cy="5095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2D25C865-99B9-4335-8FDD-FD387DF08D14}" type="slidenum">
              <a:rPr lang="en-US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69" r:id="rId13"/>
    <p:sldLayoutId id="2147483665" r:id="rId14"/>
    <p:sldLayoutId id="2147483666" r:id="rId15"/>
    <p:sldLayoutId id="2147483667" r:id="rId16"/>
    <p:sldLayoutId id="2147483668" r:id="rId17"/>
    <p:sldLayoutId id="2147483660" r:id="rId18"/>
    <p:sldLayoutId id="2147483661" r:id="rId19"/>
    <p:sldLayoutId id="2147483662" r:id="rId20"/>
    <p:sldLayoutId id="2147483664" r:id="rId21"/>
    <p:sldLayoutId id="2147483650" r:id="rId22"/>
    <p:sldLayoutId id="2147483651" r:id="rId23"/>
    <p:sldLayoutId id="2147483652" r:id="rId24"/>
    <p:sldLayoutId id="2147483653" r:id="rId25"/>
    <p:sldLayoutId id="2147483654" r:id="rId26"/>
    <p:sldLayoutId id="2147483655" r:id="rId27"/>
    <p:sldLayoutId id="2147483656" r:id="rId28"/>
    <p:sldLayoutId id="2147483657" r:id="rId29"/>
    <p:sldLayoutId id="2147483658" r:id="rId30"/>
    <p:sldLayoutId id="2147483659" r:id="rId31"/>
    <p:sldLayoutId id="2147483663" r:id="rId32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0160000" cy="7620000"/>
          </a:xfrm>
          <a:prstGeom prst="rect">
            <a:avLst/>
          </a:prstGeom>
          <a:solidFill>
            <a:schemeClr val="bg1">
              <a:lumMod val="95000"/>
            </a:schemeClr>
          </a:solidFill>
          <a:ln w="1270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s</a:t>
            </a:r>
            <a:endParaRPr lang="en-US" dirty="0"/>
          </a:p>
        </p:txBody>
      </p: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965199" y="533400"/>
            <a:ext cx="8263733" cy="2133600"/>
          </a:xfrm>
          <a:prstGeom prst="roundRect">
            <a:avLst>
              <a:gd name="adj" fmla="val 0"/>
            </a:avLst>
          </a:prstGeom>
          <a:solidFill>
            <a:schemeClr val="bg1">
              <a:alpha val="0"/>
            </a:schemeClr>
          </a:solidFill>
          <a:ln w="38100">
            <a:solidFill>
              <a:srgbClr val="C00000"/>
            </a:solidFill>
          </a:ln>
        </p:spPr>
        <p:txBody>
          <a:bodyPr>
            <a:normAutofit/>
          </a:bodyPr>
          <a:lstStyle/>
          <a:p>
            <a:r>
              <a:rPr lang="en-US" sz="2400" dirty="0" err="1" smtClean="0">
                <a:latin typeface="Calibri" pitchFamily="34" charset="0"/>
                <a:cs typeface="Calibri" pitchFamily="34" charset="0"/>
              </a:rPr>
              <a:t>SpaceBots</a:t>
            </a:r>
            <a:r>
              <a:rPr lang="en-US" sz="2400" dirty="0" smtClean="0">
                <a:latin typeface="Calibri" pitchFamily="34" charset="0"/>
                <a:cs typeface="Calibri" pitchFamily="34" charset="0"/>
              </a:rPr>
              <a:t>, Inc.</a:t>
            </a:r>
            <a:br>
              <a:rPr lang="en-US" sz="2400" dirty="0" smtClean="0">
                <a:latin typeface="Calibri" pitchFamily="34" charset="0"/>
                <a:cs typeface="Calibri" pitchFamily="34" charset="0"/>
              </a:rPr>
            </a:br>
            <a:r>
              <a:rPr lang="en-US" sz="1600" dirty="0" smtClean="0">
                <a:latin typeface="Calibri" pitchFamily="34" charset="0"/>
                <a:cs typeface="Calibri" pitchFamily="34" charset="0"/>
              </a:rPr>
              <a:t>presents</a:t>
            </a:r>
            <a:r>
              <a:rPr lang="en-US" sz="3600" dirty="0">
                <a:latin typeface="Calibri" pitchFamily="34" charset="0"/>
                <a:cs typeface="Calibri" pitchFamily="34" charset="0"/>
              </a:rPr>
              <a:t/>
            </a:r>
            <a:br>
              <a:rPr lang="en-US" sz="3600" dirty="0">
                <a:latin typeface="Calibri" pitchFamily="34" charset="0"/>
                <a:cs typeface="Calibri" pitchFamily="34" charset="0"/>
              </a:rPr>
            </a:br>
            <a:r>
              <a:rPr lang="en-US" sz="3600" dirty="0" smtClean="0">
                <a:latin typeface="Calibri" pitchFamily="34" charset="0"/>
                <a:cs typeface="Calibri" pitchFamily="34" charset="0"/>
              </a:rPr>
              <a:t> </a:t>
            </a:r>
            <a:r>
              <a:rPr lang="en-US" sz="4800" b="1" dirty="0" smtClean="0">
                <a:latin typeface="Calibri" pitchFamily="34" charset="0"/>
                <a:cs typeface="Calibri" pitchFamily="34" charset="0"/>
              </a:rPr>
              <a:t>The </a:t>
            </a:r>
            <a:r>
              <a:rPr lang="en-US" sz="4800" b="1" dirty="0" err="1" smtClean="0">
                <a:latin typeface="Calibri" pitchFamily="34" charset="0"/>
                <a:cs typeface="Calibri" pitchFamily="34" charset="0"/>
              </a:rPr>
              <a:t>FuelBot</a:t>
            </a:r>
            <a:r>
              <a:rPr lang="en-US" sz="4800" b="1" dirty="0" smtClean="0">
                <a:latin typeface="Calibri" pitchFamily="34" charset="0"/>
                <a:cs typeface="Calibri" pitchFamily="34" charset="0"/>
              </a:rPr>
              <a:t/>
            </a:r>
            <a:br>
              <a:rPr lang="en-US" sz="4800" b="1" dirty="0" smtClean="0">
                <a:latin typeface="Calibri" pitchFamily="34" charset="0"/>
                <a:cs typeface="Calibri" pitchFamily="34" charset="0"/>
              </a:rPr>
            </a:br>
            <a:r>
              <a:rPr lang="en-US" sz="3800" b="1" i="1" dirty="0" smtClean="0">
                <a:latin typeface="Calibri" pitchFamily="34" charset="0"/>
                <a:cs typeface="Calibri" pitchFamily="34" charset="0"/>
              </a:rPr>
              <a:t>A GEO Satellite Life-Extension Vehicle</a:t>
            </a:r>
            <a:endParaRPr lang="en-US" sz="3800" b="1" i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Subtitle 2"/>
          <p:cNvSpPr txBox="1">
            <a:spLocks/>
          </p:cNvSpPr>
          <p:nvPr/>
        </p:nvSpPr>
        <p:spPr bwMode="auto">
          <a:xfrm>
            <a:off x="508000" y="3143992"/>
            <a:ext cx="3124200" cy="3875127"/>
          </a:xfrm>
          <a:prstGeom prst="roundRect">
            <a:avLst>
              <a:gd name="adj" fmla="val 0"/>
            </a:avLst>
          </a:prstGeom>
          <a:noFill/>
          <a:ln w="38100">
            <a:solidFill>
              <a:srgbClr val="C00000"/>
            </a:solidFill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chemeClr val="tx1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algn="ctr">
              <a:buNone/>
            </a:pPr>
            <a:r>
              <a:rPr lang="en-US" sz="2400" b="1" i="1" dirty="0" smtClean="0">
                <a:solidFill>
                  <a:srgbClr val="800000"/>
                </a:solidFill>
                <a:latin typeface="Calibri" pitchFamily="34" charset="0"/>
                <a:cs typeface="Calibri" pitchFamily="34" charset="0"/>
              </a:rPr>
              <a:t>Group #4</a:t>
            </a:r>
          </a:p>
          <a:p>
            <a:pPr algn="ctr">
              <a:buNone/>
            </a:pPr>
            <a:endParaRPr lang="en-US" sz="1400" b="1" i="1" dirty="0" smtClean="0">
              <a:solidFill>
                <a:srgbClr val="800000"/>
              </a:solidFill>
              <a:latin typeface="Calibri" pitchFamily="34" charset="0"/>
              <a:cs typeface="Calibri" pitchFamily="34" charset="0"/>
            </a:endParaRPr>
          </a:p>
          <a:p>
            <a:pPr algn="ctr">
              <a:buFontTx/>
              <a:buNone/>
            </a:pPr>
            <a:r>
              <a:rPr lang="en-US" sz="2400" b="1" i="1" dirty="0" err="1" smtClean="0">
                <a:solidFill>
                  <a:srgbClr val="800000"/>
                </a:solidFill>
                <a:latin typeface="Calibri" pitchFamily="34" charset="0"/>
                <a:cs typeface="Calibri" pitchFamily="34" charset="0"/>
              </a:rPr>
              <a:t>Gyu</a:t>
            </a:r>
            <a:r>
              <a:rPr lang="en-US" sz="2400" b="1" i="1" dirty="0" smtClean="0">
                <a:solidFill>
                  <a:srgbClr val="8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i="1" dirty="0" err="1" smtClean="0">
                <a:solidFill>
                  <a:srgbClr val="800000"/>
                </a:solidFill>
                <a:latin typeface="Calibri" pitchFamily="34" charset="0"/>
                <a:cs typeface="Calibri" pitchFamily="34" charset="0"/>
              </a:rPr>
              <a:t>Hyeon</a:t>
            </a:r>
            <a:r>
              <a:rPr lang="en-US" sz="2400" b="1" i="1" dirty="0" smtClean="0">
                <a:solidFill>
                  <a:srgbClr val="800000"/>
                </a:solidFill>
                <a:latin typeface="Calibri" pitchFamily="34" charset="0"/>
                <a:cs typeface="Calibri" pitchFamily="34" charset="0"/>
              </a:rPr>
              <a:t> Kim</a:t>
            </a:r>
            <a:endParaRPr lang="en-US" sz="2400" b="1" i="1" dirty="0">
              <a:solidFill>
                <a:srgbClr val="800000"/>
              </a:solidFill>
              <a:latin typeface="Calibri" pitchFamily="34" charset="0"/>
              <a:cs typeface="Calibri" pitchFamily="34" charset="0"/>
            </a:endParaRPr>
          </a:p>
          <a:p>
            <a:pPr algn="ctr">
              <a:buFontTx/>
              <a:buNone/>
            </a:pPr>
            <a:r>
              <a:rPr lang="en-US" sz="2400" b="1" i="1" dirty="0" smtClean="0">
                <a:solidFill>
                  <a:srgbClr val="800000"/>
                </a:solidFill>
                <a:latin typeface="Calibri" pitchFamily="34" charset="0"/>
                <a:cs typeface="Calibri" pitchFamily="34" charset="0"/>
              </a:rPr>
              <a:t>Nathan </a:t>
            </a:r>
            <a:r>
              <a:rPr lang="en-US" sz="2400" b="1" i="1" dirty="0" err="1" smtClean="0">
                <a:solidFill>
                  <a:srgbClr val="800000"/>
                </a:solidFill>
                <a:latin typeface="Calibri" pitchFamily="34" charset="0"/>
                <a:cs typeface="Calibri" pitchFamily="34" charset="0"/>
              </a:rPr>
              <a:t>Pandian</a:t>
            </a:r>
            <a:endParaRPr lang="en-US" sz="2400" b="1" i="1" dirty="0" smtClean="0">
              <a:solidFill>
                <a:srgbClr val="800000"/>
              </a:solidFill>
              <a:latin typeface="Calibri" pitchFamily="34" charset="0"/>
              <a:cs typeface="Calibri" pitchFamily="34" charset="0"/>
            </a:endParaRPr>
          </a:p>
          <a:p>
            <a:pPr algn="ctr">
              <a:buFontTx/>
              <a:buNone/>
            </a:pPr>
            <a:r>
              <a:rPr lang="en-US" sz="2400" b="1" i="1" dirty="0" smtClean="0">
                <a:solidFill>
                  <a:srgbClr val="800000"/>
                </a:solidFill>
                <a:latin typeface="Calibri" pitchFamily="34" charset="0"/>
                <a:cs typeface="Calibri" pitchFamily="34" charset="0"/>
              </a:rPr>
              <a:t>Cat </a:t>
            </a:r>
            <a:r>
              <a:rPr lang="en-US" sz="2400" b="1" i="1" dirty="0" err="1" smtClean="0">
                <a:solidFill>
                  <a:srgbClr val="800000"/>
                </a:solidFill>
                <a:latin typeface="Calibri" pitchFamily="34" charset="0"/>
                <a:cs typeface="Calibri" pitchFamily="34" charset="0"/>
              </a:rPr>
              <a:t>Ticsay</a:t>
            </a:r>
            <a:endParaRPr lang="en-US" sz="2400" b="1" i="1" dirty="0" smtClean="0">
              <a:solidFill>
                <a:srgbClr val="800000"/>
              </a:solidFill>
              <a:latin typeface="Calibri" pitchFamily="34" charset="0"/>
              <a:cs typeface="Calibri" pitchFamily="34" charset="0"/>
            </a:endParaRPr>
          </a:p>
          <a:p>
            <a:pPr algn="ctr">
              <a:buFontTx/>
              <a:buNone/>
            </a:pPr>
            <a:r>
              <a:rPr lang="en-US" sz="2400" b="1" i="1" dirty="0" smtClean="0">
                <a:solidFill>
                  <a:srgbClr val="800000"/>
                </a:solidFill>
                <a:latin typeface="Calibri" pitchFamily="34" charset="0"/>
                <a:cs typeface="Calibri" pitchFamily="34" charset="0"/>
              </a:rPr>
              <a:t>Chung-</a:t>
            </a:r>
            <a:r>
              <a:rPr lang="en-US" sz="2400" b="1" i="1" dirty="0" err="1" smtClean="0">
                <a:solidFill>
                  <a:srgbClr val="800000"/>
                </a:solidFill>
                <a:latin typeface="Calibri" pitchFamily="34" charset="0"/>
                <a:cs typeface="Calibri" pitchFamily="34" charset="0"/>
              </a:rPr>
              <a:t>Hau</a:t>
            </a:r>
            <a:r>
              <a:rPr lang="en-US" sz="2400" b="1" i="1" dirty="0" smtClean="0">
                <a:solidFill>
                  <a:srgbClr val="800000"/>
                </a:solidFill>
                <a:latin typeface="Calibri" pitchFamily="34" charset="0"/>
                <a:cs typeface="Calibri" pitchFamily="34" charset="0"/>
              </a:rPr>
              <a:t> Wang</a:t>
            </a:r>
          </a:p>
          <a:p>
            <a:pPr algn="ctr">
              <a:buFontTx/>
              <a:buNone/>
            </a:pPr>
            <a:r>
              <a:rPr lang="en-US" sz="2400" b="1" i="1" dirty="0" err="1" smtClean="0">
                <a:solidFill>
                  <a:srgbClr val="800000"/>
                </a:solidFill>
                <a:latin typeface="Calibri" pitchFamily="34" charset="0"/>
                <a:cs typeface="Calibri" pitchFamily="34" charset="0"/>
              </a:rPr>
              <a:t>Mikey</a:t>
            </a:r>
            <a:r>
              <a:rPr lang="en-US" sz="2400" b="1" i="1" dirty="0" smtClean="0">
                <a:solidFill>
                  <a:srgbClr val="800000"/>
                </a:solidFill>
                <a:latin typeface="Calibri" pitchFamily="34" charset="0"/>
                <a:cs typeface="Calibri" pitchFamily="34" charset="0"/>
              </a:rPr>
              <a:t> </a:t>
            </a:r>
            <a:r>
              <a:rPr lang="en-US" sz="2400" b="1" i="1" dirty="0" err="1" smtClean="0">
                <a:solidFill>
                  <a:srgbClr val="800000"/>
                </a:solidFill>
                <a:latin typeface="Calibri" pitchFamily="34" charset="0"/>
                <a:cs typeface="Calibri" pitchFamily="34" charset="0"/>
              </a:rPr>
              <a:t>Zarem</a:t>
            </a:r>
            <a:endParaRPr lang="en-US" sz="2400" b="1" i="1" dirty="0" smtClean="0">
              <a:solidFill>
                <a:srgbClr val="800000"/>
              </a:solidFill>
              <a:latin typeface="Calibri" pitchFamily="34" charset="0"/>
              <a:cs typeface="Calibri" pitchFamily="34" charset="0"/>
            </a:endParaRPr>
          </a:p>
          <a:p>
            <a:pPr algn="ctr">
              <a:buFontTx/>
              <a:buNone/>
            </a:pPr>
            <a:endParaRPr lang="en-US" sz="1400" b="1" i="1" dirty="0" smtClean="0">
              <a:solidFill>
                <a:srgbClr val="800000"/>
              </a:solidFill>
              <a:latin typeface="Calibri" pitchFamily="34" charset="0"/>
              <a:cs typeface="Calibri" pitchFamily="34" charset="0"/>
            </a:endParaRPr>
          </a:p>
          <a:p>
            <a:pPr algn="ctr">
              <a:buNone/>
            </a:pPr>
            <a:r>
              <a:rPr lang="en-US" sz="2400" b="1" i="1" dirty="0" smtClean="0">
                <a:solidFill>
                  <a:srgbClr val="800000"/>
                </a:solidFill>
                <a:latin typeface="Calibri" pitchFamily="34" charset="0"/>
                <a:cs typeface="Calibri" pitchFamily="34" charset="0"/>
              </a:rPr>
              <a:t>May 8</a:t>
            </a:r>
            <a:r>
              <a:rPr lang="en-US" sz="2400" b="1" i="1" baseline="30000" dirty="0" smtClean="0">
                <a:solidFill>
                  <a:srgbClr val="800000"/>
                </a:solidFill>
                <a:latin typeface="Calibri" pitchFamily="34" charset="0"/>
                <a:cs typeface="Calibri" pitchFamily="34" charset="0"/>
              </a:rPr>
              <a:t>nd</a:t>
            </a:r>
            <a:r>
              <a:rPr lang="en-US" sz="2400" b="1" i="1" dirty="0">
                <a:solidFill>
                  <a:srgbClr val="800000"/>
                </a:solidFill>
                <a:latin typeface="Calibri" pitchFamily="34" charset="0"/>
                <a:cs typeface="Calibri" pitchFamily="34" charset="0"/>
              </a:rPr>
              <a:t>, </a:t>
            </a:r>
            <a:r>
              <a:rPr lang="en-US" sz="2400" b="1" i="1" dirty="0" smtClean="0">
                <a:solidFill>
                  <a:srgbClr val="800000"/>
                </a:solidFill>
                <a:latin typeface="Calibri" pitchFamily="34" charset="0"/>
                <a:cs typeface="Calibri" pitchFamily="34" charset="0"/>
              </a:rPr>
              <a:t>2013</a:t>
            </a:r>
            <a:endParaRPr lang="en-US" sz="2400" b="1" i="1" dirty="0">
              <a:solidFill>
                <a:srgbClr val="800000"/>
              </a:solidFill>
              <a:latin typeface="Calibri" pitchFamily="34" charset="0"/>
              <a:cs typeface="Calibri" pitchFamily="34" charset="0"/>
            </a:endParaRPr>
          </a:p>
          <a:p>
            <a:pPr algn="ctr">
              <a:buFontTx/>
              <a:buNone/>
            </a:pPr>
            <a:endParaRPr lang="en-US" sz="2400" b="1" i="1" dirty="0">
              <a:solidFill>
                <a:srgbClr val="800000"/>
              </a:solidFill>
              <a:latin typeface="Calibri" pitchFamily="34" charset="0"/>
              <a:cs typeface="Calibri" pitchFamily="34" charset="0"/>
            </a:endParaRPr>
          </a:p>
        </p:txBody>
      </p:sp>
      <p:pic>
        <p:nvPicPr>
          <p:cNvPr id="3074" name="Picture 2" descr="C:\Users\npandian\Desktop\FuelBot Renderings\FuelBot Renderings\Deployed, Angled View From Back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0800" y="3443255"/>
            <a:ext cx="5825066" cy="3276600"/>
          </a:xfrm>
          <a:prstGeom prst="rect">
            <a:avLst/>
          </a:prstGeom>
          <a:noFill/>
          <a:ln w="25400">
            <a:solidFill>
              <a:srgbClr val="8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dirty="0" smtClean="0"/>
              <a:t>Why is GEO Satellite Life-Extension Important?</a:t>
            </a:r>
          </a:p>
          <a:p>
            <a:r>
              <a:rPr lang="en-US" dirty="0" smtClean="0"/>
              <a:t>Review of Previous Work</a:t>
            </a:r>
          </a:p>
          <a:p>
            <a:r>
              <a:rPr lang="en-US" dirty="0" err="1" smtClean="0"/>
              <a:t>FuelBot</a:t>
            </a:r>
            <a:r>
              <a:rPr lang="en-US" dirty="0" smtClean="0"/>
              <a:t> Configuration and Layout</a:t>
            </a:r>
          </a:p>
          <a:p>
            <a:r>
              <a:rPr lang="en-US" dirty="0" smtClean="0"/>
              <a:t>Trade Studies</a:t>
            </a:r>
          </a:p>
          <a:p>
            <a:r>
              <a:rPr lang="en-US" dirty="0" smtClean="0"/>
              <a:t>Results and Cost</a:t>
            </a:r>
          </a:p>
          <a:p>
            <a:r>
              <a:rPr lang="en-US" dirty="0" smtClean="0"/>
              <a:t>Conclusions and Recommendations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Outline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3321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279400" y="1295400"/>
            <a:ext cx="9601200" cy="5181600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b="1" dirty="0" smtClean="0"/>
              <a:t>Geostationary orbit (GEO) satellites provide</a:t>
            </a:r>
          </a:p>
          <a:p>
            <a:pPr lvl="1">
              <a:lnSpc>
                <a:spcPct val="80000"/>
              </a:lnSpc>
            </a:pPr>
            <a:r>
              <a:rPr lang="en-US" dirty="0" smtClean="0"/>
              <a:t>Cell phone communication</a:t>
            </a:r>
          </a:p>
          <a:p>
            <a:pPr lvl="1">
              <a:lnSpc>
                <a:spcPct val="80000"/>
              </a:lnSpc>
            </a:pPr>
            <a:r>
              <a:rPr lang="en-US" dirty="0" smtClean="0"/>
              <a:t>Television broadcast</a:t>
            </a:r>
          </a:p>
          <a:p>
            <a:pPr lvl="1">
              <a:lnSpc>
                <a:spcPct val="80000"/>
              </a:lnSpc>
            </a:pPr>
            <a:r>
              <a:rPr lang="en-US" dirty="0" smtClean="0"/>
              <a:t>Earth observation and surveillance</a:t>
            </a:r>
          </a:p>
          <a:p>
            <a:pPr marL="0" indent="0">
              <a:lnSpc>
                <a:spcPct val="80000"/>
              </a:lnSpc>
              <a:buNone/>
            </a:pPr>
            <a:endParaRPr lang="en-US" b="1" dirty="0"/>
          </a:p>
          <a:p>
            <a:pPr marL="0" indent="0">
              <a:lnSpc>
                <a:spcPct val="80000"/>
              </a:lnSpc>
              <a:buNone/>
            </a:pPr>
            <a:r>
              <a:rPr lang="en-US" b="1" dirty="0" smtClean="0"/>
              <a:t>Fuel capacity limits GEO satellite life</a:t>
            </a:r>
          </a:p>
          <a:p>
            <a:pPr lvl="1">
              <a:lnSpc>
                <a:spcPct val="80000"/>
              </a:lnSpc>
            </a:pPr>
            <a:r>
              <a:rPr lang="en-US" dirty="0" smtClean="0"/>
              <a:t>Station-keeping and graveyard orbit reposition require fuel</a:t>
            </a:r>
          </a:p>
          <a:p>
            <a:pPr lvl="1">
              <a:lnSpc>
                <a:spcPct val="80000"/>
              </a:lnSpc>
            </a:pPr>
            <a:endParaRPr lang="en-US" dirty="0"/>
          </a:p>
          <a:p>
            <a:pPr marL="0" indent="0">
              <a:lnSpc>
                <a:spcPct val="80000"/>
              </a:lnSpc>
              <a:buNone/>
            </a:pPr>
            <a:r>
              <a:rPr lang="en-US" b="1" dirty="0" smtClean="0"/>
              <a:t>Satellite life extension could</a:t>
            </a:r>
          </a:p>
          <a:p>
            <a:pPr lvl="1">
              <a:lnSpc>
                <a:spcPct val="80000"/>
              </a:lnSpc>
            </a:pPr>
            <a:r>
              <a:rPr lang="en-US" dirty="0" smtClean="0"/>
              <a:t>Increase operational life and return on investment</a:t>
            </a:r>
          </a:p>
          <a:p>
            <a:pPr lvl="1">
              <a:lnSpc>
                <a:spcPct val="80000"/>
              </a:lnSpc>
            </a:pPr>
            <a:r>
              <a:rPr lang="en-US" dirty="0" smtClean="0"/>
              <a:t>Reduce GEO satellite buildup and orbital debris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127000" y="-2"/>
            <a:ext cx="9906000" cy="995362"/>
          </a:xfrm>
        </p:spPr>
        <p:txBody>
          <a:bodyPr/>
          <a:lstStyle/>
          <a:p>
            <a:r>
              <a:rPr lang="en-US" sz="3800" dirty="0" smtClean="0"/>
              <a:t>Why is GEO Satellite Life-Extension Important?</a:t>
            </a:r>
            <a:endParaRPr lang="en-US" sz="38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25C865-99B9-4335-8FDD-FD387DF08D14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9858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/>
          <p:cNvSpPr>
            <a:spLocks noGrp="1"/>
          </p:cNvSpPr>
          <p:nvPr>
            <p:ph sz="quarter" idx="10"/>
          </p:nvPr>
        </p:nvSpPr>
        <p:spPr>
          <a:xfrm>
            <a:off x="508000" y="1600200"/>
            <a:ext cx="5638800" cy="4671058"/>
          </a:xfrm>
        </p:spPr>
        <p:txBody>
          <a:bodyPr/>
          <a:lstStyle/>
          <a:p>
            <a:r>
              <a:rPr lang="en-US" sz="2800" dirty="0" smtClean="0"/>
              <a:t>NASA’s Robotic Refueling Mission</a:t>
            </a:r>
          </a:p>
          <a:p>
            <a:r>
              <a:rPr lang="en-US" sz="2800" dirty="0" smtClean="0"/>
              <a:t>MDA’s Space Infrastructure Servicing</a:t>
            </a:r>
          </a:p>
          <a:p>
            <a:r>
              <a:rPr lang="en-US" sz="2800" dirty="0" err="1" smtClean="0"/>
              <a:t>Vivisat’s</a:t>
            </a:r>
            <a:r>
              <a:rPr lang="en-US" sz="2800" dirty="0" smtClean="0"/>
              <a:t> Mission Extension Vehicle</a:t>
            </a:r>
          </a:p>
          <a:p>
            <a:endParaRPr lang="en-US" sz="2800" dirty="0"/>
          </a:p>
          <a:p>
            <a:pPr marL="0" indent="0">
              <a:buNone/>
            </a:pPr>
            <a:r>
              <a:rPr lang="en-US" sz="3000" dirty="0" smtClean="0"/>
              <a:t>There are currently no satellite operators signed up for a servicing mission, largely due to finances.</a:t>
            </a:r>
            <a:endParaRPr lang="en-US" sz="3000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127000" y="-2"/>
            <a:ext cx="9906000" cy="995362"/>
          </a:xfrm>
        </p:spPr>
        <p:txBody>
          <a:bodyPr/>
          <a:lstStyle/>
          <a:p>
            <a:r>
              <a:rPr lang="en-US" dirty="0" smtClean="0"/>
              <a:t>Previous Work in Satellite Life-Extension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25C865-99B9-4335-8FDD-FD387DF08D14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2050" name="Picture 2" descr="https://lh4.googleusercontent.com/POh1DliVmGrmMr8LQj2i5LL4EZiiiXuXiwxpCVEL15iyG2wH2l5kyD-DiDmVB9SebM0--nj_Ag-k1XbW3TckYzK6UxYcSDPsrcZTuvvIBvIt-Gb5qb3foCAU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8610" y="1391481"/>
            <a:ext cx="3268796" cy="21900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6754609" y="3563181"/>
            <a:ext cx="226147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800000"/>
                </a:solidFill>
              </a:rPr>
              <a:t>Image Credit: NASA</a:t>
            </a:r>
            <a:endParaRPr lang="en-US" sz="1400" dirty="0">
              <a:solidFill>
                <a:srgbClr val="800000"/>
              </a:solidFill>
            </a:endParaRPr>
          </a:p>
        </p:txBody>
      </p:sp>
      <p:pic>
        <p:nvPicPr>
          <p:cNvPr id="2052" name="Picture 4" descr="https://lh3.googleusercontent.com/7w57k4yClpPFqhybm1pfVJ4qOgM6A3e0Xs6JQ7fNbLYmj0GISW-8eCzaIcodxJq8apNBw3me3Ca50D05xRbgk80Lh__O-OL0ufIYZXwr-3sGHQAlSzW9efRQ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9851" y="4114800"/>
            <a:ext cx="3195437" cy="213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5705869" y="6248400"/>
            <a:ext cx="4343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 smtClean="0">
                <a:solidFill>
                  <a:srgbClr val="800000"/>
                </a:solidFill>
              </a:rPr>
              <a:t>Image Credit: Macdonald, </a:t>
            </a:r>
            <a:r>
              <a:rPr lang="en-US" sz="1400" dirty="0" err="1" smtClean="0">
                <a:solidFill>
                  <a:srgbClr val="800000"/>
                </a:solidFill>
              </a:rPr>
              <a:t>Dettwiler</a:t>
            </a:r>
            <a:r>
              <a:rPr lang="en-US" sz="1400" dirty="0" smtClean="0">
                <a:solidFill>
                  <a:srgbClr val="800000"/>
                </a:solidFill>
              </a:rPr>
              <a:t>, and Associates</a:t>
            </a:r>
            <a:endParaRPr lang="en-US" sz="1400" dirty="0">
              <a:solidFill>
                <a:srgbClr val="8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40457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0"/>
          </p:nvPr>
        </p:nvSpPr>
        <p:spPr>
          <a:xfrm>
            <a:off x="355600" y="1066800"/>
            <a:ext cx="9525000" cy="5638800"/>
          </a:xfrm>
        </p:spPr>
        <p:txBody>
          <a:bodyPr/>
          <a:lstStyle/>
          <a:p>
            <a:pPr marL="0" lvl="0" indent="0" algn="ctr">
              <a:buNone/>
            </a:pPr>
            <a:r>
              <a:rPr lang="en-US" sz="2600" b="1" i="1" dirty="0" smtClean="0">
                <a:ea typeface="Calibri"/>
                <a:cs typeface="Calibri"/>
                <a:sym typeface="Calibri"/>
              </a:rPr>
              <a:t/>
            </a:r>
            <a:br>
              <a:rPr lang="en-US" sz="2600" b="1" i="1" dirty="0" smtClean="0">
                <a:ea typeface="Calibri"/>
                <a:cs typeface="Calibri"/>
                <a:sym typeface="Calibri"/>
              </a:rPr>
            </a:br>
            <a:r>
              <a:rPr lang="en" sz="2600" b="1" i="1" dirty="0" smtClean="0">
                <a:ea typeface="Calibri"/>
                <a:cs typeface="Calibri"/>
                <a:sym typeface="Calibri"/>
              </a:rPr>
              <a:t>Design </a:t>
            </a:r>
            <a:r>
              <a:rPr lang="en" sz="2600" b="1" i="1" dirty="0">
                <a:ea typeface="Calibri"/>
                <a:cs typeface="Calibri"/>
                <a:sym typeface="Calibri"/>
              </a:rPr>
              <a:t>a satellite to extend the life of existing and future geostationary satellites in a cost-effective </a:t>
            </a:r>
            <a:r>
              <a:rPr lang="en" sz="2600" b="1" i="1" dirty="0" smtClean="0">
                <a:ea typeface="Calibri"/>
                <a:cs typeface="Calibri"/>
                <a:sym typeface="Calibri"/>
              </a:rPr>
              <a:t>method</a:t>
            </a:r>
            <a:endParaRPr lang="en-US" sz="2600" b="1" i="1" dirty="0" smtClean="0">
              <a:ea typeface="Calibri"/>
              <a:cs typeface="Calibri"/>
              <a:sym typeface="Calibri"/>
            </a:endParaRPr>
          </a:p>
          <a:p>
            <a:pPr marL="0" lvl="0" indent="0" algn="ctr">
              <a:buNone/>
            </a:pPr>
            <a:endParaRPr lang="en-US" sz="2400" dirty="0" smtClean="0"/>
          </a:p>
          <a:p>
            <a:pPr marL="0" indent="0">
              <a:buNone/>
            </a:pPr>
            <a:r>
              <a:rPr lang="en-US" dirty="0" smtClean="0"/>
              <a:t>Method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sz="2400" dirty="0" smtClean="0"/>
              <a:t>Estimate the required propellant masses using orbital mechanics and spacecraft propulsion equations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sz="2400" dirty="0" smtClean="0"/>
              <a:t>Size satellite subsystems based on resulting payload mass</a:t>
            </a:r>
          </a:p>
          <a:p>
            <a:pPr marL="914400" lvl="1" indent="-457200">
              <a:buFont typeface="+mj-lt"/>
              <a:buAutoNum type="arabicParenR"/>
            </a:pPr>
            <a:r>
              <a:rPr lang="en-US" sz="2400" dirty="0" smtClean="0"/>
              <a:t>Determine expected cost for life extension satellite</a:t>
            </a:r>
          </a:p>
          <a:p>
            <a:pPr marL="57150" indent="0">
              <a:buNone/>
            </a:pPr>
            <a:endParaRPr lang="en-US" sz="2400" dirty="0"/>
          </a:p>
          <a:p>
            <a:pPr marL="57150" indent="0" algn="ctr">
              <a:buNone/>
            </a:pPr>
            <a:r>
              <a:rPr lang="en-US" sz="2600" b="1" i="1" dirty="0" smtClean="0"/>
              <a:t>Is it cost-effective to launch a life extension vehicle versus launching a new GEO satellite?</a:t>
            </a:r>
          </a:p>
          <a:p>
            <a:pPr marL="57150" indent="0">
              <a:buNone/>
            </a:pPr>
            <a:endParaRPr lang="en-US" dirty="0" smtClean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Design Requirements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25C865-99B9-4335-8FDD-FD387DF08D14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27843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Our Solution – The </a:t>
            </a:r>
            <a:r>
              <a:rPr lang="en-US" dirty="0" err="1" smtClean="0"/>
              <a:t>FuelBot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25C865-99B9-4335-8FDD-FD387DF08D14}" type="slidenum">
              <a:rPr lang="en-US" smtClean="0"/>
              <a:pPr/>
              <a:t>6</a:t>
            </a:fld>
            <a:endParaRPr lang="en-US" dirty="0"/>
          </a:p>
        </p:txBody>
      </p:sp>
      <p:pic>
        <p:nvPicPr>
          <p:cNvPr id="2051" name="Picture 3" descr="C:\Users\npandian\Desktop\FuelBot Renderings\FuelBot Renderings\Deployed, Angled View From Back, Light Background.JPG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00" r="5648"/>
          <a:stretch/>
        </p:blipFill>
        <p:spPr bwMode="auto">
          <a:xfrm>
            <a:off x="5232400" y="2452289"/>
            <a:ext cx="4456875" cy="2750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231917" y="1308225"/>
            <a:ext cx="4483175" cy="5095875"/>
            <a:chOff x="0" y="0"/>
            <a:chExt cx="5381625" cy="5324475"/>
          </a:xfrm>
        </p:grpSpPr>
        <p:cxnSp>
          <p:nvCxnSpPr>
            <p:cNvPr id="9" name="Straight Arrow Connector 8"/>
            <p:cNvCxnSpPr/>
            <p:nvPr/>
          </p:nvCxnSpPr>
          <p:spPr>
            <a:xfrm>
              <a:off x="1057275" y="4953000"/>
              <a:ext cx="1704975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Arrow Connector 9"/>
            <p:cNvCxnSpPr/>
            <p:nvPr/>
          </p:nvCxnSpPr>
          <p:spPr>
            <a:xfrm>
              <a:off x="3257550" y="4953000"/>
              <a:ext cx="1905000" cy="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Arrow Connector 10"/>
            <p:cNvCxnSpPr/>
            <p:nvPr/>
          </p:nvCxnSpPr>
          <p:spPr>
            <a:xfrm>
              <a:off x="581025" y="2571750"/>
              <a:ext cx="0" cy="1962150"/>
            </a:xfrm>
            <a:prstGeom prst="straightConnector1">
              <a:avLst/>
            </a:prstGeom>
            <a:ln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 Box 23"/>
            <p:cNvSpPr txBox="1"/>
            <p:nvPr/>
          </p:nvSpPr>
          <p:spPr>
            <a:xfrm>
              <a:off x="0" y="3486150"/>
              <a:ext cx="657225" cy="31432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200">
                  <a:effectLst/>
                  <a:latin typeface="Times New Roman"/>
                  <a:ea typeface="Calibri"/>
                  <a:cs typeface="Times New Roman"/>
                </a:rPr>
                <a:t>1.6 m</a:t>
              </a:r>
            </a:p>
          </p:txBody>
        </p:sp>
        <p:sp>
          <p:nvSpPr>
            <p:cNvPr id="13" name="Text Box 24"/>
            <p:cNvSpPr txBox="1"/>
            <p:nvPr/>
          </p:nvSpPr>
          <p:spPr>
            <a:xfrm>
              <a:off x="1685925" y="5010150"/>
              <a:ext cx="657225" cy="31432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200">
                  <a:effectLst/>
                  <a:latin typeface="Times New Roman"/>
                  <a:ea typeface="Calibri"/>
                  <a:cs typeface="Times New Roman"/>
                </a:rPr>
                <a:t>1.4 m</a:t>
              </a:r>
            </a:p>
          </p:txBody>
        </p:sp>
        <p:sp>
          <p:nvSpPr>
            <p:cNvPr id="14" name="Text Box 25"/>
            <p:cNvSpPr txBox="1"/>
            <p:nvPr/>
          </p:nvSpPr>
          <p:spPr>
            <a:xfrm>
              <a:off x="3943350" y="5010150"/>
              <a:ext cx="657225" cy="314325"/>
            </a:xfrm>
            <a:prstGeom prst="rect">
              <a:avLst/>
            </a:prstGeom>
            <a:noFill/>
            <a:ln w="6350">
              <a:noFill/>
            </a:ln>
            <a:effectLst/>
          </p:spPr>
          <p:style>
            <a:lnRef idx="0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algn="just">
                <a:lnSpc>
                  <a:spcPct val="115000"/>
                </a:lnSpc>
                <a:spcBef>
                  <a:spcPts val="0"/>
                </a:spcBef>
                <a:spcAft>
                  <a:spcPts val="1000"/>
                </a:spcAft>
              </a:pPr>
              <a:r>
                <a:rPr lang="en-US" sz="1200">
                  <a:effectLst/>
                  <a:latin typeface="Times New Roman"/>
                  <a:ea typeface="Calibri"/>
                  <a:cs typeface="Times New Roman"/>
                </a:rPr>
                <a:t>1.5 m</a:t>
              </a:r>
            </a:p>
          </p:txBody>
        </p:sp>
        <p:grpSp>
          <p:nvGrpSpPr>
            <p:cNvPr id="15" name="Group 14"/>
            <p:cNvGrpSpPr/>
            <p:nvPr/>
          </p:nvGrpSpPr>
          <p:grpSpPr>
            <a:xfrm>
              <a:off x="828675" y="0"/>
              <a:ext cx="4552950" cy="4810125"/>
              <a:chOff x="0" y="0"/>
              <a:chExt cx="4552950" cy="4810125"/>
            </a:xfrm>
          </p:grpSpPr>
          <p:grpSp>
            <p:nvGrpSpPr>
              <p:cNvPr id="16" name="Group 15"/>
              <p:cNvGrpSpPr/>
              <p:nvPr/>
            </p:nvGrpSpPr>
            <p:grpSpPr>
              <a:xfrm>
                <a:off x="0" y="2390775"/>
                <a:ext cx="4552950" cy="2419350"/>
                <a:chOff x="0" y="0"/>
                <a:chExt cx="4552950" cy="2419350"/>
              </a:xfrm>
            </p:grpSpPr>
            <p:pic>
              <p:nvPicPr>
                <p:cNvPr id="18" name="Picture 17" descr="C:\Users\npandian\Desktop\FuelBot Renderings\FuelBot Renderings\ST84A0~1.JPG"/>
                <p:cNvPicPr>
                  <a:picLocks noChangeAspect="1"/>
                </p:cNvPicPr>
                <p:nvPr/>
              </p:nvPicPr>
              <p:blipFill rotWithShape="1">
                <a:blip r:embed="rId3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435" t="4843" r="28732" b="4558"/>
                <a:stretch/>
              </p:blipFill>
              <p:spPr bwMode="auto">
                <a:xfrm>
                  <a:off x="0" y="0"/>
                  <a:ext cx="2266950" cy="24193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53640926-AAD7-44D8-BBD7-CCE9431645EC}">
                    <a14:shadowObscured xmlns:a14="http://schemas.microsoft.com/office/drawing/2010/main"/>
                  </a:ext>
                </a:extLst>
              </p:spPr>
            </p:pic>
            <p:pic>
              <p:nvPicPr>
                <p:cNvPr id="19" name="Picture 18" descr="C:\Users\npandian\Desktop\FuelBot Renderings\FuelBot Renderings\Stowed, Right View.JPG"/>
                <p:cNvPicPr>
                  <a:picLocks noChangeAspect="1"/>
                </p:cNvPicPr>
                <p:nvPr/>
              </p:nvPicPr>
              <p:blipFill rotWithShape="1">
                <a:blip r:embed="rId4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23435" t="4402" r="26966" b="2421"/>
                <a:stretch/>
              </p:blipFill>
              <p:spPr bwMode="auto">
                <a:xfrm>
                  <a:off x="2266950" y="0"/>
                  <a:ext cx="2286000" cy="2419350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53640926-AAD7-44D8-BBD7-CCE9431645EC}">
                    <a14:shadowObscured xmlns:a14="http://schemas.microsoft.com/office/drawing/2010/main"/>
                  </a:ext>
                </a:extLst>
              </p:spPr>
            </p:pic>
          </p:grpSp>
          <p:pic>
            <p:nvPicPr>
              <p:cNvPr id="17" name="Picture 16" descr="C:\Users\npandian\Desktop\FuelBot Renderings\FuelBot Renderings\Stowed, Bottom View.JPG"/>
              <p:cNvPicPr>
                <a:picLocks noChangeAspect="1"/>
              </p:cNvPicPr>
              <p:nvPr/>
            </p:nvPicPr>
            <p:blipFill rotWithShape="1"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9955" r="16619"/>
              <a:stretch/>
            </p:blipFill>
            <p:spPr bwMode="auto">
              <a:xfrm>
                <a:off x="0" y="0"/>
                <a:ext cx="2266950" cy="2390775"/>
              </a:xfrm>
              <a:prstGeom prst="rect">
                <a:avLst/>
              </a:prstGeom>
              <a:noFill/>
              <a:ln>
                <a:noFill/>
              </a:ln>
              <a:extLst>
                <a:ext uri="{53640926-AAD7-44D8-BBD7-CCE9431645EC}">
                  <a14:shadowObscured xmlns:a14="http://schemas.microsoft.com/office/drawing/2010/main"/>
                </a:ext>
              </a:extLst>
            </p:spPr>
          </p:pic>
        </p:grpSp>
      </p:grpSp>
    </p:spTree>
    <p:extLst>
      <p:ext uri="{BB962C8B-B14F-4D97-AF65-F5344CB8AC3E}">
        <p14:creationId xmlns:p14="http://schemas.microsoft.com/office/powerpoint/2010/main" val="17960247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FuelBot</a:t>
            </a:r>
            <a:r>
              <a:rPr lang="en-US" dirty="0" smtClean="0"/>
              <a:t> Layout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25C865-99B9-4335-8FDD-FD387DF08D14}" type="slidenum">
              <a:rPr lang="en-US" smtClean="0"/>
              <a:pPr/>
              <a:t>7</a:t>
            </a:fld>
            <a:endParaRPr lang="en-US" dirty="0"/>
          </a:p>
        </p:txBody>
      </p:sp>
      <p:grpSp>
        <p:nvGrpSpPr>
          <p:cNvPr id="5" name="Group 4"/>
          <p:cNvGrpSpPr/>
          <p:nvPr/>
        </p:nvGrpSpPr>
        <p:grpSpPr>
          <a:xfrm>
            <a:off x="1731643" y="1513026"/>
            <a:ext cx="7205663" cy="4652645"/>
            <a:chOff x="0" y="0"/>
            <a:chExt cx="6906374" cy="4373936"/>
          </a:xfrm>
        </p:grpSpPr>
        <p:pic>
          <p:nvPicPr>
            <p:cNvPr id="6" name="Picture 5" descr="C:\Users\npandian\Desktop\FuelBot Renderings\FuelBot Renderings\Deployed, Right View, Panels Removed.JPG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4616"/>
            <a:stretch/>
          </p:blipFill>
          <p:spPr bwMode="auto">
            <a:xfrm>
              <a:off x="1162050" y="333375"/>
              <a:ext cx="4362450" cy="3752850"/>
            </a:xfrm>
            <a:prstGeom prst="rect">
              <a:avLst/>
            </a:prstGeom>
            <a:noFill/>
            <a:ln>
              <a:noFill/>
            </a:ln>
            <a:extLst>
              <a:ext uri="{53640926-AAD7-44D8-BBD7-CCE9431645EC}">
                <a14:shadowObscured xmlns:a14="http://schemas.microsoft.com/office/drawing/2010/main"/>
              </a:ext>
            </a:extLst>
          </p:spPr>
        </p:pic>
        <p:grpSp>
          <p:nvGrpSpPr>
            <p:cNvPr id="7" name="Group 6"/>
            <p:cNvGrpSpPr/>
            <p:nvPr/>
          </p:nvGrpSpPr>
          <p:grpSpPr>
            <a:xfrm>
              <a:off x="0" y="0"/>
              <a:ext cx="6906374" cy="4373936"/>
              <a:chOff x="0" y="0"/>
              <a:chExt cx="6906374" cy="4373936"/>
            </a:xfrm>
          </p:grpSpPr>
          <p:cxnSp>
            <p:nvCxnSpPr>
              <p:cNvPr id="8" name="Straight Arrow Connector 7"/>
              <p:cNvCxnSpPr/>
              <p:nvPr/>
            </p:nvCxnSpPr>
            <p:spPr>
              <a:xfrm>
                <a:off x="657225" y="1866900"/>
                <a:ext cx="1495425" cy="466724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 Box 30"/>
              <p:cNvSpPr txBox="1"/>
              <p:nvPr/>
            </p:nvSpPr>
            <p:spPr>
              <a:xfrm>
                <a:off x="0" y="2638425"/>
                <a:ext cx="819150" cy="228600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just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000" b="1">
                    <a:effectLst/>
                    <a:latin typeface="Times New Roman"/>
                    <a:ea typeface="Calibri"/>
                    <a:cs typeface="Times New Roman"/>
                  </a:rPr>
                  <a:t>Fuel Tank</a:t>
                </a:r>
                <a:endParaRPr lang="en-US" sz="1200">
                  <a:effectLst/>
                  <a:latin typeface="Times New Roman"/>
                  <a:ea typeface="Calibri"/>
                  <a:cs typeface="Times New Roman"/>
                </a:endParaRPr>
              </a:p>
            </p:txBody>
          </p:sp>
          <p:sp>
            <p:nvSpPr>
              <p:cNvPr id="10" name="Text Box 31"/>
              <p:cNvSpPr txBox="1"/>
              <p:nvPr/>
            </p:nvSpPr>
            <p:spPr>
              <a:xfrm>
                <a:off x="0" y="202029"/>
                <a:ext cx="819150" cy="455094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000" b="1" dirty="0">
                    <a:effectLst/>
                    <a:latin typeface="Times New Roman"/>
                    <a:ea typeface="Calibri"/>
                    <a:cs typeface="Times New Roman"/>
                  </a:rPr>
                  <a:t>XIPS-25 Thruster</a:t>
                </a:r>
                <a:endParaRPr lang="en-US" sz="1200" dirty="0">
                  <a:effectLst/>
                  <a:latin typeface="Times New Roman"/>
                  <a:ea typeface="Calibri"/>
                  <a:cs typeface="Times New Roman"/>
                </a:endParaRPr>
              </a:p>
            </p:txBody>
          </p:sp>
          <p:cxnSp>
            <p:nvCxnSpPr>
              <p:cNvPr id="11" name="Straight Arrow Connector 10"/>
              <p:cNvCxnSpPr/>
              <p:nvPr/>
            </p:nvCxnSpPr>
            <p:spPr>
              <a:xfrm>
                <a:off x="666750" y="714375"/>
                <a:ext cx="762000" cy="266065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Straight Arrow Connector 11"/>
              <p:cNvCxnSpPr/>
              <p:nvPr/>
            </p:nvCxnSpPr>
            <p:spPr>
              <a:xfrm flipH="1" flipV="1">
                <a:off x="3838575" y="3419475"/>
                <a:ext cx="1943100" cy="44831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3" name="Text Box 34"/>
              <p:cNvSpPr txBox="1"/>
              <p:nvPr/>
            </p:nvSpPr>
            <p:spPr>
              <a:xfrm>
                <a:off x="5714501" y="3714371"/>
                <a:ext cx="1191873" cy="659565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000" b="1">
                    <a:effectLst/>
                    <a:latin typeface="Times New Roman"/>
                    <a:ea typeface="Calibri"/>
                    <a:cs typeface="Times New Roman"/>
                  </a:rPr>
                  <a:t>Attachment Mechanism Frame</a:t>
                </a:r>
                <a:endParaRPr lang="en-US" sz="1200">
                  <a:effectLst/>
                  <a:latin typeface="Times New Roman"/>
                  <a:ea typeface="Calibri"/>
                  <a:cs typeface="Times New Roman"/>
                </a:endParaRPr>
              </a:p>
            </p:txBody>
          </p:sp>
          <p:sp>
            <p:nvSpPr>
              <p:cNvPr id="14" name="Text Box 35"/>
              <p:cNvSpPr txBox="1"/>
              <p:nvPr/>
            </p:nvSpPr>
            <p:spPr>
              <a:xfrm>
                <a:off x="5781675" y="2447925"/>
                <a:ext cx="1047750" cy="561975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000" b="1">
                    <a:effectLst/>
                    <a:latin typeface="Times New Roman"/>
                    <a:ea typeface="Calibri"/>
                    <a:cs typeface="Times New Roman"/>
                  </a:rPr>
                  <a:t>Solar Panels</a:t>
                </a:r>
                <a:endParaRPr lang="en-US" sz="1200">
                  <a:effectLst/>
                  <a:latin typeface="Times New Roman"/>
                  <a:ea typeface="Calibri"/>
                  <a:cs typeface="Times New Roman"/>
                </a:endParaRPr>
              </a:p>
            </p:txBody>
          </p:sp>
          <p:cxnSp>
            <p:nvCxnSpPr>
              <p:cNvPr id="15" name="Straight Arrow Connector 14"/>
              <p:cNvCxnSpPr/>
              <p:nvPr/>
            </p:nvCxnSpPr>
            <p:spPr>
              <a:xfrm flipH="1" flipV="1">
                <a:off x="4362450" y="2257425"/>
                <a:ext cx="1476375" cy="30480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Arrow Connector 15"/>
              <p:cNvCxnSpPr/>
              <p:nvPr/>
            </p:nvCxnSpPr>
            <p:spPr>
              <a:xfrm flipH="1" flipV="1">
                <a:off x="3924300" y="1438275"/>
                <a:ext cx="1856740" cy="28575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" name="Text Box 38"/>
              <p:cNvSpPr txBox="1"/>
              <p:nvPr/>
            </p:nvSpPr>
            <p:spPr>
              <a:xfrm>
                <a:off x="5715000" y="1581150"/>
                <a:ext cx="1047750" cy="561975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000" b="1">
                    <a:effectLst/>
                    <a:latin typeface="Times New Roman"/>
                    <a:ea typeface="Calibri"/>
                    <a:cs typeface="Times New Roman"/>
                  </a:rPr>
                  <a:t>Antenna</a:t>
                </a:r>
                <a:endParaRPr lang="en-US" sz="1200">
                  <a:effectLst/>
                  <a:latin typeface="Times New Roman"/>
                  <a:ea typeface="Calibri"/>
                  <a:cs typeface="Times New Roman"/>
                </a:endParaRPr>
              </a:p>
            </p:txBody>
          </p:sp>
          <p:cxnSp>
            <p:nvCxnSpPr>
              <p:cNvPr id="18" name="Straight Arrow Connector 17"/>
              <p:cNvCxnSpPr/>
              <p:nvPr/>
            </p:nvCxnSpPr>
            <p:spPr>
              <a:xfrm flipV="1">
                <a:off x="990600" y="2505075"/>
                <a:ext cx="1600200" cy="66675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9" name="Text Box 40"/>
              <p:cNvSpPr txBox="1"/>
              <p:nvPr/>
            </p:nvSpPr>
            <p:spPr>
              <a:xfrm>
                <a:off x="152400" y="3057056"/>
                <a:ext cx="838201" cy="514350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000" b="1">
                    <a:effectLst/>
                    <a:latin typeface="Times New Roman"/>
                    <a:ea typeface="Calibri"/>
                    <a:cs typeface="Times New Roman"/>
                  </a:rPr>
                  <a:t>Li-ion Batteries</a:t>
                </a:r>
                <a:endParaRPr lang="en-US" sz="1200">
                  <a:effectLst/>
                  <a:latin typeface="Times New Roman"/>
                  <a:ea typeface="Calibri"/>
                  <a:cs typeface="Times New Roman"/>
                </a:endParaRPr>
              </a:p>
            </p:txBody>
          </p:sp>
          <p:sp>
            <p:nvSpPr>
              <p:cNvPr id="20" name="Text Box 41"/>
              <p:cNvSpPr txBox="1"/>
              <p:nvPr/>
            </p:nvSpPr>
            <p:spPr>
              <a:xfrm>
                <a:off x="51929" y="1571384"/>
                <a:ext cx="767223" cy="428625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000" b="1">
                    <a:effectLst/>
                    <a:latin typeface="Times New Roman"/>
                    <a:ea typeface="Calibri"/>
                    <a:cs typeface="Times New Roman"/>
                  </a:rPr>
                  <a:t>TT&amp;C Box</a:t>
                </a:r>
                <a:endParaRPr lang="en-US" sz="1200">
                  <a:effectLst/>
                  <a:latin typeface="Times New Roman"/>
                  <a:ea typeface="Calibri"/>
                  <a:cs typeface="Times New Roman"/>
                </a:endParaRPr>
              </a:p>
            </p:txBody>
          </p:sp>
          <p:cxnSp>
            <p:nvCxnSpPr>
              <p:cNvPr id="21" name="Straight Arrow Connector 20"/>
              <p:cNvCxnSpPr/>
              <p:nvPr/>
            </p:nvCxnSpPr>
            <p:spPr>
              <a:xfrm flipV="1">
                <a:off x="819150" y="2371725"/>
                <a:ext cx="781050" cy="27559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Text Box 43"/>
              <p:cNvSpPr txBox="1"/>
              <p:nvPr/>
            </p:nvSpPr>
            <p:spPr>
              <a:xfrm>
                <a:off x="3924300" y="0"/>
                <a:ext cx="1619250" cy="409512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000" b="1">
                    <a:effectLst/>
                    <a:latin typeface="Times New Roman"/>
                    <a:ea typeface="Calibri"/>
                    <a:cs typeface="Times New Roman"/>
                  </a:rPr>
                  <a:t>On-Board Processing</a:t>
                </a:r>
                <a:endParaRPr lang="en-US" sz="1200">
                  <a:effectLst/>
                  <a:latin typeface="Times New Roman"/>
                  <a:ea typeface="Calibri"/>
                  <a:cs typeface="Times New Roman"/>
                </a:endParaRPr>
              </a:p>
            </p:txBody>
          </p:sp>
          <p:cxnSp>
            <p:nvCxnSpPr>
              <p:cNvPr id="23" name="Straight Arrow Connector 22"/>
              <p:cNvCxnSpPr/>
              <p:nvPr/>
            </p:nvCxnSpPr>
            <p:spPr>
              <a:xfrm flipH="1">
                <a:off x="2581275" y="276225"/>
                <a:ext cx="1504950" cy="169545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Arrow Connector 23"/>
              <p:cNvCxnSpPr/>
              <p:nvPr/>
            </p:nvCxnSpPr>
            <p:spPr>
              <a:xfrm>
                <a:off x="2200275" y="276225"/>
                <a:ext cx="219075" cy="1304925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5" name="Text Box 46"/>
              <p:cNvSpPr txBox="1"/>
              <p:nvPr/>
            </p:nvSpPr>
            <p:spPr>
              <a:xfrm>
                <a:off x="1514474" y="0"/>
                <a:ext cx="1619250" cy="333375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000" b="1">
                    <a:effectLst/>
                    <a:latin typeface="Times New Roman"/>
                    <a:ea typeface="Calibri"/>
                    <a:cs typeface="Times New Roman"/>
                  </a:rPr>
                  <a:t>Power Processing Unit</a:t>
                </a:r>
                <a:endParaRPr lang="en-US" sz="1200">
                  <a:effectLst/>
                  <a:latin typeface="Times New Roman"/>
                  <a:ea typeface="Calibri"/>
                  <a:cs typeface="Times New Roman"/>
                </a:endParaRPr>
              </a:p>
            </p:txBody>
          </p:sp>
          <p:cxnSp>
            <p:nvCxnSpPr>
              <p:cNvPr id="26" name="Straight Arrow Connector 25"/>
              <p:cNvCxnSpPr/>
              <p:nvPr/>
            </p:nvCxnSpPr>
            <p:spPr>
              <a:xfrm>
                <a:off x="1076325" y="3867150"/>
                <a:ext cx="2057400" cy="0"/>
              </a:xfrm>
              <a:prstGeom prst="straightConnector1">
                <a:avLst/>
              </a:prstGeom>
              <a:ln w="1905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7" name="Text Box 48"/>
              <p:cNvSpPr txBox="1"/>
              <p:nvPr/>
            </p:nvSpPr>
            <p:spPr>
              <a:xfrm>
                <a:off x="152400" y="3714750"/>
                <a:ext cx="923925" cy="438150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style>
              <a:lnRef idx="0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dk1"/>
              </a:fontRef>
            </p:style>
            <p:txBody>
              <a:bodyPr rot="0" spcFirstLastPara="0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algn="ctr">
                  <a:lnSpc>
                    <a:spcPct val="115000"/>
                  </a:lnSpc>
                  <a:spcBef>
                    <a:spcPts val="0"/>
                  </a:spcBef>
                  <a:spcAft>
                    <a:spcPts val="1000"/>
                  </a:spcAft>
                </a:pPr>
                <a:r>
                  <a:rPr lang="en-US" sz="1000" b="1">
                    <a:effectLst/>
                    <a:latin typeface="Times New Roman"/>
                    <a:ea typeface="Calibri"/>
                    <a:cs typeface="Times New Roman"/>
                  </a:rPr>
                  <a:t>Attachment Pads</a:t>
                </a:r>
                <a:endParaRPr lang="en-US" sz="1200">
                  <a:effectLst/>
                  <a:latin typeface="Times New Roman"/>
                  <a:ea typeface="Calibri"/>
                  <a:cs typeface="Times New Roman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3083462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Life Extension Method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25C865-99B9-4335-8FDD-FD387DF08D14}" type="slidenum">
              <a:rPr lang="en-US" smtClean="0"/>
              <a:pPr/>
              <a:t>8</a:t>
            </a:fld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479713"/>
              </p:ext>
            </p:extLst>
          </p:nvPr>
        </p:nvGraphicFramePr>
        <p:xfrm>
          <a:off x="507999" y="1552222"/>
          <a:ext cx="9220200" cy="461997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073400"/>
                <a:gridCol w="3073400"/>
                <a:gridCol w="3073400"/>
              </a:tblGrid>
              <a:tr h="949897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Method</a:t>
                      </a:r>
                      <a:endParaRPr lang="en-US" sz="2800" b="1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Pros</a:t>
                      </a:r>
                      <a:endParaRPr lang="en-US" sz="2800" b="1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 smtClean="0"/>
                        <a:t>Cons</a:t>
                      </a:r>
                      <a:endParaRPr lang="en-US" sz="2800" b="1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</a:tr>
              <a:tr h="103768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Refueling</a:t>
                      </a:r>
                      <a:endParaRPr lang="en-US" sz="20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Potentially large number of refuels</a:t>
                      </a:r>
                      <a:endParaRPr lang="en-US" sz="2000" dirty="0">
                        <a:latin typeface="Times"/>
                        <a:cs typeface="Time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No method for Xenon gas refueling exists</a:t>
                      </a:r>
                      <a:endParaRPr lang="en-US" sz="2000" dirty="0">
                        <a:latin typeface="Times"/>
                        <a:cs typeface="Times"/>
                      </a:endParaRPr>
                    </a:p>
                  </a:txBody>
                  <a:tcPr/>
                </a:tc>
              </a:tr>
              <a:tr h="1567172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Satellite Piggyback</a:t>
                      </a:r>
                      <a:endParaRPr lang="en-US" sz="2000" dirty="0">
                        <a:latin typeface="Times"/>
                        <a:cs typeface="Times"/>
                      </a:endParaRPr>
                    </a:p>
                  </a:txBody>
                  <a:tcPr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000" dirty="0" smtClean="0"/>
                        <a:t>Precursor to any future Xenon refuel</a:t>
                      </a:r>
                    </a:p>
                    <a:p>
                      <a:pPr marL="342900" indent="-342900">
                        <a:buFont typeface="Arial"/>
                        <a:buChar char="•"/>
                      </a:pPr>
                      <a:r>
                        <a:rPr lang="en-US" sz="2000" dirty="0" smtClean="0"/>
                        <a:t>Orbit reposition</a:t>
                      </a:r>
                      <a:r>
                        <a:rPr lang="en-US" sz="2000" baseline="0" dirty="0" smtClean="0"/>
                        <a:t> capability</a:t>
                      </a:r>
                      <a:r>
                        <a:rPr lang="en-US" sz="2000" dirty="0" smtClean="0"/>
                        <a:t> </a:t>
                      </a:r>
                      <a:endParaRPr lang="en-US" sz="2000" dirty="0">
                        <a:latin typeface="Times"/>
                        <a:cs typeface="Time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 smtClean="0"/>
                        <a:t>Life extension limited to a small number of satellites</a:t>
                      </a:r>
                      <a:endParaRPr lang="en-US" sz="2000" dirty="0">
                        <a:latin typeface="Times"/>
                        <a:cs typeface="Times"/>
                      </a:endParaRPr>
                    </a:p>
                  </a:txBody>
                  <a:tcP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1065224">
                <a:tc>
                  <a:txBody>
                    <a:bodyPr/>
                    <a:lstStyle/>
                    <a:p>
                      <a:pPr algn="ctr"/>
                      <a:r>
                        <a:rPr lang="en-US" sz="2000" dirty="0" smtClean="0"/>
                        <a:t>Repair Satellite</a:t>
                      </a:r>
                      <a:endParaRPr lang="en-US" sz="2000" dirty="0">
                        <a:latin typeface="Times"/>
                        <a:cs typeface="Time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>
                        <a:buFont typeface="Arial"/>
                        <a:buNone/>
                      </a:pPr>
                      <a:r>
                        <a:rPr lang="en-US" sz="2000" dirty="0" smtClean="0"/>
                        <a:t>Extend</a:t>
                      </a:r>
                      <a:r>
                        <a:rPr lang="en-US" sz="2000" baseline="0" dirty="0" smtClean="0"/>
                        <a:t> the life of satellites that are malfunctioning</a:t>
                      </a:r>
                      <a:endParaRPr lang="en-US" sz="2000" dirty="0">
                        <a:latin typeface="Times"/>
                        <a:cs typeface="Time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Font typeface="Arial"/>
                        <a:buNone/>
                      </a:pPr>
                      <a:r>
                        <a:rPr lang="en-US" sz="2000" dirty="0" smtClean="0"/>
                        <a:t>High degree of complexity</a:t>
                      </a:r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003681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LEO to GEO Orbital Maneuver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25C865-99B9-4335-8FDD-FD387DF08D14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803400" y="1143000"/>
            <a:ext cx="6629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i="1" dirty="0" smtClean="0"/>
              <a:t>Electric or liquid propulsion?</a:t>
            </a:r>
            <a:endParaRPr lang="en-US" sz="2800" b="1" i="1" dirty="0"/>
          </a:p>
        </p:txBody>
      </p:sp>
      <p:sp>
        <p:nvSpPr>
          <p:cNvPr id="6" name="TextBox 5"/>
          <p:cNvSpPr txBox="1"/>
          <p:nvPr/>
        </p:nvSpPr>
        <p:spPr>
          <a:xfrm>
            <a:off x="355600" y="1600200"/>
            <a:ext cx="9601200" cy="2462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 smtClean="0"/>
              <a:t>Electric Propulsion</a:t>
            </a:r>
          </a:p>
          <a:p>
            <a:pPr marL="1371600" lvl="2" indent="-457200">
              <a:buFont typeface="Arial"/>
              <a:buChar char="•"/>
            </a:pPr>
            <a:r>
              <a:rPr lang="en-US" sz="2200" dirty="0" smtClean="0"/>
              <a:t>Commonly used propellant = Xenon</a:t>
            </a:r>
          </a:p>
          <a:p>
            <a:pPr marL="1371600" lvl="2" indent="-457200">
              <a:buFont typeface="Arial"/>
              <a:buChar char="•"/>
            </a:pPr>
            <a:r>
              <a:rPr lang="en-US" sz="2200" dirty="0" smtClean="0"/>
              <a:t>Used for constant thrust burns</a:t>
            </a:r>
          </a:p>
          <a:p>
            <a:pPr lvl="1"/>
            <a:endParaRPr lang="en-US" sz="2200" dirty="0"/>
          </a:p>
          <a:p>
            <a:r>
              <a:rPr lang="en-US" sz="2200" dirty="0" smtClean="0"/>
              <a:t>Liquid Propulsion</a:t>
            </a:r>
          </a:p>
          <a:p>
            <a:pPr marL="1371600" lvl="2" indent="-457200">
              <a:buFont typeface="Arial"/>
              <a:buChar char="•"/>
            </a:pPr>
            <a:r>
              <a:rPr lang="en-US" sz="2200" dirty="0" smtClean="0"/>
              <a:t>Commonly used propellant = MMH and NTO (hypergolic)</a:t>
            </a:r>
          </a:p>
          <a:p>
            <a:pPr marL="1371600" lvl="2" indent="-457200">
              <a:buFont typeface="Arial"/>
              <a:buChar char="•"/>
            </a:pPr>
            <a:r>
              <a:rPr lang="en-US" sz="2200" dirty="0" smtClean="0"/>
              <a:t>Used for high-impulse burns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2001611"/>
              </p:ext>
            </p:extLst>
          </p:nvPr>
        </p:nvGraphicFramePr>
        <p:xfrm>
          <a:off x="431800" y="4343400"/>
          <a:ext cx="9296400" cy="2133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59280"/>
                <a:gridCol w="1859280"/>
                <a:gridCol w="1859280"/>
                <a:gridCol w="1859280"/>
                <a:gridCol w="1859280"/>
              </a:tblGrid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Propulsion System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Thrust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Time Needed for Transfer from LEO to GEO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Specific Impulse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Propellant Mass Percentage</a:t>
                      </a:r>
                      <a:endParaRPr lang="en-US" b="1" dirty="0"/>
                    </a:p>
                  </a:txBody>
                  <a:tcPr anchor="ctr"/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Electric</a:t>
                      </a:r>
                      <a:endParaRPr lang="en-US" dirty="0"/>
                    </a:p>
                  </a:txBody>
                  <a:tcPr anchor="ctr"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Very Low</a:t>
                      </a:r>
                      <a:endParaRPr lang="en-US" dirty="0"/>
                    </a:p>
                  </a:txBody>
                  <a:tcPr anchor="ctr"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 typeface="Wingdings" charset="0"/>
                        <a:buNone/>
                      </a:pPr>
                      <a:r>
                        <a:rPr lang="en-US" dirty="0" smtClean="0"/>
                        <a:t>&gt; 200 days</a:t>
                      </a:r>
                      <a:endParaRPr lang="en-US" dirty="0"/>
                    </a:p>
                  </a:txBody>
                  <a:tcPr anchor="ctr"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1000 – 5000 s</a:t>
                      </a:r>
                      <a:endParaRPr lang="en-US" dirty="0"/>
                    </a:p>
                  </a:txBody>
                  <a:tcPr anchor="ctr"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15 – 30%</a:t>
                      </a:r>
                      <a:endParaRPr lang="en-US" dirty="0"/>
                    </a:p>
                  </a:txBody>
                  <a:tcPr anchor="ctr">
                    <a:solidFill>
                      <a:srgbClr val="E6B9B8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Liquid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High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&lt; 1 day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100 – 400 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50 – 80%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735224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Content Placeholder 4"/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794673492"/>
              </p:ext>
            </p:extLst>
          </p:nvPr>
        </p:nvGraphicFramePr>
        <p:xfrm>
          <a:off x="431800" y="3276600"/>
          <a:ext cx="9296400" cy="3110615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44056"/>
                <a:gridCol w="3453954"/>
                <a:gridCol w="3098390"/>
              </a:tblGrid>
              <a:tr h="431687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Attachment Method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Pros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Cons</a:t>
                      </a:r>
                      <a:endParaRPr lang="en-US" b="1" dirty="0"/>
                    </a:p>
                  </a:txBody>
                  <a:tcPr anchor="ctr"/>
                </a:tc>
              </a:tr>
              <a:tr h="74510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 DOF Arm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Most versatile – </a:t>
                      </a:r>
                      <a:r>
                        <a:rPr lang="en-US" dirty="0" err="1" smtClean="0"/>
                        <a:t>Fuelbot</a:t>
                      </a:r>
                      <a:r>
                        <a:rPr lang="en-US" dirty="0" smtClean="0"/>
                        <a:t> can grab client</a:t>
                      </a:r>
                      <a:r>
                        <a:rPr lang="en-US" baseline="0" dirty="0" smtClean="0"/>
                        <a:t> satellites</a:t>
                      </a:r>
                      <a:r>
                        <a:rPr lang="en-US" dirty="0" smtClean="0"/>
                        <a:t> of various sizes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Highest</a:t>
                      </a:r>
                      <a:r>
                        <a:rPr lang="en-US" baseline="0" dirty="0" smtClean="0"/>
                        <a:t> level of complexity</a:t>
                      </a:r>
                      <a:endParaRPr lang="en-US" dirty="0"/>
                    </a:p>
                  </a:txBody>
                  <a:tcPr anchor="ctr"/>
                </a:tc>
              </a:tr>
              <a:tr h="74510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 DOF Arm</a:t>
                      </a:r>
                      <a:endParaRPr lang="en-US" dirty="0"/>
                    </a:p>
                  </a:txBody>
                  <a:tcPr anchor="ctr"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Maintains versatility while reducing the complexity</a:t>
                      </a:r>
                      <a:r>
                        <a:rPr lang="en-US" baseline="0" dirty="0" smtClean="0"/>
                        <a:t> of 6 DOF</a:t>
                      </a:r>
                      <a:endParaRPr lang="en-US" dirty="0"/>
                    </a:p>
                  </a:txBody>
                  <a:tcPr anchor="ctr"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Relatively complex method</a:t>
                      </a:r>
                      <a:endParaRPr lang="en-US" dirty="0"/>
                    </a:p>
                  </a:txBody>
                  <a:tcPr anchor="ctr">
                    <a:solidFill>
                      <a:srgbClr val="E6B9B8"/>
                    </a:solidFill>
                  </a:tcPr>
                </a:tc>
              </a:tr>
              <a:tr h="745104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Grab Back Panel of Client Satellite (No</a:t>
                      </a:r>
                      <a:r>
                        <a:rPr lang="en-US" baseline="0" dirty="0" smtClean="0"/>
                        <a:t> Arms)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indent="0" algn="ctr">
                        <a:buFont typeface="Arial"/>
                        <a:buNone/>
                      </a:pPr>
                      <a:r>
                        <a:rPr lang="en-US" dirty="0" smtClean="0"/>
                        <a:t>Least</a:t>
                      </a:r>
                      <a:r>
                        <a:rPr lang="en-US" baseline="0" dirty="0" smtClean="0"/>
                        <a:t> complex method, with few moving parts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l">
                        <a:buFont typeface="Arial"/>
                        <a:buChar char="•"/>
                      </a:pPr>
                      <a:r>
                        <a:rPr lang="en-US" dirty="0" smtClean="0"/>
                        <a:t>Not well-suited</a:t>
                      </a:r>
                      <a:r>
                        <a:rPr lang="en-US" baseline="0" dirty="0" smtClean="0"/>
                        <a:t> for small satellites</a:t>
                      </a:r>
                    </a:p>
                    <a:p>
                      <a:pPr marL="285750" indent="-285750" algn="l">
                        <a:buFont typeface="Arial"/>
                        <a:buChar char="•"/>
                      </a:pPr>
                      <a:r>
                        <a:rPr lang="en-US" baseline="0" dirty="0" smtClean="0"/>
                        <a:t>Interference from apogee kick motor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Attachment Mechanism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25C865-99B9-4335-8FDD-FD387DF08D14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355600" y="1295400"/>
            <a:ext cx="92202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Requirements</a:t>
            </a:r>
          </a:p>
          <a:p>
            <a:pPr marL="800100" lvl="1" indent="-342900">
              <a:buFont typeface="Arial"/>
              <a:buChar char="•"/>
            </a:pPr>
            <a:r>
              <a:rPr lang="en-US" dirty="0" smtClean="0"/>
              <a:t>Size range of satellites</a:t>
            </a:r>
          </a:p>
          <a:p>
            <a:pPr marL="800100" lvl="1" indent="-342900">
              <a:buFont typeface="Arial"/>
              <a:buChar char="•"/>
            </a:pPr>
            <a:r>
              <a:rPr lang="en-US" dirty="0" smtClean="0"/>
              <a:t>Acceptable location to grasp the client satellites</a:t>
            </a:r>
          </a:p>
          <a:p>
            <a:pPr marL="800100" lvl="1" indent="-342900">
              <a:buFont typeface="Arial"/>
              <a:buChar char="•"/>
            </a:pPr>
            <a:r>
              <a:rPr lang="en-US" dirty="0" err="1" smtClean="0"/>
              <a:t>Fuelbot</a:t>
            </a:r>
            <a:r>
              <a:rPr lang="en-US" dirty="0" smtClean="0"/>
              <a:t> orientation during attachment</a:t>
            </a:r>
          </a:p>
        </p:txBody>
      </p:sp>
    </p:spTree>
    <p:extLst>
      <p:ext uri="{BB962C8B-B14F-4D97-AF65-F5344CB8AC3E}">
        <p14:creationId xmlns:p14="http://schemas.microsoft.com/office/powerpoint/2010/main" val="37723822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431800" y="1371600"/>
            <a:ext cx="9372600" cy="5105400"/>
          </a:xfrm>
        </p:spPr>
        <p:txBody>
          <a:bodyPr/>
          <a:lstStyle/>
          <a:p>
            <a:pPr marL="0" indent="0">
              <a:buNone/>
            </a:pPr>
            <a:r>
              <a:rPr lang="en-US" b="1" i="1" dirty="0" smtClean="0"/>
              <a:t>The </a:t>
            </a:r>
            <a:r>
              <a:rPr lang="en-US" b="1" i="1" dirty="0" err="1" smtClean="0"/>
              <a:t>Fuelbot</a:t>
            </a:r>
            <a:r>
              <a:rPr lang="en-US" b="1" i="1" dirty="0" smtClean="0"/>
              <a:t> must be able to</a:t>
            </a:r>
          </a:p>
          <a:p>
            <a:pPr lvl="1"/>
            <a:r>
              <a:rPr lang="en-US" dirty="0" smtClean="0"/>
              <a:t>Control </a:t>
            </a:r>
            <a:r>
              <a:rPr lang="en-US" dirty="0"/>
              <a:t>the client satellite’s </a:t>
            </a:r>
            <a:r>
              <a:rPr lang="en-US" dirty="0" err="1" smtClean="0"/>
              <a:t>stationkeeping</a:t>
            </a:r>
            <a:endParaRPr lang="en-US" dirty="0" smtClean="0"/>
          </a:p>
          <a:p>
            <a:pPr lvl="2"/>
            <a:r>
              <a:rPr lang="en-US" dirty="0" smtClean="0"/>
              <a:t>ΔV = 50 m/s for North/South </a:t>
            </a:r>
            <a:r>
              <a:rPr lang="en-US" dirty="0" err="1" smtClean="0"/>
              <a:t>stationkeeping</a:t>
            </a:r>
            <a:endParaRPr lang="en-US" dirty="0"/>
          </a:p>
          <a:p>
            <a:pPr marL="914400" lvl="2" indent="0">
              <a:buNone/>
            </a:pPr>
            <a:endParaRPr lang="en-US" dirty="0" smtClean="0"/>
          </a:p>
          <a:p>
            <a:pPr lvl="1"/>
            <a:r>
              <a:rPr lang="en-US" dirty="0" smtClean="0"/>
              <a:t>Reposition the client satellite </a:t>
            </a:r>
            <a:r>
              <a:rPr lang="en-US" dirty="0"/>
              <a:t>to a graveyard orbit at the end of </a:t>
            </a:r>
            <a:r>
              <a:rPr lang="en-US" dirty="0" smtClean="0"/>
              <a:t>the client’s </a:t>
            </a:r>
            <a:r>
              <a:rPr lang="en-US" dirty="0"/>
              <a:t>functional </a:t>
            </a:r>
            <a:r>
              <a:rPr lang="en-US" dirty="0" smtClean="0"/>
              <a:t>life</a:t>
            </a:r>
          </a:p>
          <a:p>
            <a:pPr marL="457200" lvl="1" indent="0">
              <a:buNone/>
            </a:pPr>
            <a:endParaRPr lang="en-US" dirty="0" smtClean="0"/>
          </a:p>
          <a:p>
            <a:pPr marL="57150" indent="0" algn="ctr">
              <a:lnSpc>
                <a:spcPct val="80000"/>
              </a:lnSpc>
              <a:buNone/>
            </a:pPr>
            <a:r>
              <a:rPr lang="en-US" b="1" i="1" dirty="0" smtClean="0"/>
              <a:t>The same ion thrusters used to travel from </a:t>
            </a:r>
          </a:p>
          <a:p>
            <a:pPr marL="57150" indent="0" algn="ctr">
              <a:lnSpc>
                <a:spcPct val="80000"/>
              </a:lnSpc>
              <a:buNone/>
            </a:pPr>
            <a:r>
              <a:rPr lang="en-US" b="1" i="1" dirty="0" smtClean="0"/>
              <a:t>LEO to GEO can serve these purposes.</a:t>
            </a:r>
            <a:endParaRPr lang="en-US" b="1" i="1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27000" y="-2"/>
            <a:ext cx="9906000" cy="995362"/>
          </a:xfrm>
        </p:spPr>
        <p:txBody>
          <a:bodyPr/>
          <a:lstStyle/>
          <a:p>
            <a:r>
              <a:rPr lang="en-US" sz="3600" dirty="0" err="1" smtClean="0"/>
              <a:t>Stationkeeping</a:t>
            </a:r>
            <a:r>
              <a:rPr lang="en-US" sz="3600" dirty="0" smtClean="0"/>
              <a:t>/Graveyard Orbit Insertion Propulsion</a:t>
            </a:r>
            <a:endParaRPr lang="en-US" sz="36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25C865-99B9-4335-8FDD-FD387DF08D14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43137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508000" y="1295400"/>
            <a:ext cx="9144000" cy="5257800"/>
          </a:xfrm>
        </p:spPr>
        <p:txBody>
          <a:bodyPr/>
          <a:lstStyle/>
          <a:p>
            <a:pPr marL="0" indent="0">
              <a:lnSpc>
                <a:spcPct val="80000"/>
              </a:lnSpc>
              <a:buNone/>
            </a:pPr>
            <a:r>
              <a:rPr lang="en-US" sz="2800" b="1" dirty="0"/>
              <a:t>Total mission duration: 15 years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800" b="1" dirty="0"/>
              <a:t>Number of clients per mission: 2</a:t>
            </a:r>
          </a:p>
          <a:p>
            <a:pPr marL="0" indent="0">
              <a:buNone/>
            </a:pPr>
            <a:endParaRPr lang="en-US" sz="2000" dirty="0"/>
          </a:p>
          <a:p>
            <a:pPr marL="514350" indent="-514350">
              <a:buFont typeface="+mj-lt"/>
              <a:buAutoNum type="arabicParenR"/>
            </a:pPr>
            <a:r>
              <a:rPr lang="en-US" sz="2400" dirty="0" smtClean="0"/>
              <a:t>Launch to LEO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400" dirty="0" smtClean="0"/>
              <a:t>Low thrust transfer to GEO				1.9 years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400" dirty="0" smtClean="0"/>
              <a:t>GEO satellite piggyback #1				5.5 years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400" dirty="0" smtClean="0"/>
              <a:t>Low thrust transfer to graveyard orbit			7 days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400" dirty="0" smtClean="0"/>
              <a:t>Low thrust transfer to GEO				1 day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400" dirty="0" smtClean="0"/>
              <a:t>Drift to GEO satellite #2					3 months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400" dirty="0" smtClean="0"/>
              <a:t>GEO satellite piggyback #2				5.5 years</a:t>
            </a:r>
          </a:p>
          <a:p>
            <a:pPr marL="514350" indent="-514350">
              <a:buFont typeface="+mj-lt"/>
              <a:buAutoNum type="arabicParenR"/>
            </a:pPr>
            <a:r>
              <a:rPr lang="en-US" sz="2400" dirty="0" smtClean="0"/>
              <a:t>Low thrust transfer to graveyard orbit			7 days</a:t>
            </a:r>
          </a:p>
          <a:p>
            <a:pPr lvl="2"/>
            <a:r>
              <a:rPr lang="en-US" sz="1800" dirty="0" err="1" smtClean="0"/>
              <a:t>Fuelbot</a:t>
            </a:r>
            <a:r>
              <a:rPr lang="en-US" sz="1800" dirty="0" smtClean="0"/>
              <a:t> stays with the 2</a:t>
            </a:r>
            <a:r>
              <a:rPr lang="en-US" sz="1800" baseline="30000" dirty="0" smtClean="0"/>
              <a:t>nd</a:t>
            </a:r>
            <a:r>
              <a:rPr lang="en-US" sz="1800" dirty="0" smtClean="0"/>
              <a:t> client at the end of its mission</a:t>
            </a:r>
          </a:p>
          <a:p>
            <a:pPr marL="0" indent="0">
              <a:lnSpc>
                <a:spcPct val="80000"/>
              </a:lnSpc>
              <a:buNone/>
            </a:pPr>
            <a:r>
              <a:rPr lang="en-US" sz="2400" dirty="0" smtClean="0"/>
              <a:t>			</a:t>
            </a:r>
          </a:p>
          <a:p>
            <a:pPr marL="514350" indent="-514350">
              <a:buFont typeface="+mj-lt"/>
              <a:buAutoNum type="arabicParenR"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Mission Profile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25C865-99B9-4335-8FDD-FD387DF08D14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5022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Mission Profile Flexibility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25C865-99B9-4335-8FDD-FD387DF08D14}" type="slidenum">
              <a:rPr lang="en-US" smtClean="0"/>
              <a:pPr/>
              <a:t>13</a:t>
            </a:fld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800" y="2209800"/>
            <a:ext cx="5397500" cy="42037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55600" y="1219200"/>
            <a:ext cx="9296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Most satellites fall between 500 – 3,000 kg in dry mass. The lighter client satellites provide more potential for life extension.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22762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431800" y="1219200"/>
            <a:ext cx="9296400" cy="4343400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Requirements</a:t>
            </a:r>
          </a:p>
          <a:p>
            <a:pPr lvl="1">
              <a:lnSpc>
                <a:spcPct val="80000"/>
              </a:lnSpc>
            </a:pPr>
            <a:r>
              <a:rPr lang="en-US" dirty="0" smtClean="0"/>
              <a:t>Must minimize the </a:t>
            </a:r>
            <a:r>
              <a:rPr lang="en-US" dirty="0" err="1" smtClean="0"/>
              <a:t>FuelBot</a:t>
            </a:r>
            <a:r>
              <a:rPr lang="en-US" dirty="0" smtClean="0"/>
              <a:t> wet mass</a:t>
            </a:r>
          </a:p>
          <a:p>
            <a:pPr lvl="1">
              <a:lnSpc>
                <a:spcPct val="80000"/>
              </a:lnSpc>
            </a:pPr>
            <a:r>
              <a:rPr lang="en-US" dirty="0" smtClean="0"/>
              <a:t>Must keep the mission lifetime to less than 15 years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Propulsion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25C865-99B9-4335-8FDD-FD387DF08D14}" type="slidenum">
              <a:rPr lang="en-US" smtClean="0"/>
              <a:pPr/>
              <a:t>14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450422"/>
              </p:ext>
            </p:extLst>
          </p:nvPr>
        </p:nvGraphicFramePr>
        <p:xfrm>
          <a:off x="431800" y="2971801"/>
          <a:ext cx="9372600" cy="335279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</a:tblGrid>
              <a:tr h="478971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Manufacturer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Name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Power (kW)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 smtClean="0"/>
                        <a:t>I_sp</a:t>
                      </a:r>
                      <a:r>
                        <a:rPr lang="en-US" b="1" dirty="0" smtClean="0"/>
                        <a:t> (s)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Thrust (</a:t>
                      </a:r>
                      <a:r>
                        <a:rPr lang="en-US" b="1" dirty="0" err="1" smtClean="0"/>
                        <a:t>mN</a:t>
                      </a:r>
                      <a:r>
                        <a:rPr lang="en-US" b="1" dirty="0" smtClean="0"/>
                        <a:t>)</a:t>
                      </a:r>
                      <a:endParaRPr lang="en-US" b="1" dirty="0"/>
                    </a:p>
                  </a:txBody>
                  <a:tcPr anchor="ctr"/>
                </a:tc>
              </a:tr>
              <a:tr h="478971">
                <a:tc rowSpan="2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L-3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XIPS-25 low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2.2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3,400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79 </a:t>
                      </a:r>
                      <a:endParaRPr lang="en-US" dirty="0"/>
                    </a:p>
                  </a:txBody>
                  <a:tcPr anchor="ctr"/>
                </a:tc>
              </a:tr>
              <a:tr h="478971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XIPS-25 high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4.3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3,500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166</a:t>
                      </a:r>
                      <a:endParaRPr lang="en-US" dirty="0"/>
                    </a:p>
                  </a:txBody>
                  <a:tcPr anchor="ctr"/>
                </a:tc>
              </a:tr>
              <a:tr h="478971">
                <a:tc>
                  <a:txBody>
                    <a:bodyPr/>
                    <a:lstStyle/>
                    <a:p>
                      <a:pPr algn="ctr"/>
                      <a:r>
                        <a:rPr lang="en-US" dirty="0" err="1" smtClean="0"/>
                        <a:t>Aerojet</a:t>
                      </a:r>
                      <a:r>
                        <a:rPr lang="en-US" dirty="0" smtClean="0"/>
                        <a:t>/NASA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NEXT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6.9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4,100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235</a:t>
                      </a:r>
                      <a:endParaRPr lang="en-US" dirty="0"/>
                    </a:p>
                  </a:txBody>
                  <a:tcPr anchor="ctr"/>
                </a:tc>
              </a:tr>
              <a:tr h="478971">
                <a:tc rowSpan="3"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L-3/NASA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NSTAR low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0.49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1,950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19</a:t>
                      </a:r>
                      <a:endParaRPr lang="en-US" dirty="0"/>
                    </a:p>
                  </a:txBody>
                  <a:tcPr anchor="ctr"/>
                </a:tc>
              </a:tr>
              <a:tr h="478971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NSTAR medium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1.48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3,180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58</a:t>
                      </a:r>
                      <a:endParaRPr lang="en-US" dirty="0"/>
                    </a:p>
                  </a:txBody>
                  <a:tcPr anchor="ctr"/>
                </a:tc>
              </a:tr>
              <a:tr h="478971">
                <a:tc v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NSTAR high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2.31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3,280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92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096558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Propulsion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25C865-99B9-4335-8FDD-FD387DF08D14}" type="slidenum">
              <a:rPr lang="en-US" smtClean="0"/>
              <a:pPr/>
              <a:t>15</a:t>
            </a:fld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1066800"/>
            <a:ext cx="4876800" cy="286296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400" y="3810000"/>
            <a:ext cx="4572000" cy="28956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208979" y="1298270"/>
            <a:ext cx="4572000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693333"/>
                </a:solidFill>
              </a:rPr>
              <a:t>The mission profile was iterated using each propulsion system to estimate the resulting wet mass and mission length.</a:t>
            </a:r>
          </a:p>
          <a:p>
            <a:endParaRPr lang="en-US" dirty="0" smtClean="0">
              <a:solidFill>
                <a:srgbClr val="693333"/>
              </a:solidFill>
            </a:endParaRPr>
          </a:p>
          <a:p>
            <a:endParaRPr lang="en-US" dirty="0">
              <a:solidFill>
                <a:srgbClr val="693333"/>
              </a:solidFill>
            </a:endParaRPr>
          </a:p>
          <a:p>
            <a:r>
              <a:rPr lang="en-US" dirty="0" smtClean="0">
                <a:solidFill>
                  <a:srgbClr val="693333"/>
                </a:solidFill>
              </a:rPr>
              <a:t>The XIPS-25 low power system </a:t>
            </a:r>
          </a:p>
          <a:p>
            <a:pPr marL="800100" lvl="1" indent="-342900">
              <a:buFont typeface="Arial"/>
              <a:buChar char="•"/>
            </a:pPr>
            <a:r>
              <a:rPr lang="en-US" dirty="0" smtClean="0">
                <a:solidFill>
                  <a:srgbClr val="693333"/>
                </a:solidFill>
              </a:rPr>
              <a:t>Has a low wet mass</a:t>
            </a:r>
          </a:p>
          <a:p>
            <a:pPr marL="800100" lvl="1" indent="-342900">
              <a:buFont typeface="Arial"/>
              <a:buChar char="•"/>
            </a:pPr>
            <a:r>
              <a:rPr lang="en-US" dirty="0" smtClean="0">
                <a:solidFill>
                  <a:srgbClr val="693333"/>
                </a:solidFill>
              </a:rPr>
              <a:t>Meets the target mission time (14.8 years)</a:t>
            </a:r>
          </a:p>
          <a:p>
            <a:pPr marL="800100" lvl="1" indent="-342900">
              <a:buFont typeface="Arial"/>
              <a:buChar char="•"/>
            </a:pPr>
            <a:r>
              <a:rPr lang="en-US" dirty="0" smtClean="0">
                <a:solidFill>
                  <a:srgbClr val="693333"/>
                </a:solidFill>
              </a:rPr>
              <a:t>Has significant flight experience on GEO communications satellites</a:t>
            </a:r>
          </a:p>
          <a:p>
            <a:pPr marL="800100" lvl="1" indent="-342900">
              <a:buFont typeface="Arial"/>
              <a:buChar char="•"/>
            </a:pPr>
            <a:endParaRPr lang="en-US" dirty="0" smtClean="0">
              <a:solidFill>
                <a:srgbClr val="69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70182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614440" y="1348838"/>
            <a:ext cx="9037560" cy="2461161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The </a:t>
            </a:r>
            <a:r>
              <a:rPr lang="en-US" b="1" dirty="0" err="1" smtClean="0"/>
              <a:t>FuelBot</a:t>
            </a:r>
            <a:r>
              <a:rPr lang="en-US" b="1" dirty="0" smtClean="0"/>
              <a:t> propulsion system includes</a:t>
            </a:r>
          </a:p>
          <a:p>
            <a:pPr lvl="1"/>
            <a:r>
              <a:rPr lang="en-US" dirty="0" smtClean="0"/>
              <a:t>4 XIPS-25 low power thrusters (L-3)</a:t>
            </a:r>
          </a:p>
          <a:p>
            <a:pPr lvl="1"/>
            <a:r>
              <a:rPr lang="en-US" dirty="0" smtClean="0"/>
              <a:t>2 power processing units (L-3)</a:t>
            </a:r>
          </a:p>
          <a:p>
            <a:pPr lvl="1"/>
            <a:r>
              <a:rPr lang="en-US" dirty="0" smtClean="0"/>
              <a:t>2 cylindrical composite fuel tanks </a:t>
            </a:r>
          </a:p>
          <a:p>
            <a:pPr lvl="2"/>
            <a:r>
              <a:rPr lang="en-US" dirty="0" smtClean="0"/>
              <a:t>Total propellant capacity – 194.5 kg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Propulsion System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25C865-99B9-4335-8FDD-FD387DF08D14}" type="slidenum">
              <a:rPr lang="en-US" smtClean="0"/>
              <a:pPr/>
              <a:t>16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733" t="2922" r="1733" b="47078"/>
          <a:stretch/>
        </p:blipFill>
        <p:spPr bwMode="auto">
          <a:xfrm>
            <a:off x="1041400" y="4297859"/>
            <a:ext cx="2582941" cy="191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08800" y="3810000"/>
            <a:ext cx="2438400" cy="2581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07"/>
          <a:stretch/>
        </p:blipFill>
        <p:spPr bwMode="auto">
          <a:xfrm>
            <a:off x="3862803" y="4297859"/>
            <a:ext cx="2807535" cy="191248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773181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279400" y="1143000"/>
            <a:ext cx="9448800" cy="4343400"/>
          </a:xfrm>
        </p:spPr>
        <p:txBody>
          <a:bodyPr/>
          <a:lstStyle/>
          <a:p>
            <a:pPr marL="0" indent="0" algn="ctr">
              <a:buNone/>
            </a:pPr>
            <a:r>
              <a:rPr lang="en-US" sz="2800" b="1" i="1" dirty="0"/>
              <a:t>Accounting for degradation, solar arrays were sized </a:t>
            </a:r>
            <a:endParaRPr lang="en-US" sz="2800" b="1" i="1" dirty="0" smtClean="0"/>
          </a:p>
          <a:p>
            <a:pPr marL="0" indent="0" algn="ctr">
              <a:buNone/>
            </a:pPr>
            <a:r>
              <a:rPr lang="en-US" sz="2800" b="1" i="1" dirty="0" smtClean="0"/>
              <a:t>to </a:t>
            </a:r>
            <a:r>
              <a:rPr lang="en-US" sz="2800" b="1" i="1" dirty="0"/>
              <a:t>produce 2.75 kW at the end of life</a:t>
            </a:r>
            <a:r>
              <a:rPr lang="en-US" sz="2800" b="1" i="1" dirty="0" smtClean="0"/>
              <a:t>.</a:t>
            </a:r>
            <a:endParaRPr lang="en-US" sz="2800" b="1" dirty="0"/>
          </a:p>
          <a:p>
            <a:pPr marL="0" indent="0" algn="ctr">
              <a:buNone/>
            </a:pPr>
            <a:endParaRPr lang="en-US" sz="2000" b="1" dirty="0"/>
          </a:p>
          <a:p>
            <a:pPr marL="0" indent="0">
              <a:buNone/>
            </a:pPr>
            <a:r>
              <a:rPr lang="en-US" sz="2800" b="1" dirty="0" smtClean="0"/>
              <a:t>Requirements</a:t>
            </a:r>
          </a:p>
          <a:p>
            <a:pPr lvl="1"/>
            <a:r>
              <a:rPr lang="en-US" sz="2400" dirty="0" smtClean="0"/>
              <a:t>Must provide an adequate supply of power for propulsion and other subsystems throughout its mission life</a:t>
            </a:r>
          </a:p>
          <a:p>
            <a:pPr lvl="1"/>
            <a:r>
              <a:rPr lang="en-US" sz="2400" dirty="0" smtClean="0"/>
              <a:t>Solar panel orientation must not block client satellite solar panels</a:t>
            </a:r>
          </a:p>
          <a:p>
            <a:pPr lvl="1"/>
            <a:endParaRPr lang="en-US" sz="2000" b="1" i="1" dirty="0"/>
          </a:p>
          <a:p>
            <a:pPr marL="57150" indent="0">
              <a:buNone/>
            </a:pPr>
            <a:r>
              <a:rPr lang="en-US" sz="2800" b="1" dirty="0" smtClean="0"/>
              <a:t>Factors that affect solar panel sizing</a:t>
            </a:r>
          </a:p>
          <a:p>
            <a:pPr marL="914400" lvl="1" indent="-457200"/>
            <a:r>
              <a:rPr lang="en-US" sz="2400" dirty="0" smtClean="0"/>
              <a:t>Annual losses, </a:t>
            </a:r>
            <a:r>
              <a:rPr lang="en-US" sz="2400" dirty="0"/>
              <a:t>c</a:t>
            </a:r>
            <a:r>
              <a:rPr lang="en-US" sz="2400" dirty="0" smtClean="0"/>
              <a:t>ell degradation due to temperature</a:t>
            </a:r>
          </a:p>
          <a:p>
            <a:pPr marL="914400" lvl="1" indent="-457200"/>
            <a:r>
              <a:rPr lang="en-US" sz="2400" dirty="0" smtClean="0"/>
              <a:t>Angle of incidence</a:t>
            </a:r>
          </a:p>
          <a:p>
            <a:pPr marL="914400" lvl="1" indent="-457200"/>
            <a:r>
              <a:rPr lang="en-US" sz="2400" dirty="0" smtClean="0"/>
              <a:t>Cell packing factor</a:t>
            </a:r>
          </a:p>
          <a:p>
            <a:pPr marL="914400" lvl="1" indent="-457200"/>
            <a:endParaRPr lang="en-US" sz="2400" dirty="0"/>
          </a:p>
          <a:p>
            <a:pPr marL="57150" indent="0">
              <a:buNone/>
            </a:pP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System: Solar Panel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25C865-99B9-4335-8FDD-FD387DF08D14}" type="slidenum">
              <a:rPr lang="en-US" smtClean="0"/>
              <a:pPr/>
              <a:t>17</a:t>
            </a:fld>
            <a:endParaRPr lang="en-US" dirty="0"/>
          </a:p>
        </p:txBody>
      </p:sp>
      <p:pic>
        <p:nvPicPr>
          <p:cNvPr id="5122" name="Picture 2" descr="C:\Users\npandian\Desktop\FuelBot Renderings\FuelBot Renderings\Deployed, Angled View From Back, Light Backgroun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47400" y="5243513"/>
            <a:ext cx="4495800" cy="2528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62365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System: Solar Panel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25C865-99B9-4335-8FDD-FD387DF08D14}" type="slidenum">
              <a:rPr lang="en-US" smtClean="0"/>
              <a:pPr/>
              <a:t>18</a:t>
            </a:fld>
            <a:endParaRPr lang="en-US" dirty="0"/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3331125861"/>
              </p:ext>
            </p:extLst>
          </p:nvPr>
        </p:nvGraphicFramePr>
        <p:xfrm>
          <a:off x="1117600" y="2301240"/>
          <a:ext cx="8077200" cy="3337560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4038600"/>
                <a:gridCol w="40386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Parameter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Value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Power</a:t>
                      </a:r>
                      <a:r>
                        <a:rPr lang="en-US" baseline="0" dirty="0" smtClean="0"/>
                        <a:t> (BOL)</a:t>
                      </a:r>
                      <a:endParaRPr lang="en-US" baseline="-25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4.44 </a:t>
                      </a:r>
                      <a:r>
                        <a:rPr lang="en-US" i="1" dirty="0" smtClean="0"/>
                        <a:t>kW</a:t>
                      </a:r>
                      <a:endParaRPr lang="en-US" i="1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Array Area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20.4 </a:t>
                      </a:r>
                      <a:r>
                        <a:rPr lang="en-US" i="1" dirty="0" smtClean="0"/>
                        <a:t>m</a:t>
                      </a:r>
                      <a:r>
                        <a:rPr lang="en-US" i="1" baseline="30000" dirty="0" smtClean="0"/>
                        <a:t>2</a:t>
                      </a:r>
                      <a:endParaRPr lang="en-US" i="1" baseline="300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Estimated</a:t>
                      </a:r>
                      <a:r>
                        <a:rPr lang="en-US" baseline="0" dirty="0" smtClean="0"/>
                        <a:t> Array Mass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189.9 </a:t>
                      </a:r>
                      <a:r>
                        <a:rPr lang="en-US" i="1" dirty="0" smtClean="0"/>
                        <a:t>kg</a:t>
                      </a:r>
                      <a:endParaRPr lang="en-US" i="1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Solar Cell Type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GaInP</a:t>
                      </a:r>
                      <a:r>
                        <a:rPr lang="en-US" baseline="-25000" dirty="0" smtClean="0"/>
                        <a:t>2</a:t>
                      </a:r>
                      <a:r>
                        <a:rPr lang="en-US" baseline="0" dirty="0" smtClean="0"/>
                        <a:t>/</a:t>
                      </a:r>
                      <a:r>
                        <a:rPr lang="en-US" baseline="0" dirty="0" err="1" smtClean="0"/>
                        <a:t>GaAs</a:t>
                      </a:r>
                      <a:r>
                        <a:rPr lang="en-US" baseline="0" dirty="0" smtClean="0"/>
                        <a:t>/</a:t>
                      </a:r>
                      <a:r>
                        <a:rPr lang="en-US" baseline="0" dirty="0" err="1" smtClean="0"/>
                        <a:t>Ge</a:t>
                      </a:r>
                      <a:r>
                        <a:rPr lang="en-US" baseline="0" dirty="0" smtClean="0"/>
                        <a:t> Triple Junction</a:t>
                      </a:r>
                      <a:endParaRPr lang="en-US" baseline="-25000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Efficiency</a:t>
                      </a:r>
                      <a:r>
                        <a:rPr lang="en-US" baseline="0" dirty="0" smtClean="0"/>
                        <a:t> (BOL)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25.1%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Annual Losses,</a:t>
                      </a:r>
                      <a:r>
                        <a:rPr lang="en-US" baseline="0" dirty="0" smtClean="0"/>
                        <a:t> </a:t>
                      </a:r>
                      <a:r>
                        <a:rPr lang="el-GR" baseline="0" dirty="0" smtClean="0"/>
                        <a:t>β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2.75%/year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Charge Efficiency,</a:t>
                      </a:r>
                      <a:r>
                        <a:rPr lang="en-US" baseline="0" dirty="0" smtClean="0"/>
                        <a:t> h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92%</a:t>
                      </a:r>
                      <a:endParaRPr lang="en-US" dirty="0"/>
                    </a:p>
                  </a:txBody>
                  <a:tcPr anchor="ctr"/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Transmission (Discharge) Efficiency, H</a:t>
                      </a:r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94%</a:t>
                      </a:r>
                      <a:endParaRPr lang="en-US" dirty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517650" y="1671935"/>
            <a:ext cx="71247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 smtClean="0">
                <a:solidFill>
                  <a:srgbClr val="693333"/>
                </a:solidFill>
              </a:rPr>
              <a:t>Final Solar Panel Performance and Characteristics</a:t>
            </a:r>
            <a:endParaRPr lang="en-US" b="1" dirty="0">
              <a:solidFill>
                <a:srgbClr val="693333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798463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>
          <a:xfrm>
            <a:off x="355600" y="1143000"/>
            <a:ext cx="9220200" cy="4343400"/>
          </a:xfrm>
        </p:spPr>
        <p:txBody>
          <a:bodyPr/>
          <a:lstStyle/>
          <a:p>
            <a:pPr marL="0" indent="0">
              <a:buNone/>
            </a:pPr>
            <a:r>
              <a:rPr lang="en-US" sz="2800" b="1" dirty="0" smtClean="0"/>
              <a:t>Requirements</a:t>
            </a:r>
          </a:p>
          <a:p>
            <a:pPr lvl="1"/>
            <a:r>
              <a:rPr lang="en-US" sz="2400" dirty="0" smtClean="0"/>
              <a:t>The battery must provide an adequate supply of power for propulsion and other subsystems during eclipse seasons (72 minutes)</a:t>
            </a:r>
          </a:p>
          <a:p>
            <a:pPr lvl="1"/>
            <a:r>
              <a:rPr lang="en-US" sz="2400" dirty="0" smtClean="0"/>
              <a:t>To </a:t>
            </a:r>
            <a:r>
              <a:rPr lang="en-US" sz="2400" dirty="0"/>
              <a:t>decrease the </a:t>
            </a:r>
            <a:r>
              <a:rPr lang="en-US" sz="2400" dirty="0" err="1"/>
              <a:t>FuelBot</a:t>
            </a:r>
            <a:r>
              <a:rPr lang="en-US" sz="2400" dirty="0"/>
              <a:t> </a:t>
            </a:r>
            <a:r>
              <a:rPr lang="en-US" sz="2400" dirty="0" smtClean="0"/>
              <a:t>dry mass</a:t>
            </a:r>
            <a:r>
              <a:rPr lang="en-US" sz="2400" dirty="0"/>
              <a:t>, the battery’s specific energy should be large.</a:t>
            </a:r>
          </a:p>
          <a:p>
            <a:pPr marL="0" indent="0">
              <a:buNone/>
            </a:pPr>
            <a:endParaRPr lang="en-US" sz="260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Power System: Battery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25C865-99B9-4335-8FDD-FD387DF08D14}" type="slidenum">
              <a:rPr lang="en-US" smtClean="0"/>
              <a:pPr/>
              <a:t>19</a:t>
            </a:fld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6315375"/>
              </p:ext>
            </p:extLst>
          </p:nvPr>
        </p:nvGraphicFramePr>
        <p:xfrm>
          <a:off x="1346200" y="3733800"/>
          <a:ext cx="7315200" cy="2819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3657600"/>
                <a:gridCol w="3657600"/>
              </a:tblGrid>
              <a:tr h="497890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Battery</a:t>
                      </a:r>
                      <a:endParaRPr lang="en-US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Specific Energy (W-</a:t>
                      </a:r>
                      <a:r>
                        <a:rPr lang="en-US" b="1" dirty="0" err="1" smtClean="0"/>
                        <a:t>hr</a:t>
                      </a:r>
                      <a:r>
                        <a:rPr lang="en-US" b="1" dirty="0" smtClean="0"/>
                        <a:t>/kg)</a:t>
                      </a:r>
                      <a:endParaRPr lang="en-US" b="1" dirty="0"/>
                    </a:p>
                  </a:txBody>
                  <a:tcPr anchor="ctr"/>
                </a:tc>
              </a:tr>
              <a:tr h="4643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Nickel</a:t>
                      </a:r>
                      <a:r>
                        <a:rPr lang="en-US" sz="1600" baseline="0" dirty="0" smtClean="0"/>
                        <a:t>-Cadmium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35</a:t>
                      </a:r>
                      <a:endParaRPr lang="en-US" sz="1600" dirty="0"/>
                    </a:p>
                  </a:txBody>
                  <a:tcPr anchor="ctr"/>
                </a:tc>
              </a:tr>
              <a:tr h="4643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Nickel Metal Hydride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42</a:t>
                      </a:r>
                      <a:endParaRPr lang="en-US" sz="1600" dirty="0"/>
                    </a:p>
                  </a:txBody>
                  <a:tcPr anchor="ctr"/>
                </a:tc>
              </a:tr>
              <a:tr h="4643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Nickel Hydride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40</a:t>
                      </a:r>
                      <a:endParaRPr lang="en-US" sz="1600" dirty="0"/>
                    </a:p>
                  </a:txBody>
                  <a:tcPr anchor="ctr"/>
                </a:tc>
              </a:tr>
              <a:tr h="4643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Sodium Sulfur</a:t>
                      </a:r>
                      <a:endParaRPr lang="en-US" sz="16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100</a:t>
                      </a:r>
                      <a:endParaRPr lang="en-US" sz="1600" dirty="0"/>
                    </a:p>
                  </a:txBody>
                  <a:tcPr anchor="ctr"/>
                </a:tc>
              </a:tr>
              <a:tr h="464302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Lithium</a:t>
                      </a:r>
                      <a:r>
                        <a:rPr lang="en-US" sz="1600" baseline="0" dirty="0" smtClean="0"/>
                        <a:t> Ion</a:t>
                      </a:r>
                      <a:endParaRPr lang="en-US" sz="1600" dirty="0"/>
                    </a:p>
                  </a:txBody>
                  <a:tcPr anchor="ctr">
                    <a:solidFill>
                      <a:srgbClr val="E6B9B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150</a:t>
                      </a:r>
                      <a:endParaRPr lang="en-US" sz="1600" dirty="0"/>
                    </a:p>
                  </a:txBody>
                  <a:tcPr anchor="ctr">
                    <a:solidFill>
                      <a:srgbClr val="E6B9B8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14647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Structures and Mechanisms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25C865-99B9-4335-8FDD-FD387DF08D14}" type="slidenum">
              <a:rPr lang="en-US" smtClean="0"/>
              <a:pPr/>
              <a:t>20</a:t>
            </a:fld>
            <a:endParaRPr lang="en-US" dirty="0"/>
          </a:p>
        </p:txBody>
      </p:sp>
      <p:pic>
        <p:nvPicPr>
          <p:cNvPr id="6146" name="Picture 2" descr="C:\Users\npandian\Desktop\FuelBot Renderings\FuelBot Renderings\Deployed, Panels Removed, Angle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350" y="1582387"/>
            <a:ext cx="8144935" cy="4581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74515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Thermal Control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25C865-99B9-4335-8FDD-FD387DF08D14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8" name="內容版面配置區 7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dirty="0" smtClean="0"/>
              <a:t>Working Environment Overview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dirty="0" smtClean="0"/>
              <a:t>Highly </a:t>
            </a:r>
            <a:r>
              <a:rPr lang="en-US" altLang="zh-TW" dirty="0" err="1" smtClean="0"/>
              <a:t>radiative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en-US" altLang="zh-TW" dirty="0"/>
              <a:t>Freezing cold &amp; crazy </a:t>
            </a:r>
            <a:r>
              <a:rPr lang="en-US" altLang="zh-TW" dirty="0" smtClean="0"/>
              <a:t>hot</a:t>
            </a:r>
          </a:p>
          <a:p>
            <a:pPr marL="514350" indent="-514350">
              <a:buFont typeface="+mj-lt"/>
              <a:buAutoNum type="arabicPeriod"/>
            </a:pPr>
            <a:endParaRPr lang="en-US" altLang="zh-TW" dirty="0" smtClean="0"/>
          </a:p>
          <a:p>
            <a:r>
              <a:rPr lang="en-US" altLang="zh-TW" dirty="0" smtClean="0"/>
              <a:t>Purpose of Thermal Control</a:t>
            </a:r>
          </a:p>
          <a:p>
            <a:pPr marL="400050" lvl="1" indent="0">
              <a:buNone/>
            </a:pPr>
            <a:r>
              <a:rPr lang="en-US" altLang="zh-TW" dirty="0"/>
              <a:t>To maintain certain temperatures within room temperature, in which most active equipment can work normally</a:t>
            </a:r>
            <a:endParaRPr lang="zh-TW" altLang="zh-TW" dirty="0"/>
          </a:p>
          <a:p>
            <a:pPr marL="514350" indent="-514350">
              <a:buFont typeface="+mj-lt"/>
              <a:buAutoNum type="arabicPeriod"/>
            </a:pPr>
            <a:endParaRPr lang="en-US" altLang="zh-TW" dirty="0" smtClean="0"/>
          </a:p>
          <a:p>
            <a:pPr marL="0" indent="0">
              <a:buNone/>
            </a:pPr>
            <a:endParaRPr lang="zh-TW" altLang="en-US" dirty="0"/>
          </a:p>
        </p:txBody>
      </p:sp>
      <p:graphicFrame>
        <p:nvGraphicFramePr>
          <p:cNvPr id="9" name="內容版面配置區 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92556352"/>
              </p:ext>
            </p:extLst>
          </p:nvPr>
        </p:nvGraphicFramePr>
        <p:xfrm>
          <a:off x="1193800" y="1371600"/>
          <a:ext cx="7696202" cy="4800601"/>
        </p:xfrm>
        <a:graphic>
          <a:graphicData uri="http://schemas.openxmlformats.org/drawingml/2006/table">
            <a:tbl>
              <a:tblPr firstRow="1" firstCol="1" bandRow="1">
                <a:tableStyleId>{9DCAF9ED-07DC-4A11-8D7F-57B35C25682E}</a:tableStyleId>
              </a:tblPr>
              <a:tblGrid>
                <a:gridCol w="2565094"/>
                <a:gridCol w="2565094"/>
                <a:gridCol w="2566014"/>
              </a:tblGrid>
              <a:tr h="738554"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 dirty="0">
                          <a:effectLst/>
                        </a:rPr>
                        <a:t>Component or subsystem</a:t>
                      </a:r>
                      <a:endParaRPr lang="zh-TW" sz="1400" kern="100" dirty="0">
                        <a:solidFill>
                          <a:srgbClr val="365F9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>
                          <a:effectLst/>
                        </a:rPr>
                        <a:t>Operating T, </a:t>
                      </a:r>
                      <a:r>
                        <a:rPr lang="zh-TW" sz="1400" kern="0">
                          <a:effectLst/>
                        </a:rPr>
                        <a:t>°</a:t>
                      </a:r>
                      <a:r>
                        <a:rPr lang="en-US" sz="1400" kern="0">
                          <a:effectLst/>
                        </a:rPr>
                        <a:t>C</a:t>
                      </a:r>
                      <a:endParaRPr lang="zh-TW" sz="1400" kern="100">
                        <a:solidFill>
                          <a:srgbClr val="365F9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 dirty="0">
                          <a:effectLst/>
                        </a:rPr>
                        <a:t>Survival T, </a:t>
                      </a:r>
                      <a:r>
                        <a:rPr lang="zh-TW" sz="1400" kern="0" dirty="0">
                          <a:effectLst/>
                        </a:rPr>
                        <a:t>°</a:t>
                      </a:r>
                      <a:r>
                        <a:rPr lang="en-US" sz="1400" kern="0" dirty="0">
                          <a:effectLst/>
                        </a:rPr>
                        <a:t>C</a:t>
                      </a:r>
                      <a:endParaRPr lang="zh-TW" sz="1400" kern="100" dirty="0">
                        <a:solidFill>
                          <a:srgbClr val="365F9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69277"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 dirty="0">
                          <a:effectLst/>
                        </a:rPr>
                        <a:t>Batteries</a:t>
                      </a:r>
                      <a:endParaRPr lang="zh-TW" sz="1400" kern="100" dirty="0">
                        <a:solidFill>
                          <a:srgbClr val="365F9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>
                          <a:effectLst/>
                        </a:rPr>
                        <a:t>10 to 20</a:t>
                      </a:r>
                      <a:endParaRPr lang="zh-TW" sz="1400" kern="100">
                        <a:solidFill>
                          <a:srgbClr val="365F9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 dirty="0">
                          <a:effectLst/>
                        </a:rPr>
                        <a:t>0 to 35</a:t>
                      </a:r>
                      <a:endParaRPr lang="zh-TW" sz="1400" kern="100" dirty="0">
                        <a:solidFill>
                          <a:srgbClr val="365F9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69277"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 dirty="0">
                          <a:effectLst/>
                        </a:rPr>
                        <a:t>Analog electronics</a:t>
                      </a:r>
                      <a:endParaRPr lang="zh-TW" sz="1400" kern="100" dirty="0">
                        <a:solidFill>
                          <a:srgbClr val="365F9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 dirty="0">
                          <a:effectLst/>
                        </a:rPr>
                        <a:t>0 to 40</a:t>
                      </a:r>
                      <a:endParaRPr lang="zh-TW" sz="1400" kern="100" dirty="0">
                        <a:solidFill>
                          <a:srgbClr val="365F9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 dirty="0">
                          <a:effectLst/>
                        </a:rPr>
                        <a:t>-20 to 70</a:t>
                      </a:r>
                      <a:endParaRPr lang="zh-TW" sz="1400" kern="100" dirty="0">
                        <a:solidFill>
                          <a:srgbClr val="365F9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69277"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>
                          <a:effectLst/>
                        </a:rPr>
                        <a:t>Digital Electronics</a:t>
                      </a:r>
                      <a:endParaRPr lang="zh-TW" sz="1400" kern="100">
                        <a:solidFill>
                          <a:srgbClr val="365F9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 dirty="0">
                          <a:effectLst/>
                        </a:rPr>
                        <a:t>0 to 50</a:t>
                      </a:r>
                      <a:endParaRPr lang="zh-TW" sz="1400" kern="100" dirty="0">
                        <a:solidFill>
                          <a:srgbClr val="365F9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 dirty="0">
                          <a:effectLst/>
                        </a:rPr>
                        <a:t>-20 to 70</a:t>
                      </a:r>
                      <a:endParaRPr lang="zh-TW" sz="1400" kern="100" dirty="0">
                        <a:solidFill>
                          <a:srgbClr val="365F9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738554"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>
                          <a:effectLst/>
                        </a:rPr>
                        <a:t>Momentum Wheels Motors</a:t>
                      </a:r>
                      <a:endParaRPr lang="zh-TW" sz="1400" kern="100">
                        <a:solidFill>
                          <a:srgbClr val="365F9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 dirty="0">
                          <a:effectLst/>
                        </a:rPr>
                        <a:t>0 to 50</a:t>
                      </a:r>
                      <a:endParaRPr lang="zh-TW" sz="1400" kern="100" dirty="0">
                        <a:solidFill>
                          <a:srgbClr val="365F9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 dirty="0">
                          <a:effectLst/>
                        </a:rPr>
                        <a:t>-20 to 70</a:t>
                      </a:r>
                      <a:endParaRPr lang="zh-TW" sz="1400" kern="100" dirty="0">
                        <a:solidFill>
                          <a:srgbClr val="365F9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69277"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>
                          <a:effectLst/>
                        </a:rPr>
                        <a:t>Solar Panels</a:t>
                      </a:r>
                      <a:endParaRPr lang="zh-TW" sz="1400" kern="100">
                        <a:solidFill>
                          <a:srgbClr val="365F9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>
                          <a:effectLst/>
                        </a:rPr>
                        <a:t>-100 to 125</a:t>
                      </a:r>
                      <a:endParaRPr lang="zh-TW" sz="1400" kern="100">
                        <a:solidFill>
                          <a:srgbClr val="365F9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 dirty="0">
                          <a:effectLst/>
                        </a:rPr>
                        <a:t>-100 to 125</a:t>
                      </a:r>
                      <a:endParaRPr lang="zh-TW" sz="1400" kern="100" dirty="0">
                        <a:solidFill>
                          <a:srgbClr val="365F9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69277"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>
                          <a:effectLst/>
                        </a:rPr>
                        <a:t>Propellant &amp; Hydrazine</a:t>
                      </a:r>
                      <a:endParaRPr lang="zh-TW" sz="1400" kern="100">
                        <a:solidFill>
                          <a:srgbClr val="365F9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>
                          <a:effectLst/>
                        </a:rPr>
                        <a:t>-45 to 65</a:t>
                      </a:r>
                      <a:endParaRPr lang="zh-TW" sz="1400" kern="100">
                        <a:solidFill>
                          <a:srgbClr val="365F9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 dirty="0">
                          <a:effectLst/>
                        </a:rPr>
                        <a:t> </a:t>
                      </a:r>
                      <a:endParaRPr lang="zh-TW" sz="1400" kern="100" dirty="0">
                        <a:solidFill>
                          <a:srgbClr val="365F9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69277"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>
                          <a:effectLst/>
                        </a:rPr>
                        <a:t>Structures</a:t>
                      </a:r>
                      <a:endParaRPr lang="zh-TW" sz="1400" kern="100">
                        <a:solidFill>
                          <a:srgbClr val="365F9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>
                          <a:effectLst/>
                        </a:rPr>
                        <a:t>-45 to 65</a:t>
                      </a:r>
                      <a:endParaRPr lang="zh-TW" sz="1400" kern="100">
                        <a:solidFill>
                          <a:srgbClr val="365F9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 dirty="0">
                          <a:effectLst/>
                        </a:rPr>
                        <a:t> </a:t>
                      </a:r>
                      <a:endParaRPr lang="zh-TW" sz="1400" kern="100" dirty="0">
                        <a:solidFill>
                          <a:srgbClr val="365F9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738554"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>
                          <a:effectLst/>
                        </a:rPr>
                        <a:t>Solid-State Particle Detectors</a:t>
                      </a:r>
                      <a:endParaRPr lang="zh-TW" sz="1400" kern="100">
                        <a:solidFill>
                          <a:srgbClr val="365F9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>
                          <a:effectLst/>
                        </a:rPr>
                        <a:t>-35 to 0</a:t>
                      </a:r>
                      <a:endParaRPr lang="zh-TW" sz="1400" kern="100">
                        <a:solidFill>
                          <a:srgbClr val="365F9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 dirty="0">
                          <a:effectLst/>
                        </a:rPr>
                        <a:t>-35 to 35</a:t>
                      </a:r>
                      <a:endParaRPr lang="zh-TW" sz="1400" kern="100" dirty="0">
                        <a:solidFill>
                          <a:srgbClr val="365F9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69277"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>
                          <a:effectLst/>
                        </a:rPr>
                        <a:t>Infrared Detectors</a:t>
                      </a:r>
                      <a:endParaRPr lang="zh-TW" sz="1400" kern="100">
                        <a:solidFill>
                          <a:srgbClr val="365F9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>
                          <a:effectLst/>
                        </a:rPr>
                        <a:t>-269 to -173</a:t>
                      </a:r>
                      <a:endParaRPr lang="zh-TW" sz="1400" kern="100">
                        <a:solidFill>
                          <a:srgbClr val="365F9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 dirty="0">
                          <a:effectLst/>
                        </a:rPr>
                        <a:t>-269 to 35</a:t>
                      </a:r>
                      <a:endParaRPr lang="zh-TW" sz="1400" kern="100" dirty="0">
                        <a:solidFill>
                          <a:srgbClr val="365F91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4237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Thermal Control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25C865-99B9-4335-8FDD-FD387DF08D14}" type="slidenum">
              <a:rPr lang="en-US" smtClean="0"/>
              <a:pPr/>
              <a:t>22</a:t>
            </a:fld>
            <a:endParaRPr lang="en-US" dirty="0"/>
          </a:p>
        </p:txBody>
      </p:sp>
      <p:graphicFrame>
        <p:nvGraphicFramePr>
          <p:cNvPr id="5" name="內容版面配置區 4"/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713671822"/>
              </p:ext>
            </p:extLst>
          </p:nvPr>
        </p:nvGraphicFramePr>
        <p:xfrm>
          <a:off x="584200" y="2057400"/>
          <a:ext cx="9067800" cy="3657600"/>
        </p:xfrm>
        <a:graphic>
          <a:graphicData uri="http://schemas.openxmlformats.org/drawingml/2006/table">
            <a:tbl>
              <a:tblPr firstRow="1" firstCol="1" bandRow="1">
                <a:tableStyleId>{9DCAF9ED-07DC-4A11-8D7F-57B35C25682E}</a:tableStyleId>
              </a:tblPr>
              <a:tblGrid>
                <a:gridCol w="2266409"/>
                <a:gridCol w="2267491"/>
                <a:gridCol w="2266409"/>
                <a:gridCol w="2267491"/>
              </a:tblGrid>
              <a:tr h="457200"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 dirty="0">
                          <a:effectLst/>
                        </a:rPr>
                        <a:t>System</a:t>
                      </a:r>
                      <a:endParaRPr lang="zh-TW" sz="1400" kern="100" dirty="0">
                        <a:solidFill>
                          <a:srgbClr val="31849B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58344" marR="5834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 dirty="0">
                          <a:effectLst/>
                        </a:rPr>
                        <a:t>Advantages</a:t>
                      </a:r>
                      <a:endParaRPr lang="zh-TW" sz="1400" kern="100" dirty="0">
                        <a:solidFill>
                          <a:srgbClr val="31849B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58344" marR="5834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 dirty="0">
                          <a:effectLst/>
                        </a:rPr>
                        <a:t>Disadvantages</a:t>
                      </a:r>
                      <a:endParaRPr lang="zh-TW" sz="1400" kern="100" dirty="0">
                        <a:solidFill>
                          <a:srgbClr val="31849B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58344" marR="58344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 dirty="0" smtClean="0">
                          <a:effectLst/>
                        </a:rPr>
                        <a:t>Facilities in </a:t>
                      </a:r>
                      <a:r>
                        <a:rPr lang="en-US" sz="1400" kern="0" dirty="0" err="1" smtClean="0">
                          <a:effectLst/>
                        </a:rPr>
                        <a:t>Fuelbot</a:t>
                      </a:r>
                      <a:endParaRPr lang="zh-TW" sz="1400" kern="100" dirty="0">
                        <a:solidFill>
                          <a:srgbClr val="31849B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58344" marR="58344" marT="0" marB="0" anchor="ctr"/>
                </a:tc>
              </a:tr>
              <a:tr h="1447800"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 dirty="0">
                          <a:effectLst/>
                        </a:rPr>
                        <a:t>PTC</a:t>
                      </a:r>
                      <a:endParaRPr lang="zh-TW" sz="1400" kern="100" dirty="0">
                        <a:solidFill>
                          <a:srgbClr val="31849B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58344" marR="58344" marT="0" marB="0" anchor="ctr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ts val="1440"/>
                        </a:lnSpc>
                        <a:spcAft>
                          <a:spcPts val="120"/>
                        </a:spcAft>
                        <a:buFont typeface="+mj-lt"/>
                        <a:buAutoNum type="arabicParenR"/>
                      </a:pPr>
                      <a:r>
                        <a:rPr lang="en-US" sz="1400" kern="0" dirty="0">
                          <a:effectLst/>
                        </a:rPr>
                        <a:t>More reliable</a:t>
                      </a:r>
                      <a:endParaRPr lang="zh-TW" sz="1400" kern="100" dirty="0">
                        <a:effectLst/>
                      </a:endParaRPr>
                    </a:p>
                    <a:p>
                      <a:pPr marL="342900" lvl="0" indent="-342900" algn="l">
                        <a:lnSpc>
                          <a:spcPts val="1440"/>
                        </a:lnSpc>
                        <a:spcAft>
                          <a:spcPts val="120"/>
                        </a:spcAft>
                        <a:buFont typeface="+mj-lt"/>
                        <a:buAutoNum type="arabicParenR"/>
                      </a:pPr>
                      <a:r>
                        <a:rPr lang="en-US" sz="1400" kern="0" dirty="0">
                          <a:effectLst/>
                        </a:rPr>
                        <a:t>Need less power</a:t>
                      </a:r>
                      <a:endParaRPr lang="zh-TW" sz="1400" kern="100" dirty="0">
                        <a:effectLst/>
                      </a:endParaRPr>
                    </a:p>
                    <a:p>
                      <a:pPr marL="342900" lvl="0" indent="-342900" algn="l">
                        <a:lnSpc>
                          <a:spcPts val="1440"/>
                        </a:lnSpc>
                        <a:spcAft>
                          <a:spcPts val="120"/>
                        </a:spcAft>
                        <a:buFont typeface="+mj-lt"/>
                        <a:buAutoNum type="arabicParenR"/>
                      </a:pPr>
                      <a:r>
                        <a:rPr lang="en-US" sz="1400" kern="0" dirty="0">
                          <a:effectLst/>
                        </a:rPr>
                        <a:t>Less expensive</a:t>
                      </a:r>
                      <a:endParaRPr lang="zh-TW" sz="1400" kern="100" dirty="0">
                        <a:solidFill>
                          <a:srgbClr val="31849B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58344" marR="58344" marT="0" marB="0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 dirty="0">
                          <a:effectLst/>
                        </a:rPr>
                        <a:t> </a:t>
                      </a:r>
                      <a:endParaRPr lang="zh-TW" sz="1400" kern="100" dirty="0">
                        <a:solidFill>
                          <a:srgbClr val="31849B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58344" marR="58344" marT="0" marB="0" anchor="ctr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ts val="1440"/>
                        </a:lnSpc>
                        <a:spcAft>
                          <a:spcPts val="120"/>
                        </a:spcAft>
                        <a:buFont typeface="+mj-lt"/>
                        <a:buAutoNum type="arabicParenR"/>
                      </a:pPr>
                      <a:r>
                        <a:rPr lang="en-US" altLang="zh-TW" sz="1400" u="none" strike="noStrike" kern="1200" dirty="0" smtClean="0">
                          <a:effectLst/>
                        </a:rPr>
                        <a:t>Multi-Layer insulation</a:t>
                      </a:r>
                    </a:p>
                    <a:p>
                      <a:pPr marL="342900" lvl="0" indent="-342900" algn="l">
                        <a:lnSpc>
                          <a:spcPts val="1440"/>
                        </a:lnSpc>
                        <a:spcAft>
                          <a:spcPts val="120"/>
                        </a:spcAft>
                        <a:buFont typeface="+mj-lt"/>
                        <a:buAutoNum type="arabicParenR"/>
                      </a:pPr>
                      <a:r>
                        <a:rPr lang="en-US" altLang="zh-TW" sz="1400" u="none" strike="noStrike" kern="1200" dirty="0" smtClean="0">
                          <a:effectLst/>
                        </a:rPr>
                        <a:t>Conduction paths</a:t>
                      </a:r>
                    </a:p>
                    <a:p>
                      <a:pPr marL="342900" lvl="0" indent="-342900" algn="l">
                        <a:lnSpc>
                          <a:spcPts val="1440"/>
                        </a:lnSpc>
                        <a:spcAft>
                          <a:spcPts val="120"/>
                        </a:spcAft>
                        <a:buFont typeface="+mj-lt"/>
                        <a:buAutoNum type="arabicParenR"/>
                      </a:pPr>
                      <a:r>
                        <a:rPr lang="en-US" altLang="zh-TW" sz="1400" u="none" strike="noStrike" kern="1200" dirty="0" smtClean="0">
                          <a:effectLst/>
                        </a:rPr>
                        <a:t>Heat pipes</a:t>
                      </a:r>
                    </a:p>
                    <a:p>
                      <a:pPr marL="342900" lvl="0" indent="-342900" algn="l">
                        <a:lnSpc>
                          <a:spcPts val="1440"/>
                        </a:lnSpc>
                        <a:spcAft>
                          <a:spcPts val="120"/>
                        </a:spcAft>
                        <a:buFont typeface="+mj-lt"/>
                        <a:buAutoNum type="arabicParenR"/>
                      </a:pPr>
                      <a:r>
                        <a:rPr lang="en-US" altLang="zh-TW" sz="1400" u="none" strike="noStrike" kern="1200" dirty="0" smtClean="0">
                          <a:effectLst/>
                        </a:rPr>
                        <a:t>Heat sensors</a:t>
                      </a:r>
                      <a:endParaRPr lang="zh-TW" sz="1400" kern="100" dirty="0">
                        <a:solidFill>
                          <a:srgbClr val="31849B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58344" marR="58344" marT="0" marB="0" anchor="ctr"/>
                </a:tc>
              </a:tr>
              <a:tr h="1752600">
                <a:tc>
                  <a:txBody>
                    <a:bodyPr/>
                    <a:lstStyle/>
                    <a:p>
                      <a:pPr algn="ctr">
                        <a:lnSpc>
                          <a:spcPts val="1440"/>
                        </a:lnSpc>
                        <a:spcAft>
                          <a:spcPts val="120"/>
                        </a:spcAft>
                      </a:pPr>
                      <a:r>
                        <a:rPr lang="en-US" sz="1400" kern="0" dirty="0">
                          <a:effectLst/>
                        </a:rPr>
                        <a:t>ATC</a:t>
                      </a:r>
                      <a:endParaRPr lang="zh-TW" sz="1400" kern="100" dirty="0">
                        <a:solidFill>
                          <a:srgbClr val="31849B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58344" marR="58344" marT="0" marB="0" anchor="ctr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ts val="1440"/>
                        </a:lnSpc>
                        <a:spcAft>
                          <a:spcPts val="120"/>
                        </a:spcAft>
                        <a:buFont typeface="+mj-lt"/>
                        <a:buAutoNum type="arabicParenR"/>
                      </a:pPr>
                      <a:r>
                        <a:rPr lang="en-US" sz="1400" kern="0" dirty="0">
                          <a:effectLst/>
                        </a:rPr>
                        <a:t>More suitable for temperature-sensitive </a:t>
                      </a:r>
                      <a:r>
                        <a:rPr lang="en-US" sz="1400" kern="0" dirty="0" smtClean="0">
                          <a:effectLst/>
                        </a:rPr>
                        <a:t>equipment</a:t>
                      </a:r>
                      <a:endParaRPr lang="zh-TW" sz="1400" kern="100" dirty="0">
                        <a:solidFill>
                          <a:srgbClr val="31849B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58344" marR="58344" marT="0" marB="0" anchor="ctr"/>
                </a:tc>
                <a:tc>
                  <a:txBody>
                    <a:bodyPr/>
                    <a:lstStyle/>
                    <a:p>
                      <a:pPr marL="342900" lvl="0" indent="-342900" algn="l">
                        <a:lnSpc>
                          <a:spcPts val="1440"/>
                        </a:lnSpc>
                        <a:spcAft>
                          <a:spcPts val="120"/>
                        </a:spcAft>
                        <a:buFont typeface="+mj-lt"/>
                        <a:buAutoNum type="arabicParenR"/>
                      </a:pPr>
                      <a:r>
                        <a:rPr lang="en-US" sz="1400" kern="0" dirty="0">
                          <a:effectLst/>
                        </a:rPr>
                        <a:t>Generally more complex</a:t>
                      </a:r>
                      <a:endParaRPr lang="zh-TW" sz="1400" kern="100" dirty="0">
                        <a:effectLst/>
                      </a:endParaRPr>
                    </a:p>
                    <a:p>
                      <a:pPr marL="342900" lvl="0" indent="-342900" algn="l">
                        <a:lnSpc>
                          <a:spcPts val="1440"/>
                        </a:lnSpc>
                        <a:spcAft>
                          <a:spcPts val="120"/>
                        </a:spcAft>
                        <a:buFont typeface="+mj-lt"/>
                        <a:buAutoNum type="arabicParenR"/>
                      </a:pPr>
                      <a:r>
                        <a:rPr lang="en-US" sz="1400" kern="0" dirty="0">
                          <a:effectLst/>
                        </a:rPr>
                        <a:t>Often heavier</a:t>
                      </a:r>
                      <a:endParaRPr lang="zh-TW" sz="1400" kern="100" dirty="0">
                        <a:effectLst/>
                      </a:endParaRPr>
                    </a:p>
                    <a:p>
                      <a:pPr marL="342900" lvl="0" indent="-342900" algn="l">
                        <a:lnSpc>
                          <a:spcPts val="1440"/>
                        </a:lnSpc>
                        <a:spcAft>
                          <a:spcPts val="120"/>
                        </a:spcAft>
                        <a:buFont typeface="+mj-lt"/>
                        <a:buAutoNum type="arabicParenR"/>
                      </a:pPr>
                      <a:r>
                        <a:rPr lang="en-US" sz="1400" kern="0" dirty="0">
                          <a:effectLst/>
                        </a:rPr>
                        <a:t>Consuming power</a:t>
                      </a:r>
                      <a:endParaRPr lang="zh-TW" sz="1400" kern="100" dirty="0">
                        <a:effectLst/>
                      </a:endParaRPr>
                    </a:p>
                    <a:p>
                      <a:pPr marL="342900" lvl="0" indent="-342900" algn="l">
                        <a:lnSpc>
                          <a:spcPts val="1440"/>
                        </a:lnSpc>
                        <a:spcAft>
                          <a:spcPts val="120"/>
                        </a:spcAft>
                        <a:buFont typeface="+mj-lt"/>
                        <a:buAutoNum type="arabicParenR"/>
                      </a:pPr>
                      <a:r>
                        <a:rPr lang="en-US" sz="1400" kern="0" dirty="0">
                          <a:effectLst/>
                        </a:rPr>
                        <a:t>May need telemetry resources</a:t>
                      </a:r>
                      <a:endParaRPr lang="zh-TW" sz="1400" kern="100" dirty="0">
                        <a:solidFill>
                          <a:srgbClr val="31849B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58344" marR="58344" marT="0" marB="0" anchor="ctr"/>
                </a:tc>
                <a:tc>
                  <a:txBody>
                    <a:bodyPr/>
                    <a:lstStyle/>
                    <a:p>
                      <a:pPr marL="0" lvl="0" indent="0" algn="l">
                        <a:lnSpc>
                          <a:spcPts val="1440"/>
                        </a:lnSpc>
                        <a:spcAft>
                          <a:spcPts val="120"/>
                        </a:spcAft>
                        <a:buFont typeface="+mj-lt"/>
                        <a:buNone/>
                      </a:pPr>
                      <a:endParaRPr lang="zh-TW" sz="1400" kern="100" dirty="0">
                        <a:solidFill>
                          <a:srgbClr val="31849B"/>
                        </a:solidFill>
                        <a:effectLst/>
                        <a:latin typeface="Calibri"/>
                        <a:ea typeface="新細明體"/>
                        <a:cs typeface="Times New Roman"/>
                      </a:endParaRPr>
                    </a:p>
                  </a:txBody>
                  <a:tcPr marL="58344" marR="58344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45056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r>
              <a:rPr lang="en-US" altLang="zh-TW" b="1" dirty="0" smtClean="0"/>
              <a:t>OSCAR--</a:t>
            </a:r>
          </a:p>
          <a:p>
            <a:pPr marL="400050" lvl="1" indent="0">
              <a:buNone/>
            </a:pPr>
            <a:r>
              <a:rPr lang="en-US" altLang="zh-TW" b="1" dirty="0" smtClean="0"/>
              <a:t>Compact</a:t>
            </a:r>
            <a:r>
              <a:rPr lang="en-US" altLang="zh-TW" b="1" dirty="0"/>
              <a:t>, powerful and versatile On </a:t>
            </a:r>
            <a:r>
              <a:rPr lang="en-US" altLang="zh-TW" b="1" dirty="0" smtClean="0"/>
              <a:t>Board Computer </a:t>
            </a:r>
            <a:r>
              <a:rPr lang="en-US" altLang="zh-TW" b="1" dirty="0"/>
              <a:t>based on LEON3 core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On-Board Processing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25C865-99B9-4335-8FDD-FD387DF08D14}" type="slidenum">
              <a:rPr lang="en-US" smtClean="0"/>
              <a:pPr/>
              <a:t>23</a:t>
            </a:fld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800" y="3298902"/>
            <a:ext cx="4796465" cy="304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7254" y="3249168"/>
            <a:ext cx="2645452" cy="3361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字方塊 4"/>
          <p:cNvSpPr txBox="1"/>
          <p:nvPr/>
        </p:nvSpPr>
        <p:spPr>
          <a:xfrm>
            <a:off x="1554355" y="6404516"/>
            <a:ext cx="31623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400" dirty="0" smtClean="0"/>
              <a:t>Picture courtesy: </a:t>
            </a:r>
            <a:r>
              <a:rPr lang="en-US" altLang="zh-TW" sz="1400" dirty="0" err="1" smtClean="0"/>
              <a:t>Astrium</a:t>
            </a:r>
            <a:endParaRPr lang="zh-TW" altLang="en-US" sz="1400" dirty="0"/>
          </a:p>
        </p:txBody>
      </p:sp>
    </p:spTree>
    <p:extLst>
      <p:ext uri="{BB962C8B-B14F-4D97-AF65-F5344CB8AC3E}">
        <p14:creationId xmlns:p14="http://schemas.microsoft.com/office/powerpoint/2010/main" val="5970399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TT&amp;C and Communications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25C865-99B9-4335-8FDD-FD387DF08D14}" type="slidenum">
              <a:rPr lang="en-US" smtClean="0"/>
              <a:pPr/>
              <a:t>24</a:t>
            </a:fld>
            <a:endParaRPr lang="en-US" dirty="0"/>
          </a:p>
        </p:txBody>
      </p:sp>
      <p:pic>
        <p:nvPicPr>
          <p:cNvPr id="1026" name="Picture 2" descr="C:\Users\GYU\Dropbox\The Spacebots\Kim's Final Works\Final Paper - TTC Model - CXS-610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172" y="2856131"/>
            <a:ext cx="2362200" cy="2329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5334435"/>
              </p:ext>
            </p:extLst>
          </p:nvPr>
        </p:nvGraphicFramePr>
        <p:xfrm>
          <a:off x="4470400" y="2209805"/>
          <a:ext cx="5410200" cy="417785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98459"/>
                <a:gridCol w="2311741"/>
              </a:tblGrid>
              <a:tr h="457195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2000" b="1" u="none" strike="noStrike" dirty="0">
                          <a:effectLst/>
                        </a:rPr>
                        <a:t>Specification of </a:t>
                      </a:r>
                      <a:r>
                        <a:rPr lang="en-US" sz="2000" b="1" u="none" strike="noStrike" dirty="0" smtClean="0">
                          <a:effectLst/>
                        </a:rPr>
                        <a:t>CXS-610</a:t>
                      </a:r>
                      <a:endParaRPr lang="en-US" sz="20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09539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Receiver/Demodulator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274320" marR="2743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0953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Receive frequency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274320" marR="2743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2.025 ~ 2.120 GHz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9539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Transmitter/Baseband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274320" marR="2743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0953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Transmit frequency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274320" marR="2743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2.200 ~ 2.300 GHz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9539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Power Requirements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274320" marR="2743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15730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Input voltage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274320" marR="2743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+28 VDC or +70 VDC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953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 smtClean="0">
                          <a:effectLst/>
                        </a:rPr>
                        <a:t>Max</a:t>
                      </a:r>
                      <a:r>
                        <a:rPr lang="en-US" sz="1600" u="none" strike="noStrike" baseline="0" dirty="0" smtClean="0">
                          <a:effectLst/>
                        </a:rPr>
                        <a:t> Power </a:t>
                      </a:r>
                      <a:r>
                        <a:rPr lang="en-US" sz="1600" u="none" strike="noStrike" dirty="0" smtClean="0">
                          <a:effectLst/>
                        </a:rPr>
                        <a:t>Transmitter </a:t>
                      </a:r>
                      <a:r>
                        <a:rPr lang="en-US" sz="1600" u="none" strike="noStrike" dirty="0">
                          <a:effectLst/>
                        </a:rPr>
                        <a:t>(max)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274320" marR="2743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35 W 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9539">
                <a:tc>
                  <a:txBody>
                    <a:bodyPr/>
                    <a:lstStyle/>
                    <a:p>
                      <a:pPr algn="l" fontAlgn="b"/>
                      <a:r>
                        <a:rPr lang="en-US" altLang="ko-KR" sz="1600" u="none" strike="noStrike" dirty="0" smtClean="0">
                          <a:effectLst/>
                        </a:rPr>
                        <a:t>Max</a:t>
                      </a:r>
                      <a:r>
                        <a:rPr lang="en-US" altLang="ko-KR" sz="1600" u="none" strike="noStrike" baseline="0" dirty="0" smtClean="0">
                          <a:effectLst/>
                        </a:rPr>
                        <a:t> Power </a:t>
                      </a:r>
                      <a:r>
                        <a:rPr lang="en-US" sz="1600" u="none" strike="noStrike" dirty="0" smtClean="0">
                          <a:effectLst/>
                        </a:rPr>
                        <a:t>Receiver </a:t>
                      </a:r>
                      <a:r>
                        <a:rPr lang="en-US" sz="1600" u="none" strike="noStrike" dirty="0">
                          <a:effectLst/>
                        </a:rPr>
                        <a:t>(max)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274320" marR="2743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5.5 W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953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Over/Reverse voltage 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274320" marR="2743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Provided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9539">
                <a:tc gridSpan="2"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General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274320" marR="2743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</a:tr>
              <a:tr h="30953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Dimensions (mm)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274320" marR="2743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l-PL" sz="1600" u="none" strike="noStrike" dirty="0">
                          <a:effectLst/>
                        </a:rPr>
                        <a:t>1397 L x 2235 W x 782 H</a:t>
                      </a:r>
                      <a:endParaRPr lang="pl-PL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09539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u="none" strike="noStrike" dirty="0">
                          <a:effectLst/>
                        </a:rPr>
                        <a:t>Weight (max)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274320" marR="2743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u="none" strike="noStrike" dirty="0">
                          <a:effectLst/>
                        </a:rPr>
                        <a:t>2.63 kg</a:t>
                      </a:r>
                      <a:endParaRPr lang="en-US" sz="1600" b="1" i="0" u="none" strike="noStrike" dirty="0">
                        <a:solidFill>
                          <a:srgbClr val="000000"/>
                        </a:solidFill>
                        <a:effectLst/>
                        <a:latin typeface="Times New Roman"/>
                      </a:endParaRPr>
                    </a:p>
                  </a:txBody>
                  <a:tcPr marL="27432" marR="27432" marT="27432" marB="2743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55600" y="1271396"/>
            <a:ext cx="7772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accent2">
                    <a:lumMod val="50000"/>
                  </a:schemeClr>
                </a:solidFill>
              </a:rPr>
              <a:t>Telemetry, Tracking, and </a:t>
            </a:r>
            <a:r>
              <a:rPr lang="en-US" altLang="ko-KR" sz="2800" b="1" dirty="0" smtClean="0">
                <a:solidFill>
                  <a:schemeClr val="accent2">
                    <a:lumMod val="50000"/>
                  </a:schemeClr>
                </a:solidFill>
              </a:rPr>
              <a:t>Command (TT&amp;C)</a:t>
            </a:r>
            <a:endParaRPr lang="en-US" sz="2800" b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77371" y="2209800"/>
            <a:ext cx="44958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smtClean="0">
                <a:solidFill>
                  <a:schemeClr val="accent2">
                    <a:lumMod val="50000"/>
                  </a:schemeClr>
                </a:solidFill>
              </a:rPr>
              <a:t>Universal 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</a:rPr>
              <a:t>TT&amp;C </a:t>
            </a:r>
            <a:r>
              <a:rPr lang="en-US" altLang="ko-KR" sz="2000" dirty="0" smtClean="0">
                <a:solidFill>
                  <a:schemeClr val="accent2">
                    <a:lumMod val="50000"/>
                  </a:schemeClr>
                </a:solidFill>
              </a:rPr>
              <a:t>model CXS-610 </a:t>
            </a:r>
          </a:p>
          <a:p>
            <a:r>
              <a:rPr lang="en-US" altLang="ko-KR" sz="2000" dirty="0" smtClean="0">
                <a:solidFill>
                  <a:schemeClr val="accent2">
                    <a:lumMod val="50000"/>
                  </a:schemeClr>
                </a:solidFill>
              </a:rPr>
              <a:t>L-3 Telemetry-West</a:t>
            </a:r>
            <a:endParaRPr lang="en-US" sz="2000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9142" y="5116237"/>
            <a:ext cx="44958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sz="2000" dirty="0" smtClean="0">
                <a:solidFill>
                  <a:schemeClr val="accent2">
                    <a:lumMod val="50000"/>
                  </a:schemeClr>
                </a:solidFill>
              </a:rPr>
              <a:t>- Flight-proven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</a:rPr>
              <a:t>; over </a:t>
            </a:r>
            <a:r>
              <a:rPr lang="en-US" altLang="ko-KR" sz="2000" dirty="0" smtClean="0">
                <a:solidFill>
                  <a:schemeClr val="accent2">
                    <a:lumMod val="50000"/>
                  </a:schemeClr>
                </a:solidFill>
              </a:rPr>
              <a:t>300,000-hours</a:t>
            </a:r>
          </a:p>
          <a:p>
            <a:pPr latinLnBrk="1"/>
            <a:r>
              <a:rPr lang="en-US" altLang="ko-KR" sz="2000" dirty="0" smtClean="0">
                <a:solidFill>
                  <a:schemeClr val="accent2">
                    <a:lumMod val="50000"/>
                  </a:schemeClr>
                </a:solidFill>
              </a:rPr>
              <a:t>- High-reliability; 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</a:rPr>
              <a:t>15-year </a:t>
            </a:r>
            <a:r>
              <a:rPr lang="en-US" altLang="ko-KR" sz="2000" dirty="0" smtClean="0">
                <a:solidFill>
                  <a:schemeClr val="accent2">
                    <a:lumMod val="50000"/>
                  </a:schemeClr>
                </a:solidFill>
              </a:rPr>
              <a:t>life</a:t>
            </a:r>
          </a:p>
          <a:p>
            <a:pPr latinLnBrk="1"/>
            <a:r>
              <a:rPr lang="en-US" altLang="ko-KR" sz="2000" dirty="0" smtClean="0">
                <a:solidFill>
                  <a:schemeClr val="accent2">
                    <a:lumMod val="50000"/>
                  </a:schemeClr>
                </a:solidFill>
              </a:rPr>
              <a:t>- NASA, ESA and commercial</a:t>
            </a:r>
          </a:p>
          <a:p>
            <a:pPr latinLnBrk="1"/>
            <a:r>
              <a:rPr lang="en-US" altLang="ko-KR" sz="2000" dirty="0" smtClean="0">
                <a:solidFill>
                  <a:schemeClr val="accent2">
                    <a:lumMod val="50000"/>
                  </a:schemeClr>
                </a:solidFill>
              </a:rPr>
              <a:t>- Communication function</a:t>
            </a:r>
            <a:endParaRPr lang="ko-KR" altLang="ko-KR" sz="2000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29169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TT&amp;C and Communications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25C865-99B9-4335-8FDD-FD387DF08D14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355600" y="1828800"/>
            <a:ext cx="92964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smtClean="0">
                <a:solidFill>
                  <a:schemeClr val="accent2">
                    <a:lumMod val="50000"/>
                  </a:schemeClr>
                </a:solidFill>
              </a:rPr>
              <a:t>Coverage  	: 6,378 km (Radius)	; half-sphere 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</a:rPr>
              <a:t>of the Earth </a:t>
            </a:r>
            <a:endParaRPr lang="en-US" altLang="ko-KR" sz="2000" dirty="0" smtClean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altLang="ko-KR" sz="2000" dirty="0" smtClean="0">
                <a:solidFill>
                  <a:schemeClr val="accent2">
                    <a:lumMod val="50000"/>
                  </a:schemeClr>
                </a:solidFill>
              </a:rPr>
              <a:t>Radiation	: 36,136 km (Distance)	; graveyard 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</a:rPr>
              <a:t>orbit </a:t>
            </a:r>
            <a:endParaRPr lang="en-US" altLang="ko-KR" sz="2000" dirty="0" smtClean="0">
              <a:solidFill>
                <a:schemeClr val="accent2">
                  <a:lumMod val="50000"/>
                </a:schemeClr>
              </a:solidFill>
            </a:endParaRPr>
          </a:p>
          <a:p>
            <a:r>
              <a:rPr lang="en-US" altLang="ko-KR" sz="2000" dirty="0" smtClean="0">
                <a:solidFill>
                  <a:schemeClr val="accent2">
                    <a:lumMod val="50000"/>
                  </a:schemeClr>
                </a:solidFill>
              </a:rPr>
              <a:t>Frequency 	: 2.12 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</a:rPr>
              <a:t>GHz </a:t>
            </a:r>
            <a:r>
              <a:rPr lang="en-US" altLang="ko-KR" sz="2000" dirty="0" smtClean="0">
                <a:solidFill>
                  <a:schemeClr val="accent2">
                    <a:lumMod val="50000"/>
                  </a:schemeClr>
                </a:solidFill>
              </a:rPr>
              <a:t>/ 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</a:rPr>
              <a:t>2.30 GHz </a:t>
            </a:r>
            <a:r>
              <a:rPr lang="en-US" altLang="ko-KR" sz="2000" dirty="0" smtClean="0">
                <a:solidFill>
                  <a:schemeClr val="accent2">
                    <a:lumMod val="50000"/>
                  </a:schemeClr>
                </a:solidFill>
              </a:rPr>
              <a:t>	; uplink / downlink</a:t>
            </a:r>
          </a:p>
          <a:p>
            <a:r>
              <a:rPr lang="en-US" altLang="ko-KR" sz="2000" dirty="0" smtClean="0">
                <a:solidFill>
                  <a:schemeClr val="accent2">
                    <a:lumMod val="50000"/>
                  </a:schemeClr>
                </a:solidFill>
              </a:rPr>
              <a:t>Type 		: dual </a:t>
            </a:r>
            <a:r>
              <a:rPr lang="en-US" altLang="ko-KR" sz="2000" dirty="0">
                <a:solidFill>
                  <a:schemeClr val="accent2">
                    <a:lumMod val="50000"/>
                  </a:schemeClr>
                </a:solidFill>
              </a:rPr>
              <a:t>parabolic </a:t>
            </a:r>
            <a:r>
              <a:rPr lang="en-US" altLang="ko-KR" sz="2000" dirty="0" smtClean="0">
                <a:solidFill>
                  <a:schemeClr val="accent2">
                    <a:lumMod val="50000"/>
                  </a:schemeClr>
                </a:solidFill>
              </a:rPr>
              <a:t>antennas</a:t>
            </a:r>
            <a:endParaRPr lang="en-US" altLang="ko-KR" sz="2000" dirty="0">
              <a:solidFill>
                <a:schemeClr val="accent2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7" name="표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181432"/>
                  </p:ext>
                </p:extLst>
              </p:nvPr>
            </p:nvGraphicFramePr>
            <p:xfrm>
              <a:off x="330165" y="3411535"/>
              <a:ext cx="9499670" cy="298926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032235"/>
                    <a:gridCol w="1422200"/>
                    <a:gridCol w="3905400"/>
                    <a:gridCol w="2139835"/>
                  </a:tblGrid>
                  <a:tr h="495393">
                    <a:tc>
                      <a:txBody>
                        <a:bodyPr/>
                        <a:lstStyle/>
                        <a:p>
                          <a:pPr marL="0" marR="0" algn="ctr" latinLnBrk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ko-KR" sz="1800" kern="100" dirty="0">
                            <a:solidFill>
                              <a:schemeClr val="tx1"/>
                            </a:solidFill>
                            <a:effectLst/>
                            <a:latin typeface="맑은 고딕"/>
                            <a:ea typeface="맑은 고딕"/>
                            <a:cs typeface="Times New Roman"/>
                          </a:endParaRPr>
                        </a:p>
                      </a:txBody>
                      <a:tcPr marL="101050" marR="1010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latinLnBrk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Equations</a:t>
                          </a:r>
                          <a:endParaRPr lang="ko-KR" sz="1800" kern="100" dirty="0">
                            <a:solidFill>
                              <a:schemeClr val="tx1"/>
                            </a:solidFill>
                            <a:effectLst/>
                            <a:latin typeface="맑은 고딕"/>
                            <a:ea typeface="맑은 고딕"/>
                            <a:cs typeface="Times New Roman"/>
                          </a:endParaRPr>
                        </a:p>
                      </a:txBody>
                      <a:tcPr marL="101050" marR="1010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latinLnBrk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Parameters</a:t>
                          </a:r>
                          <a:endParaRPr lang="ko-KR" sz="1800" kern="100" dirty="0">
                            <a:solidFill>
                              <a:schemeClr val="tx1"/>
                            </a:solidFill>
                            <a:effectLst/>
                            <a:latin typeface="맑은 고딕"/>
                            <a:ea typeface="맑은 고딕"/>
                            <a:cs typeface="Times New Roman"/>
                          </a:endParaRPr>
                        </a:p>
                      </a:txBody>
                      <a:tcPr marL="101050" marR="1010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latinLnBrk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Result</a:t>
                          </a:r>
                          <a:endParaRPr lang="ko-KR" sz="1800" kern="100" dirty="0">
                            <a:solidFill>
                              <a:schemeClr val="tx1"/>
                            </a:solidFill>
                            <a:effectLst/>
                            <a:latin typeface="맑은 고딕"/>
                            <a:ea typeface="맑은 고딕"/>
                            <a:cs typeface="Times New Roman"/>
                          </a:endParaRPr>
                        </a:p>
                      </a:txBody>
                      <a:tcPr marL="101050" marR="1010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815254">
                    <a:tc>
                      <a:txBody>
                        <a:bodyPr/>
                        <a:lstStyle/>
                        <a:p>
                          <a:pPr marL="0" marR="0" algn="ctr" latinLnBrk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kern="1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Steradian</a:t>
                          </a:r>
                          <a:endParaRPr lang="ko-KR" sz="1800" kern="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marL="0" marR="0" algn="ctr" latinLnBrk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(see App__ for definition)</a:t>
                          </a:r>
                          <a:endParaRPr lang="ko-KR" sz="1800" kern="100" dirty="0">
                            <a:solidFill>
                              <a:schemeClr val="tx1"/>
                            </a:solidFill>
                            <a:effectLst/>
                            <a:latin typeface="맑은 고딕"/>
                            <a:ea typeface="맑은 고딕"/>
                            <a:cs typeface="Times New Roman"/>
                          </a:endParaRPr>
                        </a:p>
                      </a:txBody>
                      <a:tcPr marL="101050" marR="1010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latinLnBrk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l-GR" sz="200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𝛺</m:t>
                                </m:r>
                                <m:r>
                                  <a:rPr lang="en-US" sz="20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≈</m:t>
                                </m:r>
                                <m:f>
                                  <m:fPr>
                                    <m:ctrlPr>
                                      <a:rPr lang="ko-KR" sz="200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𝐴</m:t>
                                    </m:r>
                                  </m:num>
                                  <m:den>
                                    <m:sSubSup>
                                      <m:sSubSupPr>
                                        <m:ctrlPr>
                                          <a:rPr lang="ko-KR" sz="2000" i="1" kern="1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</m:ctrlPr>
                                      </m:sSubSupPr>
                                      <m:e>
                                        <m:r>
                                          <a:rPr lang="en-US" sz="2000" kern="1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𝑅</m:t>
                                        </m:r>
                                      </m:e>
                                      <m:sub>
                                        <m:r>
                                          <a:rPr lang="en-US" sz="2000" kern="1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𝑚𝑎𝑥</m:t>
                                        </m:r>
                                      </m:sub>
                                      <m:sup>
                                        <m:r>
                                          <a:rPr lang="en-US" sz="2000" kern="100">
                                            <a:solidFill>
                                              <a:schemeClr val="tx1"/>
                                            </a:solidFill>
                                            <a:effectLst/>
                                            <a:latin typeface="Cambria Math"/>
                                          </a:rPr>
                                          <m:t>2</m:t>
                                        </m:r>
                                      </m:sup>
                                    </m:sSubSup>
                                  </m:den>
                                </m:f>
                              </m:oMath>
                            </m:oMathPara>
                          </a14:m>
                          <a:endParaRPr lang="ko-KR" sz="2000" kern="100" dirty="0">
                            <a:solidFill>
                              <a:schemeClr val="tx1"/>
                            </a:solidFill>
                            <a:effectLst/>
                            <a:latin typeface="맑은 고딕"/>
                            <a:ea typeface="맑은 고딕"/>
                            <a:cs typeface="Times New Roman"/>
                          </a:endParaRPr>
                        </a:p>
                      </a:txBody>
                      <a:tcPr marL="101050" marR="1010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𝐴</m:t>
                                </m:r>
                                <m:r>
                                  <a:rPr lang="en-US" sz="150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50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𝑒𝑓𝑓𝑒𝑐𝑡𝑖𝑣𝑒</m:t>
                                </m:r>
                                <m:r>
                                  <a:rPr lang="en-US" sz="150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sz="150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𝑟𝑒𝑐𝑒𝑖𝑣𝑖𝑛𝑔</m:t>
                                </m:r>
                                <m:r>
                                  <a:rPr lang="en-US" sz="150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sz="150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𝑎𝑟𝑒𝑎</m:t>
                                </m:r>
                              </m:oMath>
                            </m:oMathPara>
                          </a14:m>
                          <a:endParaRPr lang="ko-KR" sz="1500" kern="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marL="0" marR="0" algn="l" latinLnBrk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sz="120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2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𝑅</m:t>
                                    </m:r>
                                  </m:e>
                                  <m:sub>
                                    <m:r>
                                      <a:rPr lang="en-US" sz="12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𝑚𝑎𝑥</m:t>
                                    </m:r>
                                  </m:sub>
                                </m:sSub>
                                <m:r>
                                  <a:rPr lang="en-US" sz="12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2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𝑑𝑖𝑠𝑡𝑎𝑛𝑐𝑒</m:t>
                                </m:r>
                                <m:r>
                                  <a:rPr lang="en-US" sz="12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sz="12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𝑡𝑜</m:t>
                                </m:r>
                                <m:r>
                                  <a:rPr lang="en-US" sz="12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sz="12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𝑔𝑟𝑎𝑣𝑒𝑦𝑎𝑟𝑑</m:t>
                                </m:r>
                                <m:r>
                                  <a:rPr lang="en-US" sz="12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sz="12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𝑜𝑟𝑏𝑖𝑡</m:t>
                                </m:r>
                                <m:r>
                                  <a:rPr lang="en-US" sz="12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sz="12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𝑓𝑟𝑜𝑚</m:t>
                                </m:r>
                                <m:r>
                                  <a:rPr lang="en-US" sz="12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sz="12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𝑡h𝑒</m:t>
                                </m:r>
                                <m:r>
                                  <a:rPr lang="en-US" sz="12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sz="12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𝐸𝑎𝑟𝑡h</m:t>
                                </m:r>
                              </m:oMath>
                            </m:oMathPara>
                          </a14:m>
                          <a:endParaRPr lang="ko-KR" sz="1500" kern="100" dirty="0">
                            <a:solidFill>
                              <a:schemeClr val="tx1"/>
                            </a:solidFill>
                            <a:effectLst/>
                            <a:latin typeface="맑은 고딕"/>
                            <a:ea typeface="맑은 고딕"/>
                            <a:cs typeface="Times New Roman"/>
                          </a:endParaRPr>
                        </a:p>
                      </a:txBody>
                      <a:tcPr marL="101050" marR="1010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latinLnBrk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0.0979 </a:t>
                          </a:r>
                          <a:r>
                            <a:rPr lang="en-US" sz="2400" kern="1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sr</a:t>
                          </a:r>
                          <a:endParaRPr lang="ko-KR" sz="2400" kern="100" dirty="0">
                            <a:solidFill>
                              <a:schemeClr val="tx1"/>
                            </a:solidFill>
                            <a:effectLst/>
                            <a:latin typeface="맑은 고딕"/>
                            <a:ea typeface="맑은 고딕"/>
                            <a:cs typeface="Times New Roman"/>
                          </a:endParaRPr>
                        </a:p>
                      </a:txBody>
                      <a:tcPr marL="101050" marR="1010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815254">
                    <a:tc>
                      <a:txBody>
                        <a:bodyPr/>
                        <a:lstStyle/>
                        <a:p>
                          <a:pPr marL="0" marR="0" algn="ctr" latinLnBrk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Directive Gain </a:t>
                          </a:r>
                          <a:endParaRPr lang="ko-KR" sz="1800" kern="100" dirty="0">
                            <a:solidFill>
                              <a:schemeClr val="tx1"/>
                            </a:solidFill>
                            <a:effectLst/>
                            <a:latin typeface="맑은 고딕"/>
                            <a:ea typeface="맑은 고딕"/>
                            <a:cs typeface="Times New Roman"/>
                          </a:endParaRPr>
                        </a:p>
                      </a:txBody>
                      <a:tcPr marL="101050" marR="1010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latinLnBrk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sz="200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20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20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𝑑</m:t>
                                    </m:r>
                                  </m:sub>
                                </m:sSub>
                                <m:r>
                                  <a:rPr lang="en-US" sz="20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ko-KR" sz="200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0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4</m:t>
                                    </m:r>
                                    <m:r>
                                      <a:rPr lang="en-US" sz="20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𝜋</m:t>
                                    </m:r>
                                  </m:num>
                                  <m:den>
                                    <m:r>
                                      <a:rPr lang="el-GR" sz="20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𝛺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R" sz="2000" kern="100" dirty="0">
                            <a:solidFill>
                              <a:schemeClr val="tx1"/>
                            </a:solidFill>
                            <a:effectLst/>
                            <a:latin typeface="맑은 고딕"/>
                            <a:ea typeface="맑은 고딕"/>
                            <a:cs typeface="Times New Roman"/>
                          </a:endParaRPr>
                        </a:p>
                      </a:txBody>
                      <a:tcPr marL="101050" marR="1010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 latinLnBrk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ko-KR" sz="1500" i="1" kern="100" smtClean="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5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𝐺</m:t>
                                    </m:r>
                                  </m:e>
                                  <m:sub>
                                    <m:r>
                                      <a:rPr lang="en-US" sz="15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𝑑</m:t>
                                    </m:r>
                                  </m:sub>
                                </m:sSub>
                                <m:r>
                                  <a:rPr lang="en-US" sz="15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5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𝑑𝑖𝑟𝑒𝑐𝑡𝑖𝑣𝑒</m:t>
                                </m:r>
                                <m:r>
                                  <a:rPr lang="en-US" sz="15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sz="15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𝑔𝑎𝑖𝑛</m:t>
                                </m:r>
                              </m:oMath>
                            </m:oMathPara>
                          </a14:m>
                          <a:endParaRPr lang="ko-KR" sz="1500" kern="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marL="0" marR="0" algn="l" latinLnBrk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𝛺</m:t>
                                </m:r>
                                <m:r>
                                  <a:rPr lang="en-US" sz="15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 </m:t>
                                </m:r>
                                <m:r>
                                  <a:rPr lang="en-US" sz="15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𝑠𝑡𝑒𝑟𝑎𝑑𝑖𝑎𝑛</m:t>
                                </m:r>
                                <m:r>
                                  <a:rPr lang="en-US" sz="15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 </m:t>
                                </m:r>
                                <m:r>
                                  <a:rPr lang="en-US" sz="15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𝑎𝑛𝑔𝑙𝑒</m:t>
                                </m:r>
                              </m:oMath>
                            </m:oMathPara>
                          </a14:m>
                          <a:endParaRPr lang="ko-KR" sz="1500" kern="100" dirty="0">
                            <a:solidFill>
                              <a:schemeClr val="tx1"/>
                            </a:solidFill>
                            <a:effectLst/>
                            <a:latin typeface="맑은 고딕"/>
                            <a:ea typeface="맑은 고딕"/>
                            <a:cs typeface="Times New Roman"/>
                          </a:endParaRPr>
                        </a:p>
                      </a:txBody>
                      <a:tcPr marL="101050" marR="1010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latinLnBrk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21.09 dB</a:t>
                          </a:r>
                          <a:endParaRPr lang="ko-KR" sz="2400" kern="100" dirty="0">
                            <a:solidFill>
                              <a:schemeClr val="tx1"/>
                            </a:solidFill>
                            <a:effectLst/>
                            <a:latin typeface="맑은 고딕"/>
                            <a:ea typeface="맑은 고딕"/>
                            <a:cs typeface="Times New Roman"/>
                          </a:endParaRPr>
                        </a:p>
                      </a:txBody>
                      <a:tcPr marL="101050" marR="1010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863363">
                    <a:tc>
                      <a:txBody>
                        <a:bodyPr/>
                        <a:lstStyle/>
                        <a:p>
                          <a:pPr marL="0" marR="0" algn="ctr" latinLnBrk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Antenna Diameter</a:t>
                          </a:r>
                          <a:endParaRPr lang="ko-KR" sz="1800" kern="100" dirty="0">
                            <a:solidFill>
                              <a:schemeClr val="tx1"/>
                            </a:solidFill>
                            <a:effectLst/>
                            <a:latin typeface="맑은 고딕"/>
                            <a:ea typeface="맑은 고딕"/>
                            <a:cs typeface="Times New Roman"/>
                          </a:endParaRPr>
                        </a:p>
                      </a:txBody>
                      <a:tcPr marL="101050" marR="1010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just" latinLnBrk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𝐷</m:t>
                                </m:r>
                                <m:r>
                                  <a:rPr lang="en-US" sz="200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≈1.22</m:t>
                                </m:r>
                                <m:f>
                                  <m:fPr>
                                    <m:ctrlPr>
                                      <a:rPr lang="ko-KR" sz="2000" i="1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</m:ctrlPr>
                                  </m:fPr>
                                  <m:num>
                                    <m:r>
                                      <a:rPr lang="el-GR" sz="20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𝜆</m:t>
                                    </m:r>
                                  </m:num>
                                  <m:den>
                                    <m:r>
                                      <a:rPr lang="en-US" sz="2000" kern="100">
                                        <a:solidFill>
                                          <a:schemeClr val="tx1"/>
                                        </a:solidFill>
                                        <a:effectLst/>
                                        <a:latin typeface="Cambria Math"/>
                                      </a:rPr>
                                      <m:t>𝜃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ko-KR" sz="2000" kern="100" dirty="0">
                            <a:solidFill>
                              <a:schemeClr val="tx1"/>
                            </a:solidFill>
                            <a:effectLst/>
                            <a:latin typeface="맑은 고딕"/>
                            <a:ea typeface="맑은 고딕"/>
                            <a:cs typeface="Times New Roman"/>
                          </a:endParaRPr>
                        </a:p>
                      </a:txBody>
                      <a:tcPr marL="101050" marR="1010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l" latinLnBrk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𝜆</m:t>
                                </m:r>
                                <m:r>
                                  <a:rPr lang="en-US" sz="150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500" kern="100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𝑓𝑟𝑒𝑞𝑢𝑒𝑛𝑐𝑦</m:t>
                                </m:r>
                              </m:oMath>
                            </m:oMathPara>
                          </a14:m>
                          <a:endParaRPr lang="ko-KR" sz="1500" kern="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marL="0" marR="0" algn="l" latinLnBrk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5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𝜃</m:t>
                                </m:r>
                                <m:r>
                                  <a:rPr lang="en-US" sz="15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=</m:t>
                                </m:r>
                                <m:r>
                                  <a:rPr lang="en-US" sz="1500" kern="10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𝑏𝑒𝑎𝑚𝑤𝑖𝑑𝑡h</m:t>
                                </m:r>
                              </m:oMath>
                            </m:oMathPara>
                          </a14:m>
                          <a:endParaRPr lang="ko-KR" sz="1500" kern="100" dirty="0">
                            <a:solidFill>
                              <a:schemeClr val="tx1"/>
                            </a:solidFill>
                            <a:effectLst/>
                            <a:latin typeface="맑은 고딕"/>
                            <a:ea typeface="맑은 고딕"/>
                            <a:cs typeface="Times New Roman"/>
                          </a:endParaRPr>
                        </a:p>
                      </a:txBody>
                      <a:tcPr marL="101050" marR="1010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latinLnBrk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45.05 cm</a:t>
                          </a:r>
                          <a:endParaRPr lang="ko-KR" sz="2400" b="1" kern="100" dirty="0">
                            <a:solidFill>
                              <a:schemeClr val="tx1"/>
                            </a:solidFill>
                            <a:effectLst/>
                            <a:latin typeface="맑은 고딕"/>
                            <a:ea typeface="맑은 고딕"/>
                            <a:cs typeface="Times New Roman"/>
                          </a:endParaRPr>
                        </a:p>
                      </a:txBody>
                      <a:tcPr marL="101050" marR="1010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7" name="표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98768840"/>
                  </p:ext>
                </p:extLst>
              </p:nvPr>
            </p:nvGraphicFramePr>
            <p:xfrm>
              <a:off x="330165" y="3411535"/>
              <a:ext cx="9499670" cy="2989264"/>
            </p:xfrm>
            <a:graphic>
              <a:graphicData uri="http://schemas.openxmlformats.org/drawingml/2006/table">
                <a:tbl>
                  <a:tblPr firstRow="1" firstCol="1" bandRow="1">
                    <a:tableStyleId>{5C22544A-7EE6-4342-B048-85BDC9FD1C3A}</a:tableStyleId>
                  </a:tblPr>
                  <a:tblGrid>
                    <a:gridCol w="2032235"/>
                    <a:gridCol w="1422200"/>
                    <a:gridCol w="3905400"/>
                    <a:gridCol w="2139835"/>
                  </a:tblGrid>
                  <a:tr h="495393">
                    <a:tc>
                      <a:txBody>
                        <a:bodyPr/>
                        <a:lstStyle/>
                        <a:p>
                          <a:pPr marL="0" marR="0" algn="ctr" latinLnBrk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endParaRPr lang="ko-KR" sz="1800" kern="100" dirty="0">
                            <a:solidFill>
                              <a:schemeClr val="tx1"/>
                            </a:solidFill>
                            <a:effectLst/>
                            <a:latin typeface="맑은 고딕"/>
                            <a:ea typeface="맑은 고딕"/>
                            <a:cs typeface="Times New Roman"/>
                          </a:endParaRPr>
                        </a:p>
                      </a:txBody>
                      <a:tcPr marL="101050" marR="1010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latinLnBrk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Equations</a:t>
                          </a:r>
                          <a:endParaRPr lang="ko-KR" sz="1800" kern="100" dirty="0">
                            <a:solidFill>
                              <a:schemeClr val="tx1"/>
                            </a:solidFill>
                            <a:effectLst/>
                            <a:latin typeface="맑은 고딕"/>
                            <a:ea typeface="맑은 고딕"/>
                            <a:cs typeface="Times New Roman"/>
                          </a:endParaRPr>
                        </a:p>
                      </a:txBody>
                      <a:tcPr marL="101050" marR="1010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latinLnBrk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Parameters</a:t>
                          </a:r>
                          <a:endParaRPr lang="ko-KR" sz="1800" kern="100" dirty="0">
                            <a:solidFill>
                              <a:schemeClr val="tx1"/>
                            </a:solidFill>
                            <a:effectLst/>
                            <a:latin typeface="맑은 고딕"/>
                            <a:ea typeface="맑은 고딕"/>
                            <a:cs typeface="Times New Roman"/>
                          </a:endParaRPr>
                        </a:p>
                      </a:txBody>
                      <a:tcPr marL="101050" marR="1010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latinLnBrk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Result</a:t>
                          </a:r>
                          <a:endParaRPr lang="ko-KR" sz="1800" kern="100" dirty="0">
                            <a:solidFill>
                              <a:schemeClr val="tx1"/>
                            </a:solidFill>
                            <a:effectLst/>
                            <a:latin typeface="맑은 고딕"/>
                            <a:ea typeface="맑은 고딕"/>
                            <a:cs typeface="Times New Roman"/>
                          </a:endParaRPr>
                        </a:p>
                      </a:txBody>
                      <a:tcPr marL="101050" marR="1010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chemeClr val="accent6">
                            <a:lumMod val="20000"/>
                            <a:lumOff val="80000"/>
                          </a:schemeClr>
                        </a:solidFill>
                      </a:tcPr>
                    </a:tc>
                  </a:tr>
                  <a:tr h="815254">
                    <a:tc>
                      <a:txBody>
                        <a:bodyPr/>
                        <a:lstStyle/>
                        <a:p>
                          <a:pPr marL="0" marR="0" algn="ctr" latinLnBrk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kern="1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Steradian</a:t>
                          </a:r>
                          <a:endParaRPr lang="ko-KR" sz="1800" kern="100" dirty="0">
                            <a:solidFill>
                              <a:schemeClr val="tx1"/>
                            </a:solidFill>
                            <a:effectLst/>
                          </a:endParaRPr>
                        </a:p>
                        <a:p>
                          <a:pPr marL="0" marR="0" algn="ctr" latinLnBrk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1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(see App__ for definition)</a:t>
                          </a:r>
                          <a:endParaRPr lang="ko-KR" sz="1800" kern="100" dirty="0">
                            <a:solidFill>
                              <a:schemeClr val="tx1"/>
                            </a:solidFill>
                            <a:effectLst/>
                            <a:latin typeface="맑은 고딕"/>
                            <a:ea typeface="맑은 고딕"/>
                            <a:cs typeface="Times New Roman"/>
                          </a:endParaRPr>
                        </a:p>
                      </a:txBody>
                      <a:tcPr marL="101050" marR="1010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1050" marR="1010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43348" t="-61194" r="-425751" b="-2052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1050" marR="1010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8456" t="-61194" r="-54758" b="-20522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latinLnBrk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0.0979 </a:t>
                          </a:r>
                          <a:r>
                            <a:rPr lang="en-US" sz="2400" kern="100" dirty="0" err="1">
                              <a:solidFill>
                                <a:schemeClr val="tx1"/>
                              </a:solidFill>
                              <a:effectLst/>
                            </a:rPr>
                            <a:t>sr</a:t>
                          </a:r>
                          <a:endParaRPr lang="ko-KR" sz="2400" kern="100" dirty="0">
                            <a:solidFill>
                              <a:schemeClr val="tx1"/>
                            </a:solidFill>
                            <a:effectLst/>
                            <a:latin typeface="맑은 고딕"/>
                            <a:ea typeface="맑은 고딕"/>
                            <a:cs typeface="Times New Roman"/>
                          </a:endParaRPr>
                        </a:p>
                      </a:txBody>
                      <a:tcPr marL="101050" marR="1010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815254">
                    <a:tc>
                      <a:txBody>
                        <a:bodyPr/>
                        <a:lstStyle/>
                        <a:p>
                          <a:pPr marL="0" marR="0" algn="ctr" latinLnBrk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Directive Gain </a:t>
                          </a:r>
                          <a:endParaRPr lang="ko-KR" sz="1800" kern="100" dirty="0">
                            <a:solidFill>
                              <a:schemeClr val="tx1"/>
                            </a:solidFill>
                            <a:effectLst/>
                            <a:latin typeface="맑은 고딕"/>
                            <a:ea typeface="맑은 고딕"/>
                            <a:cs typeface="Times New Roman"/>
                          </a:endParaRPr>
                        </a:p>
                      </a:txBody>
                      <a:tcPr marL="101050" marR="1010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1050" marR="1010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43348" t="-162406" r="-425751" b="-1067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1050" marR="1010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8456" t="-162406" r="-54758" b="-1067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latinLnBrk="1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21.09 dB</a:t>
                          </a:r>
                          <a:endParaRPr lang="ko-KR" sz="2400" kern="100" dirty="0">
                            <a:solidFill>
                              <a:schemeClr val="tx1"/>
                            </a:solidFill>
                            <a:effectLst/>
                            <a:latin typeface="맑은 고딕"/>
                            <a:ea typeface="맑은 고딕"/>
                            <a:cs typeface="Times New Roman"/>
                          </a:endParaRPr>
                        </a:p>
                      </a:txBody>
                      <a:tcPr marL="101050" marR="1010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863363">
                    <a:tc>
                      <a:txBody>
                        <a:bodyPr/>
                        <a:lstStyle/>
                        <a:p>
                          <a:pPr marL="0" marR="0" algn="ctr" latinLnBrk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1800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Antenna Diameter</a:t>
                          </a:r>
                          <a:endParaRPr lang="ko-KR" sz="1800" kern="100" dirty="0">
                            <a:solidFill>
                              <a:schemeClr val="tx1"/>
                            </a:solidFill>
                            <a:effectLst/>
                            <a:latin typeface="맑은 고딕"/>
                            <a:ea typeface="맑은 고딕"/>
                            <a:cs typeface="Times New Roman"/>
                          </a:endParaRPr>
                        </a:p>
                      </a:txBody>
                      <a:tcPr marL="101050" marR="1010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1050" marR="1010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143348" t="-245775" r="-42575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ko-KR"/>
                        </a:p>
                      </a:txBody>
                      <a:tcPr marL="101050" marR="1010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1">
                          <a:blip r:embed="rId3"/>
                          <a:stretch>
                            <a:fillRect l="-88456" t="-245775" r="-5475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 latinLnBrk="0">
                            <a:lnSpc>
                              <a:spcPct val="115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400" b="1" kern="100" dirty="0">
                              <a:solidFill>
                                <a:schemeClr val="tx1"/>
                              </a:solidFill>
                              <a:effectLst/>
                            </a:rPr>
                            <a:t>45.05 cm</a:t>
                          </a:r>
                          <a:endParaRPr lang="ko-KR" sz="2400" b="1" kern="100" dirty="0">
                            <a:solidFill>
                              <a:schemeClr val="tx1"/>
                            </a:solidFill>
                            <a:effectLst/>
                            <a:latin typeface="맑은 고딕"/>
                            <a:ea typeface="맑은 고딕"/>
                            <a:cs typeface="Times New Roman"/>
                          </a:endParaRPr>
                        </a:p>
                      </a:txBody>
                      <a:tcPr marL="101050" marR="101050" marT="0" marB="0" anchor="ctr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9" name="TextBox 8"/>
          <p:cNvSpPr txBox="1"/>
          <p:nvPr/>
        </p:nvSpPr>
        <p:spPr>
          <a:xfrm>
            <a:off x="355600" y="1186542"/>
            <a:ext cx="929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 dirty="0">
                <a:solidFill>
                  <a:schemeClr val="accent2">
                    <a:lumMod val="50000"/>
                  </a:schemeClr>
                </a:solidFill>
              </a:rPr>
              <a:t>Communication </a:t>
            </a:r>
            <a:r>
              <a:rPr lang="en-US" altLang="ko-KR" sz="2800" b="1" dirty="0" smtClean="0">
                <a:solidFill>
                  <a:schemeClr val="accent2">
                    <a:lumMod val="50000"/>
                  </a:schemeClr>
                </a:solidFill>
              </a:rPr>
              <a:t>Antenna</a:t>
            </a:r>
            <a:endParaRPr lang="en-US" altLang="ko-KR" sz="2800" b="1" dirty="0">
              <a:solidFill>
                <a:schemeClr val="accent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8725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Mass Estimate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25C865-99B9-4335-8FDD-FD387DF08D14}" type="slidenum">
              <a:rPr lang="en-US" smtClean="0"/>
              <a:pPr/>
              <a:t>26</a:t>
            </a:fld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315945"/>
              </p:ext>
            </p:extLst>
          </p:nvPr>
        </p:nvGraphicFramePr>
        <p:xfrm>
          <a:off x="660400" y="1295400"/>
          <a:ext cx="8839200" cy="5254624"/>
        </p:xfrm>
        <a:graphic>
          <a:graphicData uri="http://schemas.openxmlformats.org/drawingml/2006/table">
            <a:tbl>
              <a:tblPr firstRow="1" firstCol="1" bandRow="1"/>
              <a:tblGrid>
                <a:gridCol w="2064700"/>
                <a:gridCol w="830900"/>
                <a:gridCol w="1815363"/>
                <a:gridCol w="236127"/>
                <a:gridCol w="236127"/>
                <a:gridCol w="623578"/>
                <a:gridCol w="594005"/>
                <a:gridCol w="685800"/>
                <a:gridCol w="977269"/>
                <a:gridCol w="775331"/>
              </a:tblGrid>
              <a:tr h="28314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Subsystem</a:t>
                      </a:r>
                      <a:endParaRPr lang="en-US" sz="1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DB4E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Sizing Mass (kg)</a:t>
                      </a:r>
                      <a:endParaRPr lang="en-US" sz="1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D5B4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Component</a:t>
                      </a:r>
                      <a:endParaRPr lang="en-US" sz="1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E4B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Quantity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C0D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Mass per unit (kg)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7DEE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Total Component Mass (kg)</a:t>
                      </a:r>
                      <a:endParaRPr lang="en-US" sz="1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B8B7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b="1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Total Subsystem Mass (kg)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4DFEC"/>
                    </a:solidFill>
                  </a:tcPr>
                </a:tc>
              </a:tr>
              <a:tr h="124058">
                <a:tc rowSpan="5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Structure and Mechanisms</a:t>
                      </a:r>
                      <a:endParaRPr lang="en-US" sz="14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145.3</a:t>
                      </a:r>
                      <a:endParaRPr lang="en-US" sz="1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Outer Aluminum Frame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1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30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30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DE9D9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145.3</a:t>
                      </a:r>
                      <a:endParaRPr lang="en-US" sz="14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56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Attachment Mechanism Frames</a:t>
                      </a:r>
                      <a:endParaRPr lang="en-US" sz="1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2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18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36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2405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Attachment Pads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000">
                        <a:effectLst/>
                        <a:latin typeface="Calibri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4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5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20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56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Component Mounts and Fasteners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1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25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25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2405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Motors and Actuators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000">
                        <a:effectLst/>
                        <a:latin typeface="Calibri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1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34.3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34.3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5656"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Thermal Control</a:t>
                      </a:r>
                      <a:endParaRPr lang="en-US" sz="14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24.2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Multi-layer insulation (quantity given in m^2)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1.44</a:t>
                      </a:r>
                      <a:endParaRPr lang="en-US" sz="1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3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4.32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DE9D9"/>
                    </a:solidFill>
                  </a:tcPr>
                </a:tc>
                <a:tc rowSpan="3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24.32</a:t>
                      </a:r>
                      <a:endParaRPr lang="en-US" sz="14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956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Heat pipes (quantity given in m)</a:t>
                      </a:r>
                      <a:endParaRPr lang="en-US" sz="1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2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9.5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19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2405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Temperature sensors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000">
                        <a:effectLst/>
                        <a:latin typeface="Calibri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000">
                        <a:effectLst/>
                        <a:latin typeface="Calibri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4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0.25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1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24058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Power</a:t>
                      </a:r>
                      <a:endParaRPr lang="en-US" sz="14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219.2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Solar Panel</a:t>
                      </a:r>
                      <a:endParaRPr lang="en-US" sz="1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14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13.57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189.98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DE9D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245.48</a:t>
                      </a:r>
                      <a:endParaRPr lang="en-US" sz="14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405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Battery</a:t>
                      </a:r>
                      <a:endParaRPr lang="en-US" sz="1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000">
                        <a:effectLst/>
                        <a:latin typeface="Calibri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000">
                        <a:effectLst/>
                        <a:latin typeface="Calibri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50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1.11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55.5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24058"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TT&amp;C and Communication</a:t>
                      </a:r>
                      <a:endParaRPr lang="en-US" sz="14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24.2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Antenna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2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9.5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19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DE9D9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24.26</a:t>
                      </a:r>
                      <a:endParaRPr lang="en-US" sz="14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405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L-3 CXS-610 Telemetry</a:t>
                      </a:r>
                      <a:endParaRPr lang="en-US" sz="1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2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2.63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5.26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24058"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On-Board Processing</a:t>
                      </a:r>
                      <a:endParaRPr lang="en-US" sz="14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18.2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Flight computer</a:t>
                      </a:r>
                      <a:endParaRPr lang="en-US" sz="1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1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5.2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5.2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DE9D9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18.2</a:t>
                      </a:r>
                      <a:endParaRPr lang="en-US" sz="14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405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Thermal control processor</a:t>
                      </a:r>
                      <a:endParaRPr lang="en-US" sz="1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2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2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4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2405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Power management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000">
                        <a:effectLst/>
                        <a:latin typeface="Calibri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2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4.5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9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437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000">
                        <a:effectLst/>
                        <a:latin typeface="Calibri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000">
                        <a:effectLst/>
                        <a:latin typeface="Calibri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0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24058">
                <a:tc rowSpan="5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Attitude Determination, Control</a:t>
                      </a:r>
                      <a:endParaRPr lang="en-US" sz="14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36.3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Gyroscope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2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12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24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DE9D9"/>
                    </a:solidFill>
                  </a:tcPr>
                </a:tc>
                <a:tc rowSpan="5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36</a:t>
                      </a:r>
                      <a:endParaRPr lang="en-US" sz="14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405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Horizon Sensor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000">
                        <a:effectLst/>
                        <a:latin typeface="Calibri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000">
                        <a:effectLst/>
                        <a:latin typeface="Calibri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2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3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6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2405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Proximity Sensor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000">
                        <a:effectLst/>
                        <a:latin typeface="Calibri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000">
                        <a:effectLst/>
                        <a:latin typeface="Calibri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2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1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2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2405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Sun Sensor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000">
                        <a:effectLst/>
                        <a:latin typeface="Calibri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000">
                        <a:effectLst/>
                        <a:latin typeface="Calibri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2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2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4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000">
                        <a:effectLst/>
                        <a:latin typeface="Calibri"/>
                      </a:endParaRPr>
                    </a:p>
                  </a:txBody>
                  <a:tcPr marL="42534" marR="425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000">
                        <a:effectLst/>
                        <a:latin typeface="Calibri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000">
                        <a:effectLst/>
                        <a:latin typeface="Calibri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000">
                        <a:effectLst/>
                        <a:latin typeface="Calibri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 New Roman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0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24058"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Propulsion</a:t>
                      </a:r>
                      <a:endParaRPr lang="en-US" sz="14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119.6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XIPS-25 Thruster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4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13.7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54.8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DE9D9"/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119.55</a:t>
                      </a:r>
                      <a:endParaRPr lang="en-US" sz="14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4058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Connections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000">
                        <a:effectLst/>
                        <a:latin typeface="Calibri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3</a:t>
                      </a:r>
                      <a:endParaRPr lang="en-US" sz="1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2.85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8.55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195656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XIPS-25 Power Processing Unit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2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21.3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42.6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DE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6834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Composite Fuel Tank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</a:pPr>
                      <a:endParaRPr lang="en-US" sz="1000">
                        <a:effectLst/>
                        <a:latin typeface="Calibri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 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2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6.8</a:t>
                      </a:r>
                      <a:endParaRPr lang="en-US" sz="1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13.6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33974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Other</a:t>
                      </a:r>
                      <a:endParaRPr lang="en-US" sz="14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18.2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Launch vehicle attachment components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1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18.2</a:t>
                      </a:r>
                      <a:endParaRPr lang="en-US" sz="10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00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18.2</a:t>
                      </a:r>
                      <a:endParaRPr lang="en-US" sz="100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9D9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effectLst/>
                          <a:latin typeface="Times"/>
                          <a:ea typeface="Times New Roman"/>
                          <a:cs typeface="Times New Roman"/>
                        </a:rPr>
                        <a:t>18.2</a:t>
                      </a:r>
                      <a:endParaRPr lang="en-US" sz="1400" dirty="0"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42534" marR="42534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339379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Mass Estimate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25C865-99B9-4335-8FDD-FD387DF08D14}" type="slidenum">
              <a:rPr lang="en-US" smtClean="0"/>
              <a:pPr/>
              <a:t>27</a:t>
            </a:fld>
            <a:endParaRPr lang="en-US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7784608"/>
              </p:ext>
            </p:extLst>
          </p:nvPr>
        </p:nvGraphicFramePr>
        <p:xfrm>
          <a:off x="584200" y="2057400"/>
          <a:ext cx="3874770" cy="3420618"/>
        </p:xfrm>
        <a:graphic>
          <a:graphicData uri="http://schemas.openxmlformats.org/drawingml/2006/table">
            <a:tbl>
              <a:tblPr firstRow="1" firstCol="1" bandRow="1">
                <a:tableStyleId>{9DCAF9ED-07DC-4A11-8D7F-57B35C25682E}</a:tableStyleId>
              </a:tblPr>
              <a:tblGrid>
                <a:gridCol w="2293620"/>
                <a:gridCol w="1581150"/>
              </a:tblGrid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 smtClean="0">
                          <a:effectLst/>
                        </a:rPr>
                        <a:t>Subsystem</a:t>
                      </a:r>
                      <a:endParaRPr lang="en-US" sz="1600" dirty="0">
                        <a:solidFill>
                          <a:srgbClr val="365F91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Mass (kg)</a:t>
                      </a:r>
                      <a:endParaRPr lang="en-US" sz="1600" dirty="0">
                        <a:solidFill>
                          <a:srgbClr val="365F91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Structure and Mechanisms</a:t>
                      </a:r>
                      <a:endParaRPr lang="en-US" sz="1600" b="0" dirty="0">
                        <a:solidFill>
                          <a:srgbClr val="365F91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145.3</a:t>
                      </a:r>
                      <a:endParaRPr lang="en-US" sz="1600" dirty="0">
                        <a:solidFill>
                          <a:srgbClr val="365F91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Thermal Control</a:t>
                      </a:r>
                      <a:endParaRPr lang="en-US" sz="1600" b="0" dirty="0">
                        <a:solidFill>
                          <a:srgbClr val="365F91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24.32</a:t>
                      </a:r>
                      <a:endParaRPr lang="en-US" sz="1600" dirty="0">
                        <a:solidFill>
                          <a:srgbClr val="365F91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Power</a:t>
                      </a:r>
                      <a:endParaRPr lang="en-US" sz="1600" b="0" dirty="0">
                        <a:solidFill>
                          <a:srgbClr val="365F91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245.48</a:t>
                      </a:r>
                      <a:endParaRPr lang="en-US" sz="1600" dirty="0">
                        <a:solidFill>
                          <a:srgbClr val="365F91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TT&amp;C and Communication</a:t>
                      </a:r>
                      <a:endParaRPr lang="en-US" sz="1600" b="0" dirty="0">
                        <a:solidFill>
                          <a:srgbClr val="365F91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24.26</a:t>
                      </a:r>
                      <a:endParaRPr lang="en-US" sz="1600" dirty="0">
                        <a:solidFill>
                          <a:srgbClr val="365F91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On-Board Processing</a:t>
                      </a:r>
                      <a:endParaRPr lang="en-US" sz="1600" b="0" dirty="0">
                        <a:solidFill>
                          <a:srgbClr val="365F91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18.2</a:t>
                      </a:r>
                      <a:endParaRPr lang="en-US" sz="1600" dirty="0">
                        <a:solidFill>
                          <a:srgbClr val="365F91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38290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Attitude, Determination, and Control</a:t>
                      </a:r>
                      <a:endParaRPr lang="en-US" sz="1600" b="0" dirty="0">
                        <a:solidFill>
                          <a:srgbClr val="365F91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36</a:t>
                      </a:r>
                      <a:endParaRPr lang="en-US" sz="1600" dirty="0">
                        <a:solidFill>
                          <a:srgbClr val="365F91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Propulsion</a:t>
                      </a:r>
                      <a:endParaRPr lang="en-US" sz="1600" b="0" dirty="0">
                        <a:solidFill>
                          <a:srgbClr val="365F91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119.55</a:t>
                      </a:r>
                      <a:endParaRPr lang="en-US" sz="1600" dirty="0">
                        <a:solidFill>
                          <a:srgbClr val="365F91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Other</a:t>
                      </a:r>
                      <a:endParaRPr lang="en-US" sz="1600" b="0" dirty="0">
                        <a:solidFill>
                          <a:srgbClr val="365F91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18.2</a:t>
                      </a:r>
                      <a:endParaRPr lang="en-US" sz="1600" dirty="0">
                        <a:solidFill>
                          <a:srgbClr val="365F91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228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Total Dry Mass</a:t>
                      </a:r>
                      <a:endParaRPr lang="en-US" sz="1600" b="0" dirty="0">
                        <a:solidFill>
                          <a:srgbClr val="365F91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631.31</a:t>
                      </a:r>
                      <a:endParaRPr lang="en-US" sz="1600" dirty="0">
                        <a:solidFill>
                          <a:srgbClr val="365F91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743447"/>
              </p:ext>
            </p:extLst>
          </p:nvPr>
        </p:nvGraphicFramePr>
        <p:xfrm>
          <a:off x="4927600" y="2590800"/>
          <a:ext cx="4953000" cy="2286000"/>
        </p:xfrm>
        <a:graphic>
          <a:graphicData uri="http://schemas.openxmlformats.org/drawingml/2006/table">
            <a:tbl>
              <a:tblPr firstRow="1" firstCol="1" bandRow="1">
                <a:tableStyleId>{1FECB4D8-DB02-4DC6-A0A2-4F2EBAE1DC90}</a:tableStyleId>
              </a:tblPr>
              <a:tblGrid>
                <a:gridCol w="2931864"/>
                <a:gridCol w="2021136"/>
              </a:tblGrid>
              <a:tr h="435858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System</a:t>
                      </a:r>
                      <a:endParaRPr lang="en-US" sz="2000" dirty="0">
                        <a:solidFill>
                          <a:srgbClr val="365F91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Mass (kg)</a:t>
                      </a:r>
                      <a:endParaRPr lang="en-US" sz="2000" dirty="0">
                        <a:solidFill>
                          <a:srgbClr val="365F91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657407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>
                          <a:effectLst/>
                        </a:rPr>
                        <a:t>FuelBot</a:t>
                      </a:r>
                      <a:r>
                        <a:rPr lang="en-US" sz="2000" dirty="0">
                          <a:effectLst/>
                        </a:rPr>
                        <a:t> Dry Mass</a:t>
                      </a:r>
                      <a:endParaRPr lang="en-US" sz="2000" b="0" dirty="0">
                        <a:solidFill>
                          <a:srgbClr val="365F91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631.31</a:t>
                      </a:r>
                      <a:endParaRPr lang="en-US" sz="2000">
                        <a:solidFill>
                          <a:srgbClr val="365F91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58313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Xenon Propellant</a:t>
                      </a:r>
                      <a:endParaRPr lang="en-US" sz="2000" b="0" dirty="0">
                        <a:solidFill>
                          <a:srgbClr val="365F91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194.5</a:t>
                      </a:r>
                      <a:endParaRPr lang="en-US" sz="2000" dirty="0">
                        <a:solidFill>
                          <a:srgbClr val="365F91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  <a:tr h="6096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 err="1" smtClean="0">
                          <a:effectLst/>
                        </a:rPr>
                        <a:t>FuelBot</a:t>
                      </a:r>
                      <a:r>
                        <a:rPr lang="en-US" sz="2000" dirty="0" smtClean="0">
                          <a:effectLst/>
                        </a:rPr>
                        <a:t> </a:t>
                      </a:r>
                      <a:r>
                        <a:rPr lang="en-US" sz="2000" dirty="0">
                          <a:effectLst/>
                        </a:rPr>
                        <a:t>Wet Mass</a:t>
                      </a:r>
                      <a:endParaRPr lang="en-US" sz="2000" b="1" dirty="0">
                        <a:solidFill>
                          <a:srgbClr val="365F91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400" b="1" dirty="0">
                          <a:effectLst/>
                        </a:rPr>
                        <a:t>825.81</a:t>
                      </a:r>
                      <a:endParaRPr lang="en-US" sz="2400" b="1" dirty="0">
                        <a:solidFill>
                          <a:srgbClr val="365F91"/>
                        </a:solidFill>
                        <a:effectLst/>
                        <a:latin typeface="Times New Roman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21510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Cost Analysis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25C865-99B9-4335-8FDD-FD387DF08D14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660400" y="6171012"/>
            <a:ext cx="89299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atinLnBrk="1"/>
            <a:r>
              <a:rPr lang="en-US" altLang="ko-KR" i="1" dirty="0" smtClean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</a:t>
            </a:r>
            <a:r>
              <a:rPr lang="en-US" altLang="ko-KR" b="1" i="1" dirty="0" smtClean="0">
                <a:solidFill>
                  <a:schemeClr val="accent2">
                    <a:lumMod val="50000"/>
                  </a:schemeClr>
                </a:solidFill>
                <a:sym typeface="Wingdings" pitchFamily="2" charset="2"/>
              </a:rPr>
              <a:t> GREAT IMPACT </a:t>
            </a:r>
            <a:r>
              <a:rPr lang="en-US" altLang="ko-KR" b="1" i="1" dirty="0" smtClean="0">
                <a:solidFill>
                  <a:schemeClr val="accent2">
                    <a:lumMod val="50000"/>
                  </a:schemeClr>
                </a:solidFill>
              </a:rPr>
              <a:t>on the </a:t>
            </a:r>
            <a:r>
              <a:rPr lang="en-US" altLang="ko-KR" b="1" i="1" dirty="0">
                <a:solidFill>
                  <a:schemeClr val="accent2">
                    <a:lumMod val="50000"/>
                  </a:schemeClr>
                </a:solidFill>
              </a:rPr>
              <a:t>future GEO satellite </a:t>
            </a:r>
            <a:r>
              <a:rPr lang="en-US" altLang="ko-KR" b="1" i="1" dirty="0" smtClean="0">
                <a:solidFill>
                  <a:schemeClr val="accent2">
                    <a:lumMod val="50000"/>
                  </a:schemeClr>
                </a:solidFill>
              </a:rPr>
              <a:t>market</a:t>
            </a:r>
            <a:endParaRPr lang="ko-KR" altLang="ko-KR" b="1" i="1" dirty="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9" name="Content Placeholder 1"/>
          <p:cNvSpPr>
            <a:spLocks noGrp="1"/>
          </p:cNvSpPr>
          <p:nvPr>
            <p:ph sz="quarter" idx="10"/>
          </p:nvPr>
        </p:nvSpPr>
        <p:spPr>
          <a:xfrm>
            <a:off x="614440" y="1254871"/>
            <a:ext cx="9037560" cy="2237419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Methods</a:t>
            </a:r>
          </a:p>
          <a:p>
            <a:pPr lvl="1"/>
            <a:r>
              <a:rPr lang="en-US" dirty="0" smtClean="0"/>
              <a:t>Non-recurring(NR)/Recurring(T1) </a:t>
            </a:r>
            <a:r>
              <a:rPr lang="en-US" altLang="ko-KR" dirty="0"/>
              <a:t>Cost </a:t>
            </a:r>
            <a:r>
              <a:rPr lang="en-US" dirty="0" smtClean="0"/>
              <a:t>by USCM 9</a:t>
            </a:r>
            <a:endParaRPr lang="en-US" dirty="0"/>
          </a:p>
          <a:p>
            <a:pPr lvl="1"/>
            <a:r>
              <a:rPr lang="en-US" dirty="0"/>
              <a:t>Cost Improvement by </a:t>
            </a:r>
            <a:r>
              <a:rPr lang="en-US" dirty="0" smtClean="0"/>
              <a:t>0.95 Learning Rate</a:t>
            </a:r>
            <a:endParaRPr lang="en-US" dirty="0"/>
          </a:p>
          <a:p>
            <a:pPr lvl="1"/>
            <a:r>
              <a:rPr lang="en-US" dirty="0"/>
              <a:t>Cash Flow of GEO satellite operation w/ </a:t>
            </a:r>
            <a:r>
              <a:rPr lang="en-US" dirty="0" smtClean="0"/>
              <a:t>the </a:t>
            </a:r>
            <a:r>
              <a:rPr lang="en-US" dirty="0" err="1" smtClean="0"/>
              <a:t>FuelBot</a:t>
            </a:r>
            <a:endParaRPr lang="en-US" dirty="0"/>
          </a:p>
        </p:txBody>
      </p:sp>
      <p:sp>
        <p:nvSpPr>
          <p:cNvPr id="10" name="Content Placeholder 1"/>
          <p:cNvSpPr txBox="1">
            <a:spLocks/>
          </p:cNvSpPr>
          <p:nvPr/>
        </p:nvSpPr>
        <p:spPr bwMode="auto">
          <a:xfrm>
            <a:off x="614440" y="3476656"/>
            <a:ext cx="9037560" cy="24611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3200">
                <a:solidFill>
                  <a:srgbClr val="693333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800">
                <a:solidFill>
                  <a:srgbClr val="693333"/>
                </a:solidFill>
                <a:latin typeface="+mn-lt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rgbClr val="693333"/>
                </a:solidFill>
                <a:latin typeface="+mn-lt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rgbClr val="693333"/>
                </a:solidFill>
                <a:latin typeface="+mn-lt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rgbClr val="693333"/>
                </a:solidFill>
                <a:latin typeface="+mn-lt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Tx/>
              <a:buNone/>
            </a:pPr>
            <a:r>
              <a:rPr lang="en-US" b="1" dirty="0" smtClean="0"/>
              <a:t>Results</a:t>
            </a:r>
          </a:p>
          <a:p>
            <a:pPr lvl="1"/>
            <a:r>
              <a:rPr lang="en-US" b="1" u="sng" dirty="0" smtClean="0"/>
              <a:t>$ 60.29 M </a:t>
            </a:r>
            <a:r>
              <a:rPr lang="en-US" altLang="ko-KR" b="1" u="sng" dirty="0"/>
              <a:t>(NR) </a:t>
            </a:r>
            <a:r>
              <a:rPr lang="en-US" b="1" u="sng" dirty="0" smtClean="0"/>
              <a:t>/ $ </a:t>
            </a:r>
            <a:r>
              <a:rPr lang="en-US" b="1" u="sng" dirty="0"/>
              <a:t>36.25 </a:t>
            </a:r>
            <a:r>
              <a:rPr lang="en-US" b="1" u="sng" dirty="0" smtClean="0"/>
              <a:t>M </a:t>
            </a:r>
            <a:r>
              <a:rPr lang="en-US" altLang="ko-KR" b="1" u="sng" dirty="0"/>
              <a:t>(T1)</a:t>
            </a:r>
            <a:endParaRPr lang="en-US" b="1" u="sng" dirty="0"/>
          </a:p>
          <a:p>
            <a:pPr lvl="1"/>
            <a:r>
              <a:rPr lang="en-US" dirty="0"/>
              <a:t>$ 36.25 M </a:t>
            </a:r>
            <a:r>
              <a:rPr lang="en-US" dirty="0" smtClean="0"/>
              <a:t>(T1) was </a:t>
            </a:r>
            <a:r>
              <a:rPr lang="en-US" dirty="0"/>
              <a:t>reduced to </a:t>
            </a:r>
            <a:r>
              <a:rPr lang="en-US" b="1" u="sng" dirty="0"/>
              <a:t>$ 29.04 M </a:t>
            </a:r>
            <a:r>
              <a:rPr lang="en-US" dirty="0" smtClean="0"/>
              <a:t>(20 </a:t>
            </a:r>
            <a:r>
              <a:rPr lang="en-US" dirty="0" err="1" smtClean="0"/>
              <a:t>FuelBots</a:t>
            </a:r>
            <a:r>
              <a:rPr lang="en-US" dirty="0" smtClean="0"/>
              <a:t>)</a:t>
            </a:r>
            <a:endParaRPr lang="en-US" dirty="0"/>
          </a:p>
          <a:p>
            <a:pPr lvl="1"/>
            <a:r>
              <a:rPr lang="en-US" dirty="0"/>
              <a:t>Customer will earn </a:t>
            </a:r>
            <a:r>
              <a:rPr lang="en-US" b="1" u="sng" dirty="0"/>
              <a:t>$3.42 </a:t>
            </a:r>
            <a:r>
              <a:rPr lang="en-US" b="1" u="sng" dirty="0" smtClean="0"/>
              <a:t>M </a:t>
            </a:r>
          </a:p>
          <a:p>
            <a:pPr lvl="2"/>
            <a:r>
              <a:rPr lang="en-US" dirty="0" smtClean="0"/>
              <a:t>If </a:t>
            </a:r>
            <a:r>
              <a:rPr lang="en-US" dirty="0" err="1"/>
              <a:t>FuelBot</a:t>
            </a:r>
            <a:r>
              <a:rPr lang="en-US" dirty="0"/>
              <a:t> </a:t>
            </a:r>
            <a:r>
              <a:rPr lang="en-US" dirty="0" smtClean="0"/>
              <a:t>extends </a:t>
            </a:r>
            <a:r>
              <a:rPr lang="en-US" dirty="0"/>
              <a:t>5 years of life on15</a:t>
            </a:r>
            <a:r>
              <a:rPr lang="en-US" baseline="30000" dirty="0"/>
              <a:t>th</a:t>
            </a:r>
            <a:r>
              <a:rPr lang="en-US" dirty="0"/>
              <a:t> </a:t>
            </a:r>
            <a:r>
              <a:rPr lang="en-US" dirty="0" smtClean="0"/>
              <a:t>year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37842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/>
          <p:cNvSpPr>
            <a:spLocks noGrp="1"/>
          </p:cNvSpPr>
          <p:nvPr>
            <p:ph sz="quarter" idx="10"/>
          </p:nvPr>
        </p:nvSpPr>
        <p:spPr>
          <a:xfrm>
            <a:off x="1117600" y="1295400"/>
            <a:ext cx="8077200" cy="4343400"/>
          </a:xfrm>
        </p:spPr>
        <p:txBody>
          <a:bodyPr/>
          <a:lstStyle/>
          <a:p>
            <a:r>
              <a:rPr lang="en-US" dirty="0" err="1" smtClean="0"/>
              <a:t>FuelBot</a:t>
            </a:r>
            <a:r>
              <a:rPr lang="en-US" dirty="0" smtClean="0"/>
              <a:t> is a real option</a:t>
            </a:r>
          </a:p>
          <a:p>
            <a:pPr lvl="1"/>
            <a:r>
              <a:rPr lang="en-US" dirty="0" smtClean="0"/>
              <a:t>Technology</a:t>
            </a:r>
          </a:p>
          <a:p>
            <a:pPr lvl="1"/>
            <a:r>
              <a:rPr lang="en-US" dirty="0" smtClean="0"/>
              <a:t>Price/Market</a:t>
            </a:r>
            <a:endParaRPr lang="en-US" dirty="0" smtClean="0"/>
          </a:p>
          <a:p>
            <a:r>
              <a:rPr lang="en-US" dirty="0" smtClean="0"/>
              <a:t>Conservative design = mission variety</a:t>
            </a:r>
          </a:p>
          <a:p>
            <a:pPr lvl="1"/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Conclusions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25C865-99B9-4335-8FDD-FD387DF08D14}" type="slidenum">
              <a:rPr lang="en-US" smtClean="0"/>
              <a:pPr/>
              <a:t>29</a:t>
            </a:fld>
            <a:endParaRPr lang="en-US" dirty="0"/>
          </a:p>
        </p:txBody>
      </p:sp>
      <p:pic>
        <p:nvPicPr>
          <p:cNvPr id="9221" name="Picture 5" descr="C:\Users\npandian\Desktop\FuelBot Renderings\FuelBot Renderings\Attached, Angled 2.JPG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132" t="13593" r="19257" b="11781"/>
          <a:stretch/>
        </p:blipFill>
        <p:spPr bwMode="auto">
          <a:xfrm>
            <a:off x="3251200" y="3733800"/>
            <a:ext cx="4279171" cy="26966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19620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u="sng" dirty="0" smtClean="0"/>
              <a:t>Greater cooperation can revolutionize GEO</a:t>
            </a:r>
          </a:p>
          <a:p>
            <a:r>
              <a:rPr lang="en-US" dirty="0" smtClean="0"/>
              <a:t>Satellite manufacture industry participation:</a:t>
            </a:r>
          </a:p>
          <a:p>
            <a:pPr lvl="1"/>
            <a:r>
              <a:rPr lang="en-US" dirty="0" smtClean="0"/>
              <a:t>Universal xenon fuel transfer</a:t>
            </a:r>
          </a:p>
          <a:p>
            <a:pPr lvl="1"/>
            <a:r>
              <a:rPr lang="en-US" dirty="0" smtClean="0"/>
              <a:t>Design changes for rendezvous</a:t>
            </a:r>
          </a:p>
          <a:p>
            <a:pPr lvl="1"/>
            <a:r>
              <a:rPr lang="en-US" dirty="0" smtClean="0"/>
              <a:t>Improved inter-satellite </a:t>
            </a:r>
            <a:r>
              <a:rPr lang="en-US" dirty="0" err="1" smtClean="0"/>
              <a:t>comms</a:t>
            </a:r>
            <a:endParaRPr lang="en-US" dirty="0" smtClean="0"/>
          </a:p>
          <a:p>
            <a:pPr lvl="1"/>
            <a:r>
              <a:rPr lang="en-US" dirty="0" smtClean="0"/>
              <a:t>Improved high-earth sat tracking = denser GEO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Recommendations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25C865-99B9-4335-8FDD-FD387DF08D14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47879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Questions?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25C865-99B9-4335-8FDD-FD387DF08D14}" type="slidenum">
              <a:rPr lang="en-US" smtClean="0"/>
              <a:pPr/>
              <a:t>31</a:t>
            </a:fld>
            <a:endParaRPr lang="en-US" dirty="0"/>
          </a:p>
        </p:txBody>
      </p:sp>
      <p:pic>
        <p:nvPicPr>
          <p:cNvPr id="4098" name="Picture 2" descr="C:\Users\npandian\Desktop\FuelBot Renderings\FuelBot Renderings\Attached, With Space Background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4218" y="1295400"/>
            <a:ext cx="8940798" cy="502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399425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Content Placeholder 6"/>
          <p:cNvGraphicFramePr>
            <a:graphicFrameLocks noGrp="1"/>
          </p:cNvGraphicFramePr>
          <p:nvPr>
            <p:ph sz="quarter" idx="10"/>
            <p:extLst>
              <p:ext uri="{D42A27DB-BD31-4B8C-83A1-F6EECF244321}">
                <p14:modId xmlns:p14="http://schemas.microsoft.com/office/powerpoint/2010/main" val="2992634785"/>
              </p:ext>
            </p:extLst>
          </p:nvPr>
        </p:nvGraphicFramePr>
        <p:xfrm>
          <a:off x="812800" y="3657600"/>
          <a:ext cx="8534400" cy="2819400"/>
        </p:xfrm>
        <a:graphic>
          <a:graphicData uri="http://schemas.openxmlformats.org/drawingml/2006/table">
            <a:tbl>
              <a:tblPr firstRow="1" firstCol="1" bandRow="1">
                <a:tableStyleId>{5940675A-B579-460E-94D1-54222C63F5DA}</a:tableStyleId>
              </a:tblPr>
              <a:tblGrid>
                <a:gridCol w="2008796"/>
                <a:gridCol w="1380089"/>
                <a:gridCol w="1756631"/>
                <a:gridCol w="1756631"/>
                <a:gridCol w="1632253"/>
              </a:tblGrid>
              <a:tr h="889595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 </a:t>
                      </a:r>
                      <a:r>
                        <a:rPr lang="en-US" sz="2000" b="1" dirty="0" smtClean="0">
                          <a:effectLst/>
                        </a:rPr>
                        <a:t>Shape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Spherical Tank</a:t>
                      </a:r>
                      <a:endParaRPr lang="en-US" sz="2000" b="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0" dirty="0">
                          <a:effectLst/>
                        </a:rPr>
                        <a:t>Cylindrical Tank with Spherical </a:t>
                      </a:r>
                      <a:r>
                        <a:rPr lang="en-US" sz="2000" b="0" dirty="0" err="1">
                          <a:effectLst/>
                        </a:rPr>
                        <a:t>Endcaps</a:t>
                      </a:r>
                      <a:endParaRPr lang="en-US" sz="2000" b="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</a:tr>
              <a:tr h="553753"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Material</a:t>
                      </a:r>
                      <a:endParaRPr lang="en-US" b="1" dirty="0"/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Ti-6Al-4V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Composite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TI-6Al-4V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Composite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82229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Tankage Fraction (%)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9.27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2.46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11.30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3.00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  <a:tr h="553753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b="1" dirty="0">
                          <a:effectLst/>
                        </a:rPr>
                        <a:t>Tank Mass (kg)</a:t>
                      </a:r>
                      <a:endParaRPr lang="en-US" sz="2000" b="1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9.00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>
                          <a:effectLst/>
                        </a:rPr>
                        <a:t>4.39</a:t>
                      </a:r>
                      <a:endParaRPr lang="en-US" sz="200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11.00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6.90</a:t>
                      </a:r>
                      <a:endParaRPr lang="en-US" sz="2000" dirty="0">
                        <a:effectLst/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 anchor="ctr"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Appendix – Fuel Tank Sizing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25C865-99B9-4335-8FDD-FD387DF08D14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60400" y="1180950"/>
            <a:ext cx="9144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/>
              <a:t>Goal: minimize tankage fraction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dirty="0"/>
              <a:t>(Total Fuel Tank Mass) / (Propellant Mass</a:t>
            </a:r>
            <a:r>
              <a:rPr lang="en-US" dirty="0" smtClean="0"/>
              <a:t>)</a:t>
            </a:r>
            <a:br>
              <a:rPr lang="en-US" dirty="0" smtClean="0"/>
            </a:br>
            <a:endParaRPr lang="en-US" dirty="0"/>
          </a:p>
          <a:p>
            <a:r>
              <a:rPr lang="en-US" b="1" dirty="0"/>
              <a:t>Assumptions </a:t>
            </a:r>
          </a:p>
          <a:p>
            <a:pPr marL="800100" lvl="1" indent="-342900">
              <a:buFont typeface="Arial" pitchFamily="34" charset="0"/>
              <a:buChar char="•"/>
            </a:pPr>
            <a:r>
              <a:rPr lang="en-US" dirty="0"/>
              <a:t>Storage pressure - 8.3 </a:t>
            </a:r>
            <a:r>
              <a:rPr lang="en-US" dirty="0" err="1"/>
              <a:t>MPa</a:t>
            </a:r>
            <a:endParaRPr lang="en-US" dirty="0"/>
          </a:p>
          <a:p>
            <a:pPr marL="800100" lvl="1" indent="-342900">
              <a:buFont typeface="Arial" pitchFamily="34" charset="0"/>
              <a:buChar char="•"/>
            </a:pPr>
            <a:r>
              <a:rPr lang="en-US" dirty="0"/>
              <a:t>Xenon density - 1.35 g/ml, Xenon </a:t>
            </a:r>
            <a:r>
              <a:rPr lang="en-US" dirty="0" smtClean="0"/>
              <a:t>propellant mass – 194.5 </a:t>
            </a:r>
            <a:r>
              <a:rPr lang="en-US" dirty="0"/>
              <a:t>kg</a:t>
            </a:r>
          </a:p>
        </p:txBody>
      </p:sp>
    </p:spTree>
    <p:extLst>
      <p:ext uri="{BB962C8B-B14F-4D97-AF65-F5344CB8AC3E}">
        <p14:creationId xmlns:p14="http://schemas.microsoft.com/office/powerpoint/2010/main" val="35610147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Appendix – Fuel Tank Sizing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25C865-99B9-4335-8FDD-FD387DF08D14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762000" y="1066800"/>
            <a:ext cx="3200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Spherical Tank</a:t>
            </a:r>
            <a:r>
              <a:rPr lang="en-US" sz="2800" b="1" dirty="0" smtClean="0"/>
              <a:t>			</a:t>
            </a:r>
            <a:endParaRPr lang="en-US" sz="2800" b="1" dirty="0"/>
          </a:p>
        </p:txBody>
      </p:sp>
      <p:pic>
        <p:nvPicPr>
          <p:cNvPr id="8" name="Picture 7" descr="Screen shot 2013-04-09 at 10.34.24 AM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752600"/>
            <a:ext cx="2375649" cy="1143000"/>
          </a:xfrm>
          <a:prstGeom prst="rect">
            <a:avLst/>
          </a:prstGeom>
        </p:spPr>
      </p:pic>
      <p:pic>
        <p:nvPicPr>
          <p:cNvPr id="9" name="Picture 8" descr="Screen shot 2013-04-09 at 10.34.30 AM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43400" y="1524000"/>
            <a:ext cx="4624815" cy="1524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343400" y="1066800"/>
            <a:ext cx="4419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u="sng" dirty="0" smtClean="0"/>
              <a:t>Cylindrical Tank</a:t>
            </a:r>
            <a:endParaRPr lang="en-US" sz="2800" b="1" u="sng" dirty="0"/>
          </a:p>
        </p:txBody>
      </p:sp>
      <p:pic>
        <p:nvPicPr>
          <p:cNvPr id="11" name="Picture 10" descr="Screen shot 2013-04-09 at 10.34.38 AM.pn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7400" y="3200400"/>
            <a:ext cx="1928911" cy="118365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4851400" y="4795989"/>
            <a:ext cx="4800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Source: Richard </a:t>
            </a:r>
            <a:r>
              <a:rPr lang="en-US" dirty="0" err="1" smtClean="0"/>
              <a:t>Welle</a:t>
            </a:r>
            <a:r>
              <a:rPr lang="en-US" dirty="0" smtClean="0"/>
              <a:t>, “</a:t>
            </a:r>
            <a:r>
              <a:rPr lang="en-US" b="1" dirty="0" smtClean="0"/>
              <a:t>Propellant Storage Considerations for Electric Propulsion”</a:t>
            </a:r>
            <a:r>
              <a:rPr lang="en-US" dirty="0" smtClean="0"/>
              <a:t>, The Aerospace Corporation </a:t>
            </a:r>
            <a:endParaRPr lang="en-US" dirty="0"/>
          </a:p>
        </p:txBody>
      </p:sp>
      <p:pic>
        <p:nvPicPr>
          <p:cNvPr id="13" name="Picture 12" descr="Screen shot 2013-04-09 at 10.52.07 AM.png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1236" y="3200400"/>
            <a:ext cx="3810000" cy="3191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098398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Appendix – Cost Estimation (NR)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25C865-99B9-4335-8FDD-FD387DF08D14}" type="slidenum">
              <a:rPr lang="en-US" smtClean="0"/>
              <a:pPr/>
              <a:t>34</a:t>
            </a:fld>
            <a:endParaRPr 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2186402"/>
              </p:ext>
            </p:extLst>
          </p:nvPr>
        </p:nvGraphicFramePr>
        <p:xfrm>
          <a:off x="508001" y="2133600"/>
          <a:ext cx="9144000" cy="4419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76599"/>
                <a:gridCol w="1219200"/>
                <a:gridCol w="3429000"/>
                <a:gridCol w="1219201"/>
              </a:tblGrid>
              <a:tr h="10334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Non-recurring</a:t>
                      </a:r>
                      <a:b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</a:br>
                      <a: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CER Category</a:t>
                      </a:r>
                      <a:endParaRPr lang="ko-KR" sz="18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Input Mass</a:t>
                      </a:r>
                      <a:b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</a:br>
                      <a: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[kg]</a:t>
                      </a:r>
                      <a:endParaRPr lang="ko-KR" sz="18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CER Equation (for lbs.)</a:t>
                      </a:r>
                      <a:endParaRPr lang="ko-KR" sz="18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Output Cost ($1,000)</a:t>
                      </a:r>
                      <a:endParaRPr lang="ko-KR" sz="18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592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Structures and Mechanisms</a:t>
                      </a:r>
                      <a:endParaRPr lang="ko-KR" sz="1800" b="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145.29</a:t>
                      </a:r>
                      <a:endParaRPr lang="ko-KR" sz="18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Y = 23.437 * X</a:t>
                      </a:r>
                      <a:endParaRPr lang="ko-KR" sz="18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$7,507</a:t>
                      </a:r>
                      <a:endParaRPr lang="ko-KR" sz="18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55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Thermal Control</a:t>
                      </a:r>
                      <a:endParaRPr lang="ko-KR" sz="1800" b="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24.22</a:t>
                      </a:r>
                      <a:endParaRPr lang="ko-KR" sz="18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Y = 118.030 * X ^ 0.455 * 3.116</a:t>
                      </a:r>
                      <a:endParaRPr lang="ko-KR" sz="18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$2,247</a:t>
                      </a:r>
                      <a:endParaRPr lang="ko-KR" sz="18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55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Electrical Power</a:t>
                      </a:r>
                      <a:endParaRPr lang="ko-KR" sz="1800" b="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219.19</a:t>
                      </a:r>
                      <a:endParaRPr lang="ko-KR" sz="18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Y = 24.652 * X ^ 0.803 * 2.394</a:t>
                      </a:r>
                      <a:endParaRPr lang="ko-KR" sz="18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$8,440</a:t>
                      </a:r>
                      <a:endParaRPr lang="ko-KR" sz="18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55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Attitude Control</a:t>
                      </a:r>
                      <a:endParaRPr lang="ko-KR" sz="1800" b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36.32</a:t>
                      </a:r>
                      <a:endParaRPr lang="ko-KR" sz="18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Y = 127.420 * X ^ 0.653 * 5.456</a:t>
                      </a:r>
                      <a:endParaRPr lang="ko-KR" sz="18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$12,165</a:t>
                      </a:r>
                      <a:endParaRPr lang="ko-KR" sz="18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55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Propulsion - Thrusters</a:t>
                      </a:r>
                      <a:endParaRPr lang="ko-KR" sz="1800" b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106.00</a:t>
                      </a:r>
                      <a:endParaRPr lang="ko-KR" sz="18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Y = 48.018 * X</a:t>
                      </a:r>
                      <a:endParaRPr lang="ko-KR" sz="18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$11,221</a:t>
                      </a:r>
                      <a:endParaRPr lang="ko-KR" sz="18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55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Propulsion – Fuel Tanks</a:t>
                      </a:r>
                      <a:endParaRPr lang="ko-KR" sz="1800" b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13.83</a:t>
                      </a:r>
                      <a:endParaRPr lang="ko-KR" sz="18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Y = 43.006 * X ^ 0.685</a:t>
                      </a:r>
                      <a:endParaRPr lang="ko-KR" sz="18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$447</a:t>
                      </a:r>
                      <a:endParaRPr lang="ko-KR" sz="18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55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TT&amp;C</a:t>
                      </a:r>
                      <a:endParaRPr lang="ko-KR" sz="1800" b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24.22</a:t>
                      </a:r>
                      <a:endParaRPr lang="ko-KR" sz="18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Y = 177.8 * X ^ 0.6938 * 3.458</a:t>
                      </a:r>
                      <a:endParaRPr lang="ko-KR" sz="18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$9,711</a:t>
                      </a:r>
                      <a:endParaRPr lang="ko-KR" sz="18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55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Communication Antenna</a:t>
                      </a:r>
                      <a:endParaRPr lang="ko-KR" sz="1800" b="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18.16</a:t>
                      </a:r>
                      <a:endParaRPr lang="ko-KR" sz="18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Y = 506.438 * X ^ 0.766</a:t>
                      </a:r>
                      <a:endParaRPr lang="ko-KR" sz="18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$8,551</a:t>
                      </a:r>
                      <a:endParaRPr lang="ko-KR" sz="18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79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TOTAL</a:t>
                      </a:r>
                      <a:endParaRPr lang="ko-KR" sz="18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sz="18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ko-KR" sz="18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Calibri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$60,290</a:t>
                      </a:r>
                      <a:endParaRPr lang="ko-KR" sz="1800" b="1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Content Placeholder 1"/>
          <p:cNvSpPr>
            <a:spLocks noGrp="1"/>
          </p:cNvSpPr>
          <p:nvPr>
            <p:ph sz="quarter" idx="10"/>
          </p:nvPr>
        </p:nvSpPr>
        <p:spPr>
          <a:xfrm>
            <a:off x="614440" y="1254871"/>
            <a:ext cx="9037560" cy="95492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Non-recurring(NR</a:t>
            </a:r>
            <a:r>
              <a:rPr lang="en-US" b="1" dirty="0" smtClean="0"/>
              <a:t>) – </a:t>
            </a:r>
            <a:r>
              <a:rPr lang="en-US" dirty="0" smtClean="0"/>
              <a:t>USCM 9 CERs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486874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Appendix – Cost Estimation (T1)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25C865-99B9-4335-8FDD-FD387DF08D14}" type="slidenum">
              <a:rPr lang="en-US" smtClean="0"/>
              <a:pPr/>
              <a:t>35</a:t>
            </a:fld>
            <a:endParaRPr lang="en-US" dirty="0"/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6112400"/>
              </p:ext>
            </p:extLst>
          </p:nvPr>
        </p:nvGraphicFramePr>
        <p:xfrm>
          <a:off x="508001" y="2133600"/>
          <a:ext cx="9144000" cy="441960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76599"/>
                <a:gridCol w="1219200"/>
                <a:gridCol w="3429000"/>
                <a:gridCol w="1219201"/>
              </a:tblGrid>
              <a:tr h="1033446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Non-recurring</a:t>
                      </a:r>
                      <a:b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</a:br>
                      <a: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CER Category</a:t>
                      </a:r>
                      <a:endParaRPr lang="ko-KR" sz="18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Input Mass</a:t>
                      </a:r>
                      <a:b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</a:br>
                      <a: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[kg]</a:t>
                      </a:r>
                      <a:endParaRPr lang="ko-KR" sz="18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CER Equation (for lbs.)</a:t>
                      </a:r>
                      <a:endParaRPr lang="ko-KR" sz="18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</a:rPr>
                        <a:t>Output Cost ($1,000)</a:t>
                      </a:r>
                      <a:endParaRPr lang="ko-KR" sz="18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99806" marR="99806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659201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/>
                          <a:ea typeface="맑은 고딕"/>
                          <a:cs typeface="Times New Roman"/>
                        </a:rPr>
                        <a:t>Structures and Mechanisms</a:t>
                      </a:r>
                      <a:endParaRPr lang="ko-KR" sz="1800" b="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/>
                          <a:ea typeface="맑은 고딕"/>
                          <a:cs typeface="Times New Roman"/>
                        </a:rPr>
                        <a:t>145.29</a:t>
                      </a:r>
                      <a:endParaRPr lang="ko-KR" sz="1800" b="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/>
                          <a:ea typeface="맑은 고딕"/>
                          <a:cs typeface="Times New Roman"/>
                        </a:rPr>
                        <a:t>Y = 6.603 * X</a:t>
                      </a:r>
                      <a:endParaRPr lang="ko-KR" sz="1800" b="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/>
                          <a:ea typeface="맑은 고딕"/>
                          <a:cs typeface="Times New Roman"/>
                        </a:rPr>
                        <a:t>$7,507</a:t>
                      </a:r>
                      <a:endParaRPr lang="ko-KR" sz="1800" b="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55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/>
                          <a:ea typeface="맑은 고딕"/>
                          <a:cs typeface="Times New Roman"/>
                        </a:rPr>
                        <a:t>Thermal Control</a:t>
                      </a:r>
                      <a:endParaRPr lang="ko-KR" sz="1800" b="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/>
                          <a:ea typeface="맑은 고딕"/>
                          <a:cs typeface="Times New Roman"/>
                        </a:rPr>
                        <a:t>24.22</a:t>
                      </a:r>
                      <a:endParaRPr lang="ko-KR" sz="18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/>
                          <a:ea typeface="맑은 고딕"/>
                          <a:cs typeface="Times New Roman"/>
                        </a:rPr>
                        <a:t>Y = 1180.582</a:t>
                      </a:r>
                      <a:endParaRPr lang="ko-KR" sz="18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/>
                          <a:ea typeface="맑은 고딕"/>
                          <a:cs typeface="Times New Roman"/>
                        </a:rPr>
                        <a:t>$1,181</a:t>
                      </a:r>
                      <a:endParaRPr lang="ko-KR" sz="18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55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/>
                          <a:ea typeface="맑은 고딕"/>
                          <a:cs typeface="Times New Roman"/>
                        </a:rPr>
                        <a:t>Electrical Power</a:t>
                      </a:r>
                      <a:endParaRPr lang="ko-KR" sz="1800" b="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/>
                          <a:ea typeface="맑은 고딕"/>
                          <a:cs typeface="Times New Roman"/>
                        </a:rPr>
                        <a:t>219.19</a:t>
                      </a:r>
                      <a:endParaRPr lang="ko-KR" sz="18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/>
                          <a:ea typeface="맑은 고딕"/>
                          <a:cs typeface="Times New Roman"/>
                        </a:rPr>
                        <a:t>Y = 43.88 * X ^ 0.7955 * 1.383</a:t>
                      </a:r>
                      <a:endParaRPr lang="ko-KR" sz="18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/>
                          <a:ea typeface="맑은 고딕"/>
                          <a:cs typeface="Times New Roman"/>
                        </a:rPr>
                        <a:t>$8,286</a:t>
                      </a:r>
                      <a:endParaRPr lang="ko-KR" sz="18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55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/>
                          <a:ea typeface="맑은 고딕"/>
                          <a:cs typeface="Times New Roman"/>
                        </a:rPr>
                        <a:t>Attitude Control</a:t>
                      </a:r>
                      <a:endParaRPr lang="ko-KR" sz="1800" b="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/>
                          <a:ea typeface="맑은 고딕"/>
                          <a:cs typeface="Times New Roman"/>
                        </a:rPr>
                        <a:t>36.32</a:t>
                      </a:r>
                      <a:endParaRPr lang="ko-KR" sz="18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/>
                          <a:ea typeface="맑은 고딕"/>
                          <a:cs typeface="Times New Roman"/>
                        </a:rPr>
                        <a:t>Y = 87.583 * X ^ 0.782 * 1.701</a:t>
                      </a:r>
                      <a:endParaRPr lang="ko-KR" sz="18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/>
                          <a:ea typeface="맑은 고딕"/>
                          <a:cs typeface="Times New Roman"/>
                        </a:rPr>
                        <a:t>$4,589</a:t>
                      </a:r>
                      <a:endParaRPr lang="ko-KR" sz="18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55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/>
                          <a:ea typeface="맑은 고딕"/>
                          <a:cs typeface="Times New Roman"/>
                        </a:rPr>
                        <a:t>Propulsion - Thrusters</a:t>
                      </a:r>
                      <a:endParaRPr lang="ko-KR" sz="1800" b="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/>
                          <a:ea typeface="맑은 고딕"/>
                          <a:cs typeface="Times New Roman"/>
                        </a:rPr>
                        <a:t>106.00</a:t>
                      </a:r>
                      <a:endParaRPr lang="ko-KR" sz="18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/>
                          <a:ea typeface="맑은 고딕"/>
                          <a:cs typeface="Times New Roman"/>
                        </a:rPr>
                        <a:t>Y = 48.018 * X</a:t>
                      </a:r>
                      <a:endParaRPr lang="ko-KR" sz="18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/>
                          <a:ea typeface="맑은 고딕"/>
                          <a:cs typeface="Times New Roman"/>
                        </a:rPr>
                        <a:t>$11,221</a:t>
                      </a:r>
                      <a:endParaRPr lang="ko-KR" sz="18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55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/>
                          <a:ea typeface="맑은 고딕"/>
                          <a:cs typeface="Times New Roman"/>
                        </a:rPr>
                        <a:t>Propulsion – Fuel Tanks</a:t>
                      </a:r>
                      <a:endParaRPr lang="ko-KR" sz="1800" b="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/>
                          <a:ea typeface="맑은 고딕"/>
                          <a:cs typeface="Times New Roman"/>
                        </a:rPr>
                        <a:t>13.83</a:t>
                      </a:r>
                      <a:endParaRPr lang="ko-KR" sz="18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/>
                          <a:ea typeface="맑은 고딕"/>
                          <a:cs typeface="Times New Roman"/>
                        </a:rPr>
                        <a:t>Y = 43.006 * X ^ 0.685</a:t>
                      </a:r>
                      <a:endParaRPr lang="ko-KR" sz="18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/>
                          <a:ea typeface="맑은 고딕"/>
                          <a:cs typeface="Times New Roman"/>
                        </a:rPr>
                        <a:t>$447</a:t>
                      </a:r>
                      <a:endParaRPr lang="ko-KR" sz="18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55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/>
                          <a:ea typeface="맑은 고딕"/>
                          <a:cs typeface="Times New Roman"/>
                        </a:rPr>
                        <a:t>TT&amp;C</a:t>
                      </a:r>
                      <a:endParaRPr lang="ko-KR" sz="1800" b="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/>
                          <a:ea typeface="맑은 고딕"/>
                          <a:cs typeface="Times New Roman"/>
                        </a:rPr>
                        <a:t>24.22</a:t>
                      </a:r>
                      <a:endParaRPr lang="ko-KR" sz="18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/>
                          <a:ea typeface="맑은 고딕"/>
                          <a:cs typeface="Times New Roman"/>
                        </a:rPr>
                        <a:t>Y = 62.049 * X ^ 0.915 * 1.591</a:t>
                      </a:r>
                      <a:endParaRPr lang="ko-KR" sz="18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/>
                          <a:ea typeface="맑은 고딕"/>
                          <a:cs typeface="Times New Roman"/>
                        </a:rPr>
                        <a:t>$1,823</a:t>
                      </a:r>
                      <a:endParaRPr lang="ko-KR" sz="18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25579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/>
                          <a:ea typeface="맑은 고딕"/>
                          <a:cs typeface="Times New Roman"/>
                        </a:rPr>
                        <a:t>Communication Antenna</a:t>
                      </a:r>
                      <a:endParaRPr lang="ko-KR" sz="1800" b="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/>
                          <a:ea typeface="맑은 고딕"/>
                          <a:cs typeface="Times New Roman"/>
                        </a:rPr>
                        <a:t>18.16</a:t>
                      </a:r>
                      <a:endParaRPr lang="ko-KR" sz="18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/>
                          <a:ea typeface="맑은 고딕"/>
                          <a:cs typeface="Times New Roman"/>
                        </a:rPr>
                        <a:t>Y = 31.524 * X ^ 0.986</a:t>
                      </a:r>
                      <a:endParaRPr lang="ko-KR" sz="18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/>
                          <a:ea typeface="맑은 고딕"/>
                          <a:cs typeface="Times New Roman"/>
                        </a:rPr>
                        <a:t>$1,199</a:t>
                      </a:r>
                      <a:endParaRPr lang="ko-KR" sz="18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47900"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/>
                          <a:ea typeface="맑은 고딕"/>
                          <a:cs typeface="Times New Roman"/>
                        </a:rPr>
                        <a:t>TOTAL</a:t>
                      </a:r>
                      <a:endParaRPr lang="ko-KR" sz="18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　</a:t>
                      </a:r>
                      <a:endParaRPr lang="ko-KR" sz="18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Times New Roman"/>
                        </a:rPr>
                        <a:t>　</a:t>
                      </a:r>
                      <a:endParaRPr lang="ko-KR" sz="180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dirty="0">
                          <a:solidFill>
                            <a:schemeClr val="accent2">
                              <a:lumMod val="50000"/>
                            </a:schemeClr>
                          </a:solidFill>
                          <a:effectLst/>
                          <a:latin typeface="Times New Roman"/>
                          <a:ea typeface="맑은 고딕"/>
                          <a:cs typeface="Times New Roman"/>
                        </a:rPr>
                        <a:t>$36,252</a:t>
                      </a:r>
                      <a:endParaRPr lang="ko-KR" sz="1800" dirty="0">
                        <a:solidFill>
                          <a:schemeClr val="accent2">
                            <a:lumMod val="50000"/>
                          </a:schemeClr>
                        </a:solidFill>
                        <a:effectLst/>
                        <a:latin typeface="Times New Roman"/>
                        <a:ea typeface="맑은 고딕"/>
                        <a:cs typeface="Times New Roman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" name="Content Placeholder 1"/>
          <p:cNvSpPr>
            <a:spLocks noGrp="1"/>
          </p:cNvSpPr>
          <p:nvPr>
            <p:ph sz="quarter" idx="10"/>
          </p:nvPr>
        </p:nvSpPr>
        <p:spPr>
          <a:xfrm>
            <a:off x="614440" y="1254871"/>
            <a:ext cx="9037560" cy="954929"/>
          </a:xfrm>
        </p:spPr>
        <p:txBody>
          <a:bodyPr/>
          <a:lstStyle/>
          <a:p>
            <a:pPr marL="0" indent="0">
              <a:buNone/>
            </a:pPr>
            <a:r>
              <a:rPr lang="en-US" b="1" dirty="0" smtClean="0"/>
              <a:t>Recurring(T1) – </a:t>
            </a:r>
            <a:r>
              <a:rPr lang="en-US" dirty="0" smtClean="0"/>
              <a:t>USCM 9 CERs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1428248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Appendix – Cost Improvement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2D25C865-99B9-4335-8FDD-FD387DF08D14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10" name="Content Placeholder 1"/>
          <p:cNvSpPr>
            <a:spLocks noGrp="1"/>
          </p:cNvSpPr>
          <p:nvPr>
            <p:ph sz="quarter" idx="10"/>
          </p:nvPr>
        </p:nvSpPr>
        <p:spPr>
          <a:xfrm>
            <a:off x="614440" y="1254871"/>
            <a:ext cx="9037560" cy="95492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Cost Improvement </a:t>
            </a:r>
            <a:r>
              <a:rPr lang="en-US" sz="2400" dirty="0" smtClean="0"/>
              <a:t>on </a:t>
            </a:r>
            <a:r>
              <a:rPr lang="en-US" sz="2400" dirty="0"/>
              <a:t>0.95 </a:t>
            </a:r>
            <a:r>
              <a:rPr lang="en-US" altLang="ko-KR" sz="2400" dirty="0"/>
              <a:t>learning curve slope</a:t>
            </a:r>
            <a:endParaRPr lang="en-US" sz="2400" dirty="0"/>
          </a:p>
        </p:txBody>
      </p:sp>
      <p:pic>
        <p:nvPicPr>
          <p:cNvPr id="2050" name="Picture 2" descr="C:\Users\GYU\Dropbox\The Spacebots\Kim's Final Works\Final Paper - pic Average FuelBot cost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2400" y="1981200"/>
            <a:ext cx="7421563" cy="4438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타원 1"/>
          <p:cNvSpPr/>
          <p:nvPr/>
        </p:nvSpPr>
        <p:spPr>
          <a:xfrm>
            <a:off x="7747000" y="4648199"/>
            <a:ext cx="1143000" cy="453189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90172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7832</TotalTime>
  <Words>2043</Words>
  <Application>Microsoft Office PowerPoint</Application>
  <PresentationFormat>Custom</PresentationFormat>
  <Paragraphs>730</Paragraphs>
  <Slides>36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7" baseType="lpstr">
      <vt:lpstr>Default Design</vt:lpstr>
      <vt:lpstr>SpaceBots, Inc. presents  The FuelBot A GEO Satellite Life-Extension Vehicle</vt:lpstr>
      <vt:lpstr>Outline</vt:lpstr>
      <vt:lpstr>Why is GEO Satellite Life-Extension Important?</vt:lpstr>
      <vt:lpstr>Previous Work in Satellite Life-Extension</vt:lpstr>
      <vt:lpstr>Design Requirements</vt:lpstr>
      <vt:lpstr>Our Solution – The FuelBot</vt:lpstr>
      <vt:lpstr>FuelBot Layout</vt:lpstr>
      <vt:lpstr>Life Extension Method</vt:lpstr>
      <vt:lpstr>LEO to GEO Orbital Maneuver</vt:lpstr>
      <vt:lpstr>Attachment Mechanism</vt:lpstr>
      <vt:lpstr>Stationkeeping/Graveyard Orbit Insertion Propulsion</vt:lpstr>
      <vt:lpstr>Mission Profile</vt:lpstr>
      <vt:lpstr>Mission Profile Flexibility</vt:lpstr>
      <vt:lpstr>Propulsion System</vt:lpstr>
      <vt:lpstr>Propulsion System</vt:lpstr>
      <vt:lpstr>Propulsion System</vt:lpstr>
      <vt:lpstr>Power System: Solar Panel</vt:lpstr>
      <vt:lpstr>Power System: Solar Panel</vt:lpstr>
      <vt:lpstr>Power System: Battery</vt:lpstr>
      <vt:lpstr>Structures and Mechanisms</vt:lpstr>
      <vt:lpstr>Thermal Control</vt:lpstr>
      <vt:lpstr>Thermal Control</vt:lpstr>
      <vt:lpstr>On-Board Processing</vt:lpstr>
      <vt:lpstr>TT&amp;C and Communications</vt:lpstr>
      <vt:lpstr>TT&amp;C and Communications</vt:lpstr>
      <vt:lpstr>Mass Estimate</vt:lpstr>
      <vt:lpstr>Mass Estimate</vt:lpstr>
      <vt:lpstr>Cost Analysis</vt:lpstr>
      <vt:lpstr>Conclusions</vt:lpstr>
      <vt:lpstr>Recommendations</vt:lpstr>
      <vt:lpstr>Questions?</vt:lpstr>
      <vt:lpstr>Appendix – Fuel Tank Sizing</vt:lpstr>
      <vt:lpstr>Appendix – Fuel Tank Sizing</vt:lpstr>
      <vt:lpstr>Appendix – Cost Estimation (NR)</vt:lpstr>
      <vt:lpstr>Appendix – Cost Estimation (T1)</vt:lpstr>
      <vt:lpstr>Appendix – Cost Improvement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</dc:creator>
  <cp:lastModifiedBy>Nathan Pandian</cp:lastModifiedBy>
  <cp:revision>352</cp:revision>
  <dcterms:created xsi:type="dcterms:W3CDTF">2004-05-06T09:28:21Z</dcterms:created>
  <dcterms:modified xsi:type="dcterms:W3CDTF">2013-05-08T21:55:20Z</dcterms:modified>
</cp:coreProperties>
</file>