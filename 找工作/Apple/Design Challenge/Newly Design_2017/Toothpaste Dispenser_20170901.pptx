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68" r:id="rId4"/>
    <p:sldId id="293" r:id="rId5"/>
    <p:sldId id="258" r:id="rId6"/>
    <p:sldId id="261" r:id="rId7"/>
    <p:sldId id="265" r:id="rId8"/>
    <p:sldId id="263" r:id="rId9"/>
    <p:sldId id="296" r:id="rId10"/>
    <p:sldId id="295" r:id="rId11"/>
    <p:sldId id="292"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7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3" d="100"/>
          <a:sy n="83" d="100"/>
        </p:scale>
        <p:origin x="61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TW" altLang="en-US"/>
              <a:t>按一下以編輯母片標題樣式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TW" altLang="en-US"/>
              <a:t>按一下以編輯母片標題樣式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TW" altLang="en-US"/>
              <a:t>按一下以編輯母片標題樣式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a:t>按一下以編輯母片標題樣式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TW" altLang="en-US"/>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9/1/2017</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8.xml"/><Relationship Id="rId5" Type="http://schemas.openxmlformats.org/officeDocument/2006/relationships/image" Target="../media/image2.jp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jpg"/><Relationship Id="rId1" Type="http://schemas.openxmlformats.org/officeDocument/2006/relationships/slideLayout" Target="../slideLayouts/slideLayout8.xml"/><Relationship Id="rId4" Type="http://schemas.openxmlformats.org/officeDocument/2006/relationships/image" Target="../media/image20.jp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Layout" Target="../slideLayouts/slideLayout8.xml"/><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Toothpaste Dispenser</a:t>
            </a:r>
            <a:endParaRPr lang="zh-TW" altLang="en-US" dirty="0"/>
          </a:p>
        </p:txBody>
      </p:sp>
      <p:sp>
        <p:nvSpPr>
          <p:cNvPr id="3" name="副標題 2"/>
          <p:cNvSpPr>
            <a:spLocks noGrp="1"/>
          </p:cNvSpPr>
          <p:nvPr>
            <p:ph type="subTitle" idx="1"/>
          </p:nvPr>
        </p:nvSpPr>
        <p:spPr/>
        <p:txBody>
          <a:bodyPr/>
          <a:lstStyle/>
          <a:p>
            <a:r>
              <a:rPr lang="en-US" altLang="zh-TW" dirty="0"/>
              <a:t>Designer: Chung-</a:t>
            </a:r>
            <a:r>
              <a:rPr lang="en-US" altLang="zh-TW" dirty="0" err="1"/>
              <a:t>Hau</a:t>
            </a:r>
            <a:r>
              <a:rPr lang="en-US" altLang="zh-TW" dirty="0"/>
              <a:t> Wang</a:t>
            </a:r>
          </a:p>
          <a:p>
            <a:r>
              <a:rPr lang="en-US" altLang="zh-TW" dirty="0"/>
              <a:t>2017.Sep.01</a:t>
            </a:r>
            <a:endParaRPr lang="zh-TW" altLang="en-US" dirty="0"/>
          </a:p>
        </p:txBody>
      </p:sp>
    </p:spTree>
    <p:extLst>
      <p:ext uri="{BB962C8B-B14F-4D97-AF65-F5344CB8AC3E}">
        <p14:creationId xmlns:p14="http://schemas.microsoft.com/office/powerpoint/2010/main" val="2142500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solidFill>
                  <a:schemeClr val="tx1"/>
                </a:solidFill>
              </a:rPr>
              <a:t>Outline</a:t>
            </a:r>
            <a:endParaRPr lang="zh-TW" altLang="en-US" dirty="0">
              <a:solidFill>
                <a:schemeClr val="tx1"/>
              </a:solidFill>
            </a:endParaRPr>
          </a:p>
        </p:txBody>
      </p:sp>
      <p:sp>
        <p:nvSpPr>
          <p:cNvPr id="3" name="內容版面配置區 2"/>
          <p:cNvSpPr>
            <a:spLocks noGrp="1"/>
          </p:cNvSpPr>
          <p:nvPr>
            <p:ph idx="1"/>
          </p:nvPr>
        </p:nvSpPr>
        <p:spPr/>
        <p:txBody>
          <a:bodyPr/>
          <a:lstStyle/>
          <a:p>
            <a:r>
              <a:rPr lang="en-US" altLang="zh-TW" dirty="0"/>
              <a:t>Overview</a:t>
            </a:r>
          </a:p>
          <a:p>
            <a:r>
              <a:rPr lang="en-US" altLang="zh-TW" dirty="0"/>
              <a:t>Components</a:t>
            </a:r>
          </a:p>
          <a:p>
            <a:r>
              <a:rPr lang="en-US" altLang="zh-TW" dirty="0"/>
              <a:t>How it works</a:t>
            </a:r>
          </a:p>
          <a:p>
            <a:pPr lvl="1">
              <a:buFont typeface="Arial" panose="020B0604020202020204" pitchFamily="34" charset="0"/>
              <a:buChar char="•"/>
            </a:pPr>
            <a:r>
              <a:rPr lang="en-US" altLang="zh-TW" dirty="0"/>
              <a:t>The Driving System</a:t>
            </a:r>
          </a:p>
          <a:p>
            <a:pPr lvl="1">
              <a:buFont typeface="Arial" panose="020B0604020202020204" pitchFamily="34" charset="0"/>
              <a:buChar char="•"/>
            </a:pPr>
            <a:r>
              <a:rPr lang="en-US" altLang="zh-TW" dirty="0"/>
              <a:t>The Dispensing System</a:t>
            </a:r>
          </a:p>
          <a:p>
            <a:pPr lvl="1">
              <a:buFont typeface="Arial" panose="020B0604020202020204" pitchFamily="34" charset="0"/>
              <a:buChar char="•"/>
            </a:pPr>
            <a:r>
              <a:rPr lang="en-US" altLang="zh-TW" dirty="0"/>
              <a:t>The Positioning System</a:t>
            </a:r>
            <a:endParaRPr lang="zh-TW" altLang="en-US" dirty="0"/>
          </a:p>
          <a:p>
            <a:r>
              <a:rPr lang="en-US" altLang="zh-TW" dirty="0"/>
              <a:t>Discussion</a:t>
            </a:r>
          </a:p>
          <a:p>
            <a:r>
              <a:rPr lang="en-US" altLang="zh-TW" dirty="0"/>
              <a:t>Appendix</a:t>
            </a:r>
          </a:p>
        </p:txBody>
      </p:sp>
    </p:spTree>
    <p:extLst>
      <p:ext uri="{BB962C8B-B14F-4D97-AF65-F5344CB8AC3E}">
        <p14:creationId xmlns:p14="http://schemas.microsoft.com/office/powerpoint/2010/main" val="2645039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內容版面配置區 19">
            <a:extLst>
              <a:ext uri="{FF2B5EF4-FFF2-40B4-BE49-F238E27FC236}">
                <a16:creationId xmlns:a16="http://schemas.microsoft.com/office/drawing/2014/main" id="{DA6ABCB0-7007-42D2-B953-FBF7AEF6C001}"/>
              </a:ext>
            </a:extLst>
          </p:cNvPr>
          <p:cNvPicPr>
            <a:picLocks noGrp="1" noChangeAspect="1"/>
          </p:cNvPicPr>
          <p:nvPr>
            <p:ph idx="1"/>
          </p:nvPr>
        </p:nvPicPr>
        <p:blipFill rotWithShape="1">
          <a:blip r:embed="rId2"/>
          <a:srcRect l="30826" t="15333" r="31587" b="8850"/>
          <a:stretch/>
        </p:blipFill>
        <p:spPr>
          <a:xfrm>
            <a:off x="6656981" y="1422400"/>
            <a:ext cx="3915895" cy="4443122"/>
          </a:xfrm>
        </p:spPr>
      </p:pic>
      <p:sp>
        <p:nvSpPr>
          <p:cNvPr id="2" name="標題 1"/>
          <p:cNvSpPr>
            <a:spLocks noGrp="1"/>
          </p:cNvSpPr>
          <p:nvPr>
            <p:ph type="title"/>
          </p:nvPr>
        </p:nvSpPr>
        <p:spPr/>
        <p:txBody>
          <a:bodyPr/>
          <a:lstStyle/>
          <a:p>
            <a:r>
              <a:rPr lang="en-US" altLang="zh-TW" dirty="0"/>
              <a:t>Overview</a:t>
            </a:r>
            <a:endParaRPr lang="zh-TW" altLang="en-US" dirty="0"/>
          </a:p>
        </p:txBody>
      </p:sp>
      <p:sp>
        <p:nvSpPr>
          <p:cNvPr id="4" name="文字版面配置區 3"/>
          <p:cNvSpPr>
            <a:spLocks noGrp="1"/>
          </p:cNvSpPr>
          <p:nvPr>
            <p:ph type="body" sz="half" idx="2"/>
          </p:nvPr>
        </p:nvSpPr>
        <p:spPr/>
        <p:txBody>
          <a:bodyPr>
            <a:normAutofit/>
          </a:bodyPr>
          <a:lstStyle/>
          <a:p>
            <a:pPr algn="just"/>
            <a:r>
              <a:rPr lang="en-US" altLang="zh-TW" dirty="0"/>
              <a:t>This machine is designed as neat and compact as possible. It’s:</a:t>
            </a:r>
          </a:p>
          <a:p>
            <a:pPr marL="342900" indent="-342900" algn="just">
              <a:buFont typeface="+mj-lt"/>
              <a:buAutoNum type="arabicPeriod"/>
            </a:pPr>
            <a:r>
              <a:rPr lang="en-US" altLang="zh-TW" dirty="0"/>
              <a:t>Simple mechanism.</a:t>
            </a:r>
          </a:p>
          <a:p>
            <a:pPr marL="800100" lvl="1" indent="-342900" algn="just">
              <a:buFont typeface="Arial" panose="020B0604020202020204" pitchFamily="34" charset="0"/>
              <a:buChar char="•"/>
            </a:pPr>
            <a:r>
              <a:rPr lang="en-US" altLang="zh-TW" dirty="0"/>
              <a:t>Only standard mechanical components and simple linkages are involved.</a:t>
            </a:r>
          </a:p>
          <a:p>
            <a:pPr marL="342900" indent="-342900" algn="just">
              <a:buFont typeface="+mj-lt"/>
              <a:buAutoNum type="arabicPeriod"/>
            </a:pPr>
            <a:r>
              <a:rPr lang="en-US" altLang="zh-TW" dirty="0"/>
              <a:t>Easy to maintain.</a:t>
            </a:r>
          </a:p>
          <a:p>
            <a:pPr marL="800100" lvl="1" indent="-342900" algn="just">
              <a:buFont typeface="Arial" panose="020B0604020202020204" pitchFamily="34" charset="0"/>
              <a:buChar char="•"/>
            </a:pPr>
            <a:r>
              <a:rPr lang="en-US" altLang="zh-TW" dirty="0"/>
              <a:t>Mechanical systems are less order in complexity than electronical systems so that it’s easy to maintain, to debug, and to repair.</a:t>
            </a:r>
          </a:p>
        </p:txBody>
      </p:sp>
      <p:grpSp>
        <p:nvGrpSpPr>
          <p:cNvPr id="21" name="群組 20">
            <a:extLst>
              <a:ext uri="{FF2B5EF4-FFF2-40B4-BE49-F238E27FC236}">
                <a16:creationId xmlns:a16="http://schemas.microsoft.com/office/drawing/2014/main" id="{3CD40559-07B8-45A8-B5B0-8DB6762618DB}"/>
              </a:ext>
            </a:extLst>
          </p:cNvPr>
          <p:cNvGrpSpPr/>
          <p:nvPr/>
        </p:nvGrpSpPr>
        <p:grpSpPr>
          <a:xfrm>
            <a:off x="7243330" y="846276"/>
            <a:ext cx="2205318" cy="1690132"/>
            <a:chOff x="6481482" y="1053068"/>
            <a:chExt cx="2205318" cy="1690132"/>
          </a:xfrm>
        </p:grpSpPr>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a:t>Dispensing System</a:t>
              </a:r>
              <a:endParaRPr lang="zh-TW" altLang="en-US" dirty="0"/>
            </a:p>
          </p:txBody>
        </p:sp>
      </p:grpSp>
      <p:grpSp>
        <p:nvGrpSpPr>
          <p:cNvPr id="23" name="群組 22">
            <a:extLst>
              <a:ext uri="{FF2B5EF4-FFF2-40B4-BE49-F238E27FC236}">
                <a16:creationId xmlns:a16="http://schemas.microsoft.com/office/drawing/2014/main" id="{E8E5A45D-1E78-4887-8857-DDF7DE4F00B4}"/>
              </a:ext>
            </a:extLst>
          </p:cNvPr>
          <p:cNvGrpSpPr/>
          <p:nvPr/>
        </p:nvGrpSpPr>
        <p:grpSpPr>
          <a:xfrm>
            <a:off x="9271315" y="1332918"/>
            <a:ext cx="1785655" cy="1795064"/>
            <a:chOff x="9774313" y="2548818"/>
            <a:chExt cx="1785655" cy="1795064"/>
          </a:xfrm>
        </p:grpSpPr>
        <p:sp>
          <p:nvSpPr>
            <p:cNvPr id="8" name="向上箭號 7"/>
            <p:cNvSpPr/>
            <p:nvPr/>
          </p:nvSpPr>
          <p:spPr>
            <a:xfrm rot="13307073">
              <a:off x="9785635" y="2816972"/>
              <a:ext cx="279145" cy="152691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9774313" y="2548818"/>
              <a:ext cx="1785655" cy="369332"/>
            </a:xfrm>
            <a:prstGeom prst="rect">
              <a:avLst/>
            </a:prstGeom>
            <a:noFill/>
          </p:spPr>
          <p:txBody>
            <a:bodyPr wrap="square" rtlCol="0">
              <a:spAutoFit/>
            </a:bodyPr>
            <a:lstStyle/>
            <a:p>
              <a:r>
                <a:rPr lang="en-US" altLang="zh-TW" dirty="0"/>
                <a:t>Driving System</a:t>
              </a:r>
              <a:endParaRPr lang="zh-TW" altLang="en-US" dirty="0"/>
            </a:p>
          </p:txBody>
        </p:sp>
      </p:grpSp>
      <p:grpSp>
        <p:nvGrpSpPr>
          <p:cNvPr id="22" name="群組 21">
            <a:extLst>
              <a:ext uri="{FF2B5EF4-FFF2-40B4-BE49-F238E27FC236}">
                <a16:creationId xmlns:a16="http://schemas.microsoft.com/office/drawing/2014/main" id="{03699D1D-017F-419E-A72C-48FD09BB1C8D}"/>
              </a:ext>
            </a:extLst>
          </p:cNvPr>
          <p:cNvGrpSpPr/>
          <p:nvPr/>
        </p:nvGrpSpPr>
        <p:grpSpPr>
          <a:xfrm>
            <a:off x="7512270" y="4660777"/>
            <a:ext cx="1667438" cy="1875684"/>
            <a:chOff x="6089773" y="4421080"/>
            <a:chExt cx="1667438" cy="1875684"/>
          </a:xfrm>
        </p:grpSpPr>
        <p:sp>
          <p:nvSpPr>
            <p:cNvPr id="10" name="向上箭號 9"/>
            <p:cNvSpPr/>
            <p:nvPr/>
          </p:nvSpPr>
          <p:spPr>
            <a:xfrm>
              <a:off x="6656981" y="4421080"/>
              <a:ext cx="295148" cy="6753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a:t>Conveyor Belt &amp; Positioning System</a:t>
              </a:r>
              <a:endParaRPr lang="zh-TW" altLang="en-US" dirty="0"/>
            </a:p>
          </p:txBody>
        </p:sp>
      </p:grpSp>
      <p:grpSp>
        <p:nvGrpSpPr>
          <p:cNvPr id="24" name="群組 23">
            <a:extLst>
              <a:ext uri="{FF2B5EF4-FFF2-40B4-BE49-F238E27FC236}">
                <a16:creationId xmlns:a16="http://schemas.microsoft.com/office/drawing/2014/main" id="{42C81EAD-354E-4C92-87F7-D90920EE3ACF}"/>
              </a:ext>
            </a:extLst>
          </p:cNvPr>
          <p:cNvGrpSpPr/>
          <p:nvPr/>
        </p:nvGrpSpPr>
        <p:grpSpPr>
          <a:xfrm>
            <a:off x="9589340" y="3026804"/>
            <a:ext cx="2602657" cy="646331"/>
            <a:chOff x="9243610" y="2689268"/>
            <a:chExt cx="1990505" cy="646331"/>
          </a:xfrm>
        </p:grpSpPr>
        <p:sp>
          <p:nvSpPr>
            <p:cNvPr id="25" name="向上箭號 7">
              <a:extLst>
                <a:ext uri="{FF2B5EF4-FFF2-40B4-BE49-F238E27FC236}">
                  <a16:creationId xmlns:a16="http://schemas.microsoft.com/office/drawing/2014/main" id="{A70AEB30-1D53-4ED6-82ED-0D82BA5D6D93}"/>
                </a:ext>
              </a:extLst>
            </p:cNvPr>
            <p:cNvSpPr/>
            <p:nvPr/>
          </p:nvSpPr>
          <p:spPr>
            <a:xfrm rot="15046934">
              <a:off x="9519266" y="2786913"/>
              <a:ext cx="255538" cy="80685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23AE69-5E83-4DA5-B476-6E3FE1E0DBDA}"/>
                </a:ext>
              </a:extLst>
            </p:cNvPr>
            <p:cNvSpPr txBox="1"/>
            <p:nvPr/>
          </p:nvSpPr>
          <p:spPr>
            <a:xfrm>
              <a:off x="10088030" y="2689268"/>
              <a:ext cx="1146085" cy="646331"/>
            </a:xfrm>
            <a:prstGeom prst="rect">
              <a:avLst/>
            </a:prstGeom>
            <a:noFill/>
          </p:spPr>
          <p:txBody>
            <a:bodyPr wrap="square" rtlCol="0">
              <a:spAutoFit/>
            </a:bodyPr>
            <a:lstStyle/>
            <a:p>
              <a:r>
                <a:rPr lang="en-US" altLang="zh-TW" dirty="0"/>
                <a:t>Toothpaste Inlet</a:t>
              </a:r>
              <a:endParaRPr lang="zh-TW" altLang="en-US" dirty="0"/>
            </a:p>
          </p:txBody>
        </p:sp>
      </p:grpSp>
      <p:sp>
        <p:nvSpPr>
          <p:cNvPr id="27" name="文字方塊 26">
            <a:extLst>
              <a:ext uri="{FF2B5EF4-FFF2-40B4-BE49-F238E27FC236}">
                <a16:creationId xmlns:a16="http://schemas.microsoft.com/office/drawing/2014/main" id="{E12F35C9-2F05-4336-921C-DF7222D86377}"/>
              </a:ext>
            </a:extLst>
          </p:cNvPr>
          <p:cNvSpPr txBox="1"/>
          <p:nvPr/>
        </p:nvSpPr>
        <p:spPr>
          <a:xfrm>
            <a:off x="9746916" y="5336132"/>
            <a:ext cx="2157000" cy="523220"/>
          </a:xfrm>
          <a:prstGeom prst="rect">
            <a:avLst/>
          </a:prstGeom>
          <a:noFill/>
        </p:spPr>
        <p:txBody>
          <a:bodyPr wrap="square" rtlCol="0">
            <a:spAutoFit/>
          </a:bodyPr>
          <a:lstStyle/>
          <a:p>
            <a:r>
              <a:rPr lang="en-US" altLang="zh-TW" sz="1400" dirty="0"/>
              <a:t>L×W×H</a:t>
            </a:r>
          </a:p>
          <a:p>
            <a:r>
              <a:rPr lang="en-US" altLang="zh-TW" sz="1400" dirty="0"/>
              <a:t>=0.5×0.25×0.5 (Meters)</a:t>
            </a:r>
            <a:endParaRPr lang="zh-TW" altLang="en-US" sz="1400" dirty="0"/>
          </a:p>
        </p:txBody>
      </p:sp>
    </p:spTree>
    <p:extLst>
      <p:ext uri="{BB962C8B-B14F-4D97-AF65-F5344CB8AC3E}">
        <p14:creationId xmlns:p14="http://schemas.microsoft.com/office/powerpoint/2010/main" val="1525946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內容版面配置區 19">
            <a:extLst>
              <a:ext uri="{FF2B5EF4-FFF2-40B4-BE49-F238E27FC236}">
                <a16:creationId xmlns:a16="http://schemas.microsoft.com/office/drawing/2014/main" id="{DA6ABCB0-7007-42D2-B953-FBF7AEF6C001}"/>
              </a:ext>
            </a:extLst>
          </p:cNvPr>
          <p:cNvPicPr>
            <a:picLocks noGrp="1" noChangeAspect="1"/>
          </p:cNvPicPr>
          <p:nvPr>
            <p:ph idx="1"/>
          </p:nvPr>
        </p:nvPicPr>
        <p:blipFill rotWithShape="1">
          <a:blip r:embed="rId2"/>
          <a:srcRect l="30826" t="15333" r="31587" b="8850"/>
          <a:stretch/>
        </p:blipFill>
        <p:spPr>
          <a:xfrm>
            <a:off x="6656981" y="1422400"/>
            <a:ext cx="3915895" cy="4443122"/>
          </a:xfrm>
        </p:spPr>
      </p:pic>
      <p:sp>
        <p:nvSpPr>
          <p:cNvPr id="2" name="標題 1"/>
          <p:cNvSpPr>
            <a:spLocks noGrp="1"/>
          </p:cNvSpPr>
          <p:nvPr>
            <p:ph type="title"/>
          </p:nvPr>
        </p:nvSpPr>
        <p:spPr/>
        <p:txBody>
          <a:bodyPr/>
          <a:lstStyle/>
          <a:p>
            <a:r>
              <a:rPr lang="en-US" altLang="zh-TW" dirty="0"/>
              <a:t>Overview</a:t>
            </a:r>
            <a:endParaRPr lang="zh-TW" altLang="en-US" dirty="0"/>
          </a:p>
        </p:txBody>
      </p:sp>
      <p:sp>
        <p:nvSpPr>
          <p:cNvPr id="4" name="文字版面配置區 3"/>
          <p:cNvSpPr>
            <a:spLocks noGrp="1"/>
          </p:cNvSpPr>
          <p:nvPr>
            <p:ph type="body" sz="half" idx="2"/>
          </p:nvPr>
        </p:nvSpPr>
        <p:spPr/>
        <p:txBody>
          <a:bodyPr>
            <a:normAutofit/>
          </a:bodyPr>
          <a:lstStyle/>
          <a:p>
            <a:pPr algn="just"/>
            <a:r>
              <a:rPr lang="en-US" altLang="zh-TW" dirty="0"/>
              <a:t>This machine is designed as neat and compact as possible. It’s:</a:t>
            </a:r>
          </a:p>
          <a:p>
            <a:pPr marL="342900" indent="-342900" algn="just">
              <a:buFont typeface="+mj-lt"/>
              <a:buAutoNum type="arabicPeriod" startAt="3"/>
            </a:pPr>
            <a:r>
              <a:rPr lang="en-US" altLang="zh-TW" dirty="0"/>
              <a:t>Modular design.</a:t>
            </a:r>
          </a:p>
          <a:p>
            <a:pPr marL="800100" lvl="1" indent="-342900" algn="just">
              <a:buFont typeface="Arial" panose="020B0604020202020204" pitchFamily="34" charset="0"/>
              <a:buChar char="•"/>
            </a:pPr>
            <a:r>
              <a:rPr lang="en-US" altLang="zh-TW" dirty="0"/>
              <a:t>This machine works as a cell and can be driven with simply one motor whether this machine is mounted online cooperating with other devices; or running itself with manual loading/unloading.</a:t>
            </a:r>
          </a:p>
          <a:p>
            <a:pPr marL="342900" indent="-342900" algn="just">
              <a:buFont typeface="+mj-lt"/>
              <a:buAutoNum type="arabicPeriod" startAt="3"/>
            </a:pPr>
            <a:r>
              <a:rPr lang="en-US" altLang="zh-TW" dirty="0"/>
              <a:t>Compatible for manufacturing lines.</a:t>
            </a:r>
          </a:p>
          <a:p>
            <a:pPr marL="800100" lvl="1" indent="-342900" algn="just">
              <a:buFont typeface="Arial" panose="020B0604020202020204" pitchFamily="34" charset="0"/>
              <a:buChar char="•"/>
            </a:pPr>
            <a:r>
              <a:rPr lang="en-US" altLang="zh-TW" dirty="0"/>
              <a:t>This machine can mount on manufacturing lines with its toothpaste inlet connects to the outlet of toothpaste production.</a:t>
            </a:r>
          </a:p>
        </p:txBody>
      </p:sp>
      <p:grpSp>
        <p:nvGrpSpPr>
          <p:cNvPr id="21" name="群組 20">
            <a:extLst>
              <a:ext uri="{FF2B5EF4-FFF2-40B4-BE49-F238E27FC236}">
                <a16:creationId xmlns:a16="http://schemas.microsoft.com/office/drawing/2014/main" id="{3CD40559-07B8-45A8-B5B0-8DB6762618DB}"/>
              </a:ext>
            </a:extLst>
          </p:cNvPr>
          <p:cNvGrpSpPr/>
          <p:nvPr/>
        </p:nvGrpSpPr>
        <p:grpSpPr>
          <a:xfrm>
            <a:off x="7243330" y="846276"/>
            <a:ext cx="2205318" cy="1690132"/>
            <a:chOff x="6481482" y="1053068"/>
            <a:chExt cx="2205318" cy="1690132"/>
          </a:xfrm>
        </p:grpSpPr>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a:t>Dispensing System</a:t>
              </a:r>
              <a:endParaRPr lang="zh-TW" altLang="en-US" dirty="0"/>
            </a:p>
          </p:txBody>
        </p:sp>
      </p:grpSp>
      <p:grpSp>
        <p:nvGrpSpPr>
          <p:cNvPr id="23" name="群組 22">
            <a:extLst>
              <a:ext uri="{FF2B5EF4-FFF2-40B4-BE49-F238E27FC236}">
                <a16:creationId xmlns:a16="http://schemas.microsoft.com/office/drawing/2014/main" id="{E8E5A45D-1E78-4887-8857-DDF7DE4F00B4}"/>
              </a:ext>
            </a:extLst>
          </p:cNvPr>
          <p:cNvGrpSpPr/>
          <p:nvPr/>
        </p:nvGrpSpPr>
        <p:grpSpPr>
          <a:xfrm>
            <a:off x="9271315" y="1332918"/>
            <a:ext cx="1785655" cy="1795064"/>
            <a:chOff x="9774313" y="2548818"/>
            <a:chExt cx="1785655" cy="1795064"/>
          </a:xfrm>
        </p:grpSpPr>
        <p:sp>
          <p:nvSpPr>
            <p:cNvPr id="8" name="向上箭號 7"/>
            <p:cNvSpPr/>
            <p:nvPr/>
          </p:nvSpPr>
          <p:spPr>
            <a:xfrm rot="13307073">
              <a:off x="9785635" y="2816972"/>
              <a:ext cx="279145" cy="152691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9774313" y="2548818"/>
              <a:ext cx="1785655" cy="369332"/>
            </a:xfrm>
            <a:prstGeom prst="rect">
              <a:avLst/>
            </a:prstGeom>
            <a:noFill/>
          </p:spPr>
          <p:txBody>
            <a:bodyPr wrap="square" rtlCol="0">
              <a:spAutoFit/>
            </a:bodyPr>
            <a:lstStyle/>
            <a:p>
              <a:r>
                <a:rPr lang="en-US" altLang="zh-TW" dirty="0"/>
                <a:t>Driving System</a:t>
              </a:r>
              <a:endParaRPr lang="zh-TW" altLang="en-US" dirty="0"/>
            </a:p>
          </p:txBody>
        </p:sp>
      </p:grpSp>
      <p:grpSp>
        <p:nvGrpSpPr>
          <p:cNvPr id="22" name="群組 21">
            <a:extLst>
              <a:ext uri="{FF2B5EF4-FFF2-40B4-BE49-F238E27FC236}">
                <a16:creationId xmlns:a16="http://schemas.microsoft.com/office/drawing/2014/main" id="{03699D1D-017F-419E-A72C-48FD09BB1C8D}"/>
              </a:ext>
            </a:extLst>
          </p:cNvPr>
          <p:cNvGrpSpPr/>
          <p:nvPr/>
        </p:nvGrpSpPr>
        <p:grpSpPr>
          <a:xfrm>
            <a:off x="7512270" y="4660777"/>
            <a:ext cx="1667438" cy="1875684"/>
            <a:chOff x="6089773" y="4421080"/>
            <a:chExt cx="1667438" cy="1875684"/>
          </a:xfrm>
        </p:grpSpPr>
        <p:sp>
          <p:nvSpPr>
            <p:cNvPr id="10" name="向上箭號 9"/>
            <p:cNvSpPr/>
            <p:nvPr/>
          </p:nvSpPr>
          <p:spPr>
            <a:xfrm>
              <a:off x="6656981" y="4421080"/>
              <a:ext cx="295148" cy="6753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a:t>Conveyor Belt &amp; Positioning System</a:t>
              </a:r>
              <a:endParaRPr lang="zh-TW" altLang="en-US" dirty="0"/>
            </a:p>
          </p:txBody>
        </p:sp>
      </p:grpSp>
      <p:grpSp>
        <p:nvGrpSpPr>
          <p:cNvPr id="24" name="群組 23">
            <a:extLst>
              <a:ext uri="{FF2B5EF4-FFF2-40B4-BE49-F238E27FC236}">
                <a16:creationId xmlns:a16="http://schemas.microsoft.com/office/drawing/2014/main" id="{42C81EAD-354E-4C92-87F7-D90920EE3ACF}"/>
              </a:ext>
            </a:extLst>
          </p:cNvPr>
          <p:cNvGrpSpPr/>
          <p:nvPr/>
        </p:nvGrpSpPr>
        <p:grpSpPr>
          <a:xfrm>
            <a:off x="9589340" y="3026804"/>
            <a:ext cx="2602657" cy="646331"/>
            <a:chOff x="9243610" y="2689268"/>
            <a:chExt cx="1990505" cy="646331"/>
          </a:xfrm>
        </p:grpSpPr>
        <p:sp>
          <p:nvSpPr>
            <p:cNvPr id="25" name="向上箭號 7">
              <a:extLst>
                <a:ext uri="{FF2B5EF4-FFF2-40B4-BE49-F238E27FC236}">
                  <a16:creationId xmlns:a16="http://schemas.microsoft.com/office/drawing/2014/main" id="{A70AEB30-1D53-4ED6-82ED-0D82BA5D6D93}"/>
                </a:ext>
              </a:extLst>
            </p:cNvPr>
            <p:cNvSpPr/>
            <p:nvPr/>
          </p:nvSpPr>
          <p:spPr>
            <a:xfrm rot="15046934">
              <a:off x="9519266" y="2786913"/>
              <a:ext cx="255538" cy="80685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23AE69-5E83-4DA5-B476-6E3FE1E0DBDA}"/>
                </a:ext>
              </a:extLst>
            </p:cNvPr>
            <p:cNvSpPr txBox="1"/>
            <p:nvPr/>
          </p:nvSpPr>
          <p:spPr>
            <a:xfrm>
              <a:off x="10088030" y="2689268"/>
              <a:ext cx="1146085" cy="646331"/>
            </a:xfrm>
            <a:prstGeom prst="rect">
              <a:avLst/>
            </a:prstGeom>
            <a:noFill/>
          </p:spPr>
          <p:txBody>
            <a:bodyPr wrap="square" rtlCol="0">
              <a:spAutoFit/>
            </a:bodyPr>
            <a:lstStyle/>
            <a:p>
              <a:r>
                <a:rPr lang="en-US" altLang="zh-TW" dirty="0"/>
                <a:t>Toothpaste Inlet</a:t>
              </a:r>
              <a:endParaRPr lang="zh-TW" altLang="en-US" dirty="0"/>
            </a:p>
          </p:txBody>
        </p:sp>
      </p:grpSp>
      <p:sp>
        <p:nvSpPr>
          <p:cNvPr id="27" name="文字方塊 26">
            <a:extLst>
              <a:ext uri="{FF2B5EF4-FFF2-40B4-BE49-F238E27FC236}">
                <a16:creationId xmlns:a16="http://schemas.microsoft.com/office/drawing/2014/main" id="{E12F35C9-2F05-4336-921C-DF7222D86377}"/>
              </a:ext>
            </a:extLst>
          </p:cNvPr>
          <p:cNvSpPr txBox="1"/>
          <p:nvPr/>
        </p:nvSpPr>
        <p:spPr>
          <a:xfrm>
            <a:off x="9746916" y="5336132"/>
            <a:ext cx="2157000" cy="523220"/>
          </a:xfrm>
          <a:prstGeom prst="rect">
            <a:avLst/>
          </a:prstGeom>
          <a:noFill/>
        </p:spPr>
        <p:txBody>
          <a:bodyPr wrap="square" rtlCol="0">
            <a:spAutoFit/>
          </a:bodyPr>
          <a:lstStyle/>
          <a:p>
            <a:r>
              <a:rPr lang="en-US" altLang="zh-TW" sz="1400" dirty="0"/>
              <a:t>L×W×H</a:t>
            </a:r>
          </a:p>
          <a:p>
            <a:r>
              <a:rPr lang="en-US" altLang="zh-TW" sz="1400" dirty="0"/>
              <a:t>=0.5×0.25×0.5 (Meters)</a:t>
            </a:r>
            <a:endParaRPr lang="zh-TW" altLang="en-US" sz="1400" dirty="0"/>
          </a:p>
        </p:txBody>
      </p:sp>
    </p:spTree>
    <p:extLst>
      <p:ext uri="{BB962C8B-B14F-4D97-AF65-F5344CB8AC3E}">
        <p14:creationId xmlns:p14="http://schemas.microsoft.com/office/powerpoint/2010/main" val="2624589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Components</a:t>
            </a:r>
            <a:endParaRPr lang="zh-TW" altLang="en-US" dirty="0"/>
          </a:p>
        </p:txBody>
      </p:sp>
      <p:sp>
        <p:nvSpPr>
          <p:cNvPr id="4" name="文字版面配置區 3"/>
          <p:cNvSpPr>
            <a:spLocks noGrp="1"/>
          </p:cNvSpPr>
          <p:nvPr>
            <p:ph type="body" sz="half" idx="2"/>
          </p:nvPr>
        </p:nvSpPr>
        <p:spPr/>
        <p:txBody>
          <a:bodyPr/>
          <a:lstStyle/>
          <a:p>
            <a:pPr marL="342900" indent="-342900" algn="just">
              <a:buAutoNum type="arabicPeriod"/>
            </a:pPr>
            <a:r>
              <a:rPr lang="en-US" altLang="zh-TW" dirty="0"/>
              <a:t>Isometric view of the machine</a:t>
            </a:r>
          </a:p>
          <a:p>
            <a:pPr marL="342900" indent="-342900" algn="just">
              <a:buFont typeface="Wingdings 3" charset="2"/>
              <a:buAutoNum type="arabicPeriod"/>
            </a:pPr>
            <a:r>
              <a:rPr lang="en-US" altLang="zh-TW" dirty="0"/>
              <a:t>Toothpastes</a:t>
            </a:r>
            <a:endParaRPr lang="zh-TW" altLang="en-US" dirty="0"/>
          </a:p>
          <a:p>
            <a:pPr marL="342900" indent="-342900" algn="just">
              <a:buAutoNum type="arabicPeriod"/>
            </a:pPr>
            <a:r>
              <a:rPr lang="en-US" altLang="zh-TW" dirty="0"/>
              <a:t>Dispensers</a:t>
            </a:r>
          </a:p>
          <a:p>
            <a:pPr marL="342900" indent="-342900" algn="just">
              <a:buAutoNum type="arabicPeriod"/>
            </a:pPr>
            <a:r>
              <a:rPr lang="en-US" altLang="zh-TW" dirty="0"/>
              <a:t>Toothbrushes</a:t>
            </a:r>
            <a:endParaRPr lang="zh-TW" altLang="en-US" dirty="0"/>
          </a:p>
        </p:txBody>
      </p:sp>
      <p:pic>
        <p:nvPicPr>
          <p:cNvPr id="18" name="圖片 17">
            <a:extLst>
              <a:ext uri="{FF2B5EF4-FFF2-40B4-BE49-F238E27FC236}">
                <a16:creationId xmlns:a16="http://schemas.microsoft.com/office/drawing/2014/main" id="{4ADF82A4-238A-4F38-8531-358E0A715C38}"/>
              </a:ext>
            </a:extLst>
          </p:cNvPr>
          <p:cNvPicPr>
            <a:picLocks noChangeAspect="1"/>
          </p:cNvPicPr>
          <p:nvPr/>
        </p:nvPicPr>
        <p:blipFill rotWithShape="1">
          <a:blip r:embed="rId2">
            <a:extLst>
              <a:ext uri="{28A0092B-C50C-407E-A947-70E740481C1C}">
                <a14:useLocalDpi xmlns:a14="http://schemas.microsoft.com/office/drawing/2010/main" val="0"/>
              </a:ext>
            </a:extLst>
          </a:blip>
          <a:srcRect l="5832" r="12589"/>
          <a:stretch/>
        </p:blipFill>
        <p:spPr>
          <a:xfrm>
            <a:off x="3016436" y="3766552"/>
            <a:ext cx="2416420" cy="2094497"/>
          </a:xfrm>
          <a:prstGeom prst="rect">
            <a:avLst/>
          </a:prstGeom>
        </p:spPr>
      </p:pic>
      <p:pic>
        <p:nvPicPr>
          <p:cNvPr id="23" name="內容版面配置區 19">
            <a:extLst>
              <a:ext uri="{FF2B5EF4-FFF2-40B4-BE49-F238E27FC236}">
                <a16:creationId xmlns:a16="http://schemas.microsoft.com/office/drawing/2014/main" id="{0F2D9089-F697-4F89-81EC-50C3988AAF04}"/>
              </a:ext>
            </a:extLst>
          </p:cNvPr>
          <p:cNvPicPr>
            <a:picLocks noGrp="1" noChangeAspect="1"/>
          </p:cNvPicPr>
          <p:nvPr>
            <p:ph idx="1"/>
          </p:nvPr>
        </p:nvPicPr>
        <p:blipFill rotWithShape="1">
          <a:blip r:embed="rId3"/>
          <a:srcRect l="30826" t="15333" r="31587" b="8850"/>
          <a:stretch/>
        </p:blipFill>
        <p:spPr>
          <a:xfrm>
            <a:off x="6527574" y="446088"/>
            <a:ext cx="4772477" cy="5414962"/>
          </a:xfrm>
        </p:spPr>
      </p:pic>
      <p:sp>
        <p:nvSpPr>
          <p:cNvPr id="3" name="矩形 2"/>
          <p:cNvSpPr/>
          <p:nvPr/>
        </p:nvSpPr>
        <p:spPr>
          <a:xfrm>
            <a:off x="6527574" y="4937719"/>
            <a:ext cx="603975" cy="923330"/>
          </a:xfrm>
          <a:prstGeom prst="rect">
            <a:avLst/>
          </a:prstGeom>
          <a:noFill/>
        </p:spPr>
        <p:txBody>
          <a:bodyPr wrap="square" lIns="91440" tIns="45720" rIns="91440" bIns="45720">
            <a:spAutoFit/>
          </a:bodyPr>
          <a:lstStyle/>
          <a:p>
            <a:pPr algn="ct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7" name="矩形 6"/>
          <p:cNvSpPr/>
          <p:nvPr/>
        </p:nvSpPr>
        <p:spPr>
          <a:xfrm>
            <a:off x="9441164" y="3139581"/>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矩形 8"/>
          <p:cNvSpPr/>
          <p:nvPr/>
        </p:nvSpPr>
        <p:spPr>
          <a:xfrm>
            <a:off x="8318620" y="2093834"/>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11" name="矩形 10"/>
          <p:cNvSpPr/>
          <p:nvPr/>
        </p:nvSpPr>
        <p:spPr>
          <a:xfrm>
            <a:off x="3016436" y="493771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983688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圖片 21">
            <a:extLst>
              <a:ext uri="{FF2B5EF4-FFF2-40B4-BE49-F238E27FC236}">
                <a16:creationId xmlns:a16="http://schemas.microsoft.com/office/drawing/2014/main" id="{1A77D5B7-2980-4A1E-ABE2-9646F927203A}"/>
              </a:ext>
            </a:extLst>
          </p:cNvPr>
          <p:cNvPicPr>
            <a:picLocks noChangeAspect="1"/>
          </p:cNvPicPr>
          <p:nvPr/>
        </p:nvPicPr>
        <p:blipFill rotWithShape="1">
          <a:blip r:embed="rId2"/>
          <a:srcRect l="32146" t="16051" r="33738" b="8854"/>
          <a:stretch/>
        </p:blipFill>
        <p:spPr>
          <a:xfrm>
            <a:off x="6638012" y="446087"/>
            <a:ext cx="2457584" cy="3042837"/>
          </a:xfrm>
          <a:prstGeom prst="rect">
            <a:avLst/>
          </a:prstGeom>
        </p:spPr>
      </p:pic>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Driving System:</a:t>
            </a:r>
          </a:p>
          <a:p>
            <a:pPr marL="496888" lvl="1" indent="-228600" algn="just">
              <a:buAutoNum type="arabicPeriod"/>
            </a:pPr>
            <a:r>
              <a:rPr lang="en-US" altLang="zh-TW" dirty="0"/>
              <a:t>The driving system is simply consisted of one motor mounting on the driving cam as shown.</a:t>
            </a:r>
          </a:p>
          <a:p>
            <a:pPr marL="496888" lvl="1" indent="-228600" algn="just">
              <a:buAutoNum type="arabicPeriod"/>
            </a:pPr>
            <a:r>
              <a:rPr lang="en-GB" altLang="zh-TW" dirty="0"/>
              <a:t>Then the driving cam conducts momentum to the squeezing system by linkages.</a:t>
            </a:r>
            <a:endParaRPr lang="zh-TW" altLang="en-US" dirty="0"/>
          </a:p>
        </p:txBody>
      </p:sp>
      <p:sp>
        <p:nvSpPr>
          <p:cNvPr id="10" name="向上箭號 9"/>
          <p:cNvSpPr/>
          <p:nvPr/>
        </p:nvSpPr>
        <p:spPr>
          <a:xfrm rot="14755451">
            <a:off x="8725497" y="608795"/>
            <a:ext cx="270164" cy="14554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文字方塊 10"/>
          <p:cNvSpPr txBox="1"/>
          <p:nvPr/>
        </p:nvSpPr>
        <p:spPr>
          <a:xfrm>
            <a:off x="9597851" y="446087"/>
            <a:ext cx="2294577" cy="923330"/>
          </a:xfrm>
          <a:prstGeom prst="rect">
            <a:avLst/>
          </a:prstGeom>
          <a:noFill/>
        </p:spPr>
        <p:txBody>
          <a:bodyPr wrap="square" rtlCol="0">
            <a:spAutoFit/>
          </a:bodyPr>
          <a:lstStyle/>
          <a:p>
            <a:pPr algn="ctr"/>
            <a:r>
              <a:rPr lang="en-US" altLang="zh-TW" dirty="0"/>
              <a:t>Driving Cam</a:t>
            </a:r>
          </a:p>
          <a:p>
            <a:pPr algn="ctr"/>
            <a:r>
              <a:rPr lang="en-US" altLang="zh-TW" dirty="0"/>
              <a:t>(Where the driving motors mount on)</a:t>
            </a:r>
          </a:p>
        </p:txBody>
      </p:sp>
      <p:pic>
        <p:nvPicPr>
          <p:cNvPr id="24" name="內容版面配置區 15">
            <a:extLst>
              <a:ext uri="{FF2B5EF4-FFF2-40B4-BE49-F238E27FC236}">
                <a16:creationId xmlns:a16="http://schemas.microsoft.com/office/drawing/2014/main" id="{9EDCDA98-FE75-487C-A1AE-4EC176FA9874}"/>
              </a:ext>
            </a:extLst>
          </p:cNvPr>
          <p:cNvPicPr>
            <a:picLocks noGrp="1" noChangeAspect="1"/>
          </p:cNvPicPr>
          <p:nvPr>
            <p:ph idx="1"/>
          </p:nvPr>
        </p:nvPicPr>
        <p:blipFill rotWithShape="1">
          <a:blip r:embed="rId3"/>
          <a:srcRect l="30799" t="14924" r="32879" b="9254"/>
          <a:stretch/>
        </p:blipFill>
        <p:spPr>
          <a:xfrm>
            <a:off x="8673484" y="2871369"/>
            <a:ext cx="2546106" cy="2989680"/>
          </a:xfrm>
        </p:spPr>
      </p:pic>
      <p:sp>
        <p:nvSpPr>
          <p:cNvPr id="8" name="向上箭號 7"/>
          <p:cNvSpPr/>
          <p:nvPr/>
        </p:nvSpPr>
        <p:spPr>
          <a:xfrm rot="11627278">
            <a:off x="10314404" y="1421505"/>
            <a:ext cx="281587" cy="25256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78776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內容版面配置區 19">
            <a:extLst>
              <a:ext uri="{FF2B5EF4-FFF2-40B4-BE49-F238E27FC236}">
                <a16:creationId xmlns:a16="http://schemas.microsoft.com/office/drawing/2014/main" id="{DCD0F4B7-6595-4C35-BCAD-182A0122A93E}"/>
              </a:ext>
            </a:extLst>
          </p:cNvPr>
          <p:cNvPicPr>
            <a:picLocks noGrp="1" noChangeAspect="1"/>
          </p:cNvPicPr>
          <p:nvPr>
            <p:ph idx="1"/>
          </p:nvPr>
        </p:nvPicPr>
        <p:blipFill rotWithShape="1">
          <a:blip r:embed="rId2"/>
          <a:srcRect l="42425" t="32454" r="40672" b="23163"/>
          <a:stretch/>
        </p:blipFill>
        <p:spPr>
          <a:xfrm>
            <a:off x="7257754" y="1231998"/>
            <a:ext cx="2914377" cy="4304391"/>
          </a:xfrm>
        </p:spPr>
      </p:pic>
      <p:sp>
        <p:nvSpPr>
          <p:cNvPr id="2" name="標題 1"/>
          <p:cNvSpPr>
            <a:spLocks noGrp="1"/>
          </p:cNvSpPr>
          <p:nvPr>
            <p:ph type="title"/>
          </p:nvPr>
        </p:nvSpPr>
        <p:spPr/>
        <p:txBody>
          <a:bodyPr/>
          <a:lstStyle/>
          <a:p>
            <a:r>
              <a:rPr lang="en-US" altLang="zh-TW" dirty="0"/>
              <a:t>How it works?</a:t>
            </a:r>
            <a:endParaRPr lang="zh-TW" altLang="en-US" dirty="0"/>
          </a:p>
        </p:txBody>
      </p:sp>
      <mc:AlternateContent xmlns:mc="http://schemas.openxmlformats.org/markup-compatibility/2006">
        <mc:Choice xmlns:a14="http://schemas.microsoft.com/office/drawing/2010/main" Requires="a14">
          <p:sp>
            <p:nvSpPr>
              <p:cNvPr id="4" name="文字版面配置區 3"/>
              <p:cNvSpPr>
                <a:spLocks noGrp="1"/>
              </p:cNvSpPr>
              <p:nvPr>
                <p:ph type="body" sz="half" idx="2"/>
              </p:nvPr>
            </p:nvSpPr>
            <p:spPr>
              <a:xfrm>
                <a:off x="2589212" y="1598613"/>
                <a:ext cx="3505199" cy="4365162"/>
              </a:xfrm>
            </p:spPr>
            <p:txBody>
              <a:bodyPr>
                <a:normAutofit/>
              </a:bodyPr>
              <a:lstStyle/>
              <a:p>
                <a:pPr marL="285750" indent="-285750" algn="just">
                  <a:buFont typeface="Arial" panose="020B0604020202020204" pitchFamily="34" charset="0"/>
                  <a:buChar char="•"/>
                </a:pPr>
                <a:r>
                  <a:rPr lang="en-US" altLang="zh-TW" dirty="0"/>
                  <a:t>The Dispensing System:</a:t>
                </a:r>
              </a:p>
              <a:p>
                <a:pPr marL="496888" lvl="1" indent="-228600" algn="just">
                  <a:buFont typeface="Wingdings 3" charset="2"/>
                  <a:buAutoNum type="arabicPeriod"/>
                </a:pPr>
                <a:r>
                  <a:rPr lang="en-US" altLang="zh-TW" dirty="0"/>
                  <a:t>The dispenser includes a toothpaste chamber, dispensing piston, toothpaste inlet (tube), and a check valve.</a:t>
                </a:r>
              </a:p>
              <a:p>
                <a:pPr marL="496888" lvl="1" indent="-228600" algn="just">
                  <a:buFont typeface="Wingdings 3" charset="2"/>
                  <a:buAutoNum type="arabicPeriod"/>
                </a:pPr>
                <a:r>
                  <a:rPr lang="en-US" altLang="zh-TW" dirty="0"/>
                  <a:t>Toothpaste comes into the toothpaste chamber from the toothpaste inlet (whether it’s from toothpaste containers or directly from the production line) with a constant pressure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𝑖</m:t>
                        </m:r>
                      </m:sub>
                    </m:sSub>
                  </m:oMath>
                </a14:m>
                <a:r>
                  <a:rPr lang="en-US" altLang="zh-TW" dirty="0"/>
                  <a:t>. Once toothpaste fulfilling the chamber, the dispensing piston comes down to block toothpaste from infusing and squeezes toothpaste through the check valve onto toothbrushes. The check valve works for one-way extrusion here.</a:t>
                </a:r>
              </a:p>
              <a:p>
                <a:pPr marL="496888" lvl="1" indent="-228600" algn="just">
                  <a:buFont typeface="Wingdings 3" charset="2"/>
                  <a:buAutoNum type="arabicPeriod"/>
                </a:pPr>
                <a:r>
                  <a:rPr lang="en-US" altLang="zh-TW" dirty="0"/>
                  <a:t>Check valves offer a pressure </a:t>
                </a:r>
                <a14:m>
                  <m:oMath xmlns:m="http://schemas.openxmlformats.org/officeDocument/2006/math">
                    <m:sSub>
                      <m:sSubPr>
                        <m:ctrlPr>
                          <a:rPr lang="en-US" altLang="zh-TW" i="1" smtClean="0">
                            <a:latin typeface="Cambria Math" panose="02040503050406030204" pitchFamily="18" charset="0"/>
                          </a:rPr>
                        </m:ctrlPr>
                      </m:sSubPr>
                      <m:e>
                        <m:r>
                          <a:rPr lang="en-GB" altLang="zh-TW" b="0" i="1" smtClean="0">
                            <a:latin typeface="Cambria Math" panose="02040503050406030204" pitchFamily="18" charset="0"/>
                          </a:rPr>
                          <m:t>𝑃</m:t>
                        </m:r>
                      </m:e>
                      <m:sub>
                        <m:r>
                          <a:rPr lang="en-GB" altLang="zh-TW" b="0" i="1" smtClean="0">
                            <a:latin typeface="Cambria Math" panose="02040503050406030204" pitchFamily="18" charset="0"/>
                          </a:rPr>
                          <m:t>𝑐𝑣</m:t>
                        </m:r>
                      </m:sub>
                    </m:sSub>
                  </m:oMath>
                </a14:m>
                <a:r>
                  <a:rPr lang="en-US" altLang="zh-TW" dirty="0"/>
                  <a:t> to prevent toothpaste from dripping</a:t>
                </a:r>
                <a:r>
                  <a:rPr lang="en-GB" altLang="zh-TW" dirty="0"/>
                  <a:t>, and in order to make check valves work perfect,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𝑐𝑣</m:t>
                        </m:r>
                      </m:sub>
                    </m:sSub>
                    <m:r>
                      <a:rPr lang="en-GB" altLang="zh-TW" i="1" smtClean="0">
                        <a:latin typeface="Cambria Math" panose="02040503050406030204" pitchFamily="18" charset="0"/>
                        <a:ea typeface="Cambria Math" panose="02040503050406030204" pitchFamily="18" charset="0"/>
                      </a:rPr>
                      <m:t>&gt;</m:t>
                    </m:r>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𝑖</m:t>
                        </m:r>
                      </m:sub>
                    </m:sSub>
                  </m:oMath>
                </a14:m>
                <a:r>
                  <a:rPr lang="en-US" altLang="zh-TW" dirty="0"/>
                  <a:t>.</a:t>
                </a:r>
              </a:p>
            </p:txBody>
          </p:sp>
        </mc:Choice>
        <mc:Fallback>
          <p:sp>
            <p:nvSpPr>
              <p:cNvPr id="4" name="文字版面配置區 3"/>
              <p:cNvSpPr>
                <a:spLocks noGrp="1" noRot="1" noChangeAspect="1" noMove="1" noResize="1" noEditPoints="1" noAdjustHandles="1" noChangeArrowheads="1" noChangeShapeType="1" noTextEdit="1"/>
              </p:cNvSpPr>
              <p:nvPr>
                <p:ph type="body" sz="half" idx="2"/>
              </p:nvPr>
            </p:nvSpPr>
            <p:spPr>
              <a:xfrm>
                <a:off x="2589212" y="1598613"/>
                <a:ext cx="3505199" cy="4365162"/>
              </a:xfrm>
              <a:blipFill>
                <a:blip r:embed="rId3"/>
                <a:stretch>
                  <a:fillRect l="-348" t="-279" b="-698"/>
                </a:stretch>
              </a:blipFill>
            </p:spPr>
            <p:txBody>
              <a:bodyPr/>
              <a:lstStyle/>
              <a:p>
                <a:r>
                  <a:rPr lang="en-GB">
                    <a:noFill/>
                  </a:rPr>
                  <a:t> </a:t>
                </a:r>
              </a:p>
            </p:txBody>
          </p:sp>
        </mc:Fallback>
      </mc:AlternateContent>
      <p:sp>
        <p:nvSpPr>
          <p:cNvPr id="3" name="向左箭號 2"/>
          <p:cNvSpPr/>
          <p:nvPr/>
        </p:nvSpPr>
        <p:spPr>
          <a:xfrm rot="16200000">
            <a:off x="7652995" y="1093026"/>
            <a:ext cx="780987" cy="23018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5702968" y="5594443"/>
            <a:ext cx="2124635" cy="369332"/>
          </a:xfrm>
          <a:prstGeom prst="rect">
            <a:avLst/>
          </a:prstGeom>
          <a:noFill/>
        </p:spPr>
        <p:txBody>
          <a:bodyPr wrap="square" rtlCol="0">
            <a:spAutoFit/>
          </a:bodyPr>
          <a:lstStyle/>
          <a:p>
            <a:pPr algn="ctr"/>
            <a:r>
              <a:rPr lang="en-US" altLang="zh-TW" dirty="0"/>
              <a:t>Check Valve</a:t>
            </a:r>
            <a:endParaRPr lang="zh-TW" altLang="en-US" dirty="0"/>
          </a:p>
        </p:txBody>
      </p:sp>
      <p:sp>
        <p:nvSpPr>
          <p:cNvPr id="11" name="向上箭號 10"/>
          <p:cNvSpPr/>
          <p:nvPr/>
        </p:nvSpPr>
        <p:spPr>
          <a:xfrm rot="13425032">
            <a:off x="9441619" y="852398"/>
            <a:ext cx="281102" cy="26242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9829582" y="749578"/>
            <a:ext cx="2048740" cy="369332"/>
          </a:xfrm>
          <a:prstGeom prst="rect">
            <a:avLst/>
          </a:prstGeom>
          <a:noFill/>
        </p:spPr>
        <p:txBody>
          <a:bodyPr wrap="square" rtlCol="0">
            <a:spAutoFit/>
          </a:bodyPr>
          <a:lstStyle/>
          <a:p>
            <a:pPr algn="ctr"/>
            <a:r>
              <a:rPr lang="en-US" altLang="zh-TW" dirty="0"/>
              <a:t>Toothpaste Inlet</a:t>
            </a:r>
            <a:endParaRPr lang="zh-TW" altLang="en-US" dirty="0"/>
          </a:p>
        </p:txBody>
      </p:sp>
      <p:sp>
        <p:nvSpPr>
          <p:cNvPr id="12" name="向上箭號 11"/>
          <p:cNvSpPr/>
          <p:nvPr/>
        </p:nvSpPr>
        <p:spPr>
          <a:xfrm rot="14225975">
            <a:off x="10175649" y="3046770"/>
            <a:ext cx="255382" cy="14009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p:cNvSpPr txBox="1"/>
          <p:nvPr/>
        </p:nvSpPr>
        <p:spPr>
          <a:xfrm>
            <a:off x="10434547" y="2890224"/>
            <a:ext cx="1443775" cy="369332"/>
          </a:xfrm>
          <a:prstGeom prst="rect">
            <a:avLst/>
          </a:prstGeom>
          <a:noFill/>
        </p:spPr>
        <p:txBody>
          <a:bodyPr wrap="square" rtlCol="0">
            <a:spAutoFit/>
          </a:bodyPr>
          <a:lstStyle/>
          <a:p>
            <a:pPr algn="ctr"/>
            <a:r>
              <a:rPr lang="en-US" altLang="zh-TW" dirty="0"/>
              <a:t>Toothpaste</a:t>
            </a:r>
            <a:endParaRPr lang="zh-TW" altLang="en-US" dirty="0"/>
          </a:p>
        </p:txBody>
      </p:sp>
      <p:sp>
        <p:nvSpPr>
          <p:cNvPr id="18" name="文字方塊 17"/>
          <p:cNvSpPr txBox="1"/>
          <p:nvPr/>
        </p:nvSpPr>
        <p:spPr>
          <a:xfrm>
            <a:off x="7080203" y="448293"/>
            <a:ext cx="2081555" cy="369332"/>
          </a:xfrm>
          <a:prstGeom prst="rect">
            <a:avLst/>
          </a:prstGeom>
          <a:noFill/>
        </p:spPr>
        <p:txBody>
          <a:bodyPr wrap="square" rtlCol="0">
            <a:spAutoFit/>
          </a:bodyPr>
          <a:lstStyle/>
          <a:p>
            <a:r>
              <a:rPr lang="en-US" altLang="zh-TW" dirty="0"/>
              <a:t>Dispensing piston</a:t>
            </a:r>
            <a:endParaRPr lang="zh-TW" altLang="en-US" dirty="0"/>
          </a:p>
        </p:txBody>
      </p:sp>
      <p:sp>
        <p:nvSpPr>
          <p:cNvPr id="19" name="文字方塊 18"/>
          <p:cNvSpPr txBox="1"/>
          <p:nvPr/>
        </p:nvSpPr>
        <p:spPr>
          <a:xfrm>
            <a:off x="5899048" y="1414284"/>
            <a:ext cx="1477247" cy="646331"/>
          </a:xfrm>
          <a:prstGeom prst="rect">
            <a:avLst/>
          </a:prstGeom>
          <a:noFill/>
        </p:spPr>
        <p:txBody>
          <a:bodyPr wrap="square" rtlCol="0">
            <a:spAutoFit/>
          </a:bodyPr>
          <a:lstStyle/>
          <a:p>
            <a:pPr algn="just"/>
            <a:r>
              <a:rPr lang="en-US" altLang="zh-TW" dirty="0"/>
              <a:t>Toothpaste chamber</a:t>
            </a:r>
            <a:endParaRPr lang="zh-TW" altLang="en-US" dirty="0"/>
          </a:p>
        </p:txBody>
      </p:sp>
      <p:sp>
        <p:nvSpPr>
          <p:cNvPr id="22" name="向左箭號 2">
            <a:extLst>
              <a:ext uri="{FF2B5EF4-FFF2-40B4-BE49-F238E27FC236}">
                <a16:creationId xmlns:a16="http://schemas.microsoft.com/office/drawing/2014/main" id="{56CFEE77-B422-45C5-9181-F967BCDA7D55}"/>
              </a:ext>
            </a:extLst>
          </p:cNvPr>
          <p:cNvSpPr/>
          <p:nvPr/>
        </p:nvSpPr>
        <p:spPr>
          <a:xfrm rot="13937039">
            <a:off x="6816798" y="2536880"/>
            <a:ext cx="1405232" cy="23829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向上箭號 11">
            <a:extLst>
              <a:ext uri="{FF2B5EF4-FFF2-40B4-BE49-F238E27FC236}">
                <a16:creationId xmlns:a16="http://schemas.microsoft.com/office/drawing/2014/main" id="{20BAF0D4-A18D-485B-A942-668566BAED92}"/>
              </a:ext>
            </a:extLst>
          </p:cNvPr>
          <p:cNvSpPr/>
          <p:nvPr/>
        </p:nvSpPr>
        <p:spPr>
          <a:xfrm rot="1848995">
            <a:off x="7463708" y="3920530"/>
            <a:ext cx="255380" cy="173067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1149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內容版面配置區 24">
            <a:extLst>
              <a:ext uri="{FF2B5EF4-FFF2-40B4-BE49-F238E27FC236}">
                <a16:creationId xmlns:a16="http://schemas.microsoft.com/office/drawing/2014/main" id="{B720DD13-7270-4A7E-93B2-91BEDD56B51D}"/>
              </a:ext>
            </a:extLst>
          </p:cNvPr>
          <p:cNvPicPr>
            <a:picLocks noGrp="1" noChangeAspect="1"/>
          </p:cNvPicPr>
          <p:nvPr>
            <p:ph idx="1"/>
          </p:nvPr>
        </p:nvPicPr>
        <p:blipFill rotWithShape="1">
          <a:blip r:embed="rId2"/>
          <a:srcRect l="32169" t="15513" r="33167" b="7560"/>
          <a:stretch/>
        </p:blipFill>
        <p:spPr>
          <a:xfrm>
            <a:off x="8317260" y="446088"/>
            <a:ext cx="2955670" cy="3689596"/>
          </a:xfrm>
        </p:spPr>
      </p:pic>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Positioning System:</a:t>
            </a:r>
          </a:p>
          <a:p>
            <a:pPr marL="496888" lvl="1" indent="-228600" algn="just">
              <a:buAutoNum type="arabicPeriod"/>
            </a:pPr>
            <a:r>
              <a:rPr lang="en-US" altLang="zh-TW" dirty="0"/>
              <a:t>Guiding Slot adjusts toothbrushes’ lateral position, and Positioning Bolt positions toothbrushes under Dispenser’s nuzzle.</a:t>
            </a:r>
          </a:p>
          <a:p>
            <a:pPr marL="442913" lvl="1" algn="just"/>
            <a:r>
              <a:rPr lang="en-US" altLang="zh-TW" dirty="0"/>
              <a:t>…</a:t>
            </a:r>
          </a:p>
        </p:txBody>
      </p:sp>
      <p:sp>
        <p:nvSpPr>
          <p:cNvPr id="6" name="向下箭號 5"/>
          <p:cNvSpPr/>
          <p:nvPr/>
        </p:nvSpPr>
        <p:spPr>
          <a:xfrm rot="17314193">
            <a:off x="8414089" y="1596176"/>
            <a:ext cx="284350" cy="17165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56654" y="1677018"/>
            <a:ext cx="1860606" cy="369332"/>
          </a:xfrm>
          <a:prstGeom prst="rect">
            <a:avLst/>
          </a:prstGeom>
          <a:noFill/>
        </p:spPr>
        <p:txBody>
          <a:bodyPr wrap="square" rtlCol="0">
            <a:spAutoFit/>
          </a:bodyPr>
          <a:lstStyle/>
          <a:p>
            <a:r>
              <a:rPr lang="en-US" altLang="zh-TW" dirty="0"/>
              <a:t>Positioning Bolt</a:t>
            </a:r>
            <a:endParaRPr lang="zh-TW" altLang="en-US" dirty="0"/>
          </a:p>
        </p:txBody>
      </p:sp>
      <p:sp>
        <p:nvSpPr>
          <p:cNvPr id="3" name="向上箭號 2"/>
          <p:cNvSpPr/>
          <p:nvPr/>
        </p:nvSpPr>
        <p:spPr>
          <a:xfrm rot="19688338">
            <a:off x="10584637" y="3050684"/>
            <a:ext cx="298364" cy="108823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10454338" y="4110000"/>
            <a:ext cx="1637184" cy="369332"/>
          </a:xfrm>
          <a:prstGeom prst="rect">
            <a:avLst/>
          </a:prstGeom>
          <a:noFill/>
        </p:spPr>
        <p:txBody>
          <a:bodyPr wrap="square" rtlCol="0">
            <a:spAutoFit/>
          </a:bodyPr>
          <a:lstStyle/>
          <a:p>
            <a:r>
              <a:rPr lang="en-US" altLang="zh-TW" dirty="0"/>
              <a:t>Guiding Slot</a:t>
            </a:r>
            <a:endParaRPr lang="zh-TW" altLang="en-US" dirty="0"/>
          </a:p>
        </p:txBody>
      </p:sp>
      <p:grpSp>
        <p:nvGrpSpPr>
          <p:cNvPr id="55" name="群組 54">
            <a:extLst>
              <a:ext uri="{FF2B5EF4-FFF2-40B4-BE49-F238E27FC236}">
                <a16:creationId xmlns:a16="http://schemas.microsoft.com/office/drawing/2014/main" id="{564B213C-DEE5-4553-BDC1-68F487F6E141}"/>
              </a:ext>
            </a:extLst>
          </p:cNvPr>
          <p:cNvGrpSpPr/>
          <p:nvPr/>
        </p:nvGrpSpPr>
        <p:grpSpPr>
          <a:xfrm>
            <a:off x="9627869" y="5245165"/>
            <a:ext cx="2463653" cy="369332"/>
            <a:chOff x="9627869" y="5245165"/>
            <a:chExt cx="2463653" cy="369332"/>
          </a:xfrm>
        </p:grpSpPr>
        <p:sp>
          <p:nvSpPr>
            <p:cNvPr id="8" name="向下箭號 7"/>
            <p:cNvSpPr/>
            <p:nvPr/>
          </p:nvSpPr>
          <p:spPr>
            <a:xfrm rot="5400000">
              <a:off x="9840506" y="5114591"/>
              <a:ext cx="205208" cy="6304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10285170" y="5245165"/>
              <a:ext cx="1806352" cy="369332"/>
            </a:xfrm>
            <a:prstGeom prst="rect">
              <a:avLst/>
            </a:prstGeom>
            <a:noFill/>
          </p:spPr>
          <p:txBody>
            <a:bodyPr wrap="square" rtlCol="0">
              <a:spAutoFit/>
            </a:bodyPr>
            <a:lstStyle/>
            <a:p>
              <a:r>
                <a:rPr lang="en-US" altLang="zh-TW" dirty="0"/>
                <a:t>Tilt Angle</a:t>
              </a:r>
              <a:endParaRPr lang="zh-TW" altLang="en-US" dirty="0"/>
            </a:p>
          </p:txBody>
        </p:sp>
      </p:grpSp>
      <p:grpSp>
        <p:nvGrpSpPr>
          <p:cNvPr id="54" name="群組 53">
            <a:extLst>
              <a:ext uri="{FF2B5EF4-FFF2-40B4-BE49-F238E27FC236}">
                <a16:creationId xmlns:a16="http://schemas.microsoft.com/office/drawing/2014/main" id="{29B7FC89-719E-447F-BC8A-E2E88D8549EF}"/>
              </a:ext>
            </a:extLst>
          </p:cNvPr>
          <p:cNvGrpSpPr/>
          <p:nvPr/>
        </p:nvGrpSpPr>
        <p:grpSpPr>
          <a:xfrm>
            <a:off x="6360353" y="3548460"/>
            <a:ext cx="3294187" cy="2797964"/>
            <a:chOff x="6360353" y="3548460"/>
            <a:chExt cx="3294187" cy="2797964"/>
          </a:xfrm>
        </p:grpSpPr>
        <p:pic>
          <p:nvPicPr>
            <p:cNvPr id="29" name="圖片 28">
              <a:extLst>
                <a:ext uri="{FF2B5EF4-FFF2-40B4-BE49-F238E27FC236}">
                  <a16:creationId xmlns:a16="http://schemas.microsoft.com/office/drawing/2014/main" id="{FF2C1B6E-6981-4AB6-BA8E-4CA0CB71EA81}"/>
                </a:ext>
              </a:extLst>
            </p:cNvPr>
            <p:cNvPicPr>
              <a:picLocks noChangeAspect="1"/>
            </p:cNvPicPr>
            <p:nvPr/>
          </p:nvPicPr>
          <p:blipFill rotWithShape="1">
            <a:blip r:embed="rId3"/>
            <a:srcRect l="27263" t="13463" r="27767" b="9385"/>
            <a:stretch/>
          </p:blipFill>
          <p:spPr>
            <a:xfrm>
              <a:off x="6360353" y="3548460"/>
              <a:ext cx="2899277" cy="2797964"/>
            </a:xfrm>
            <a:prstGeom prst="rect">
              <a:avLst/>
            </a:prstGeom>
          </p:spPr>
        </p:pic>
        <p:cxnSp>
          <p:nvCxnSpPr>
            <p:cNvPr id="31" name="直線接點 30">
              <a:extLst>
                <a:ext uri="{FF2B5EF4-FFF2-40B4-BE49-F238E27FC236}">
                  <a16:creationId xmlns:a16="http://schemas.microsoft.com/office/drawing/2014/main" id="{AB13BE85-EB3A-4C60-9834-7305F0DE9FF8}"/>
                </a:ext>
              </a:extLst>
            </p:cNvPr>
            <p:cNvCxnSpPr>
              <a:cxnSpLocks/>
            </p:cNvCxnSpPr>
            <p:nvPr/>
          </p:nvCxnSpPr>
          <p:spPr>
            <a:xfrm>
              <a:off x="7962900" y="5614497"/>
              <a:ext cx="16916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CA12EF9-F388-49AF-8677-7FAD2F323A30}"/>
                </a:ext>
              </a:extLst>
            </p:cNvPr>
            <p:cNvCxnSpPr>
              <a:cxnSpLocks/>
            </p:cNvCxnSpPr>
            <p:nvPr/>
          </p:nvCxnSpPr>
          <p:spPr>
            <a:xfrm flipV="1">
              <a:off x="9163674" y="5257800"/>
              <a:ext cx="464196" cy="4986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228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內容版面配置區 10">
            <a:extLst>
              <a:ext uri="{FF2B5EF4-FFF2-40B4-BE49-F238E27FC236}">
                <a16:creationId xmlns:a16="http://schemas.microsoft.com/office/drawing/2014/main" id="{D320942A-BC63-4410-A2AC-D45183CB07B9}"/>
              </a:ext>
            </a:extLst>
          </p:cNvPr>
          <p:cNvSpPr>
            <a:spLocks noGrp="1"/>
          </p:cNvSpPr>
          <p:nvPr>
            <p:ph idx="1"/>
          </p:nvPr>
        </p:nvSpPr>
        <p:spPr/>
        <p:txBody>
          <a:bodyPr/>
          <a:lstStyle/>
          <a:p>
            <a:endParaRPr lang="en-GB" dirty="0"/>
          </a:p>
        </p:txBody>
      </p:sp>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Positioning System:</a:t>
            </a:r>
          </a:p>
          <a:p>
            <a:pPr marL="496888" lvl="1" indent="-228600" algn="just">
              <a:buFont typeface="+mj-lt"/>
              <a:buAutoNum type="arabicPeriod" startAt="2"/>
            </a:pPr>
            <a:r>
              <a:rPr lang="en-GB" altLang="zh-TW" dirty="0"/>
              <a:t>Tilt Angle helps prevent toothpaste from dripping.</a:t>
            </a:r>
            <a:endParaRPr lang="zh-TW" altLang="en-US" dirty="0"/>
          </a:p>
        </p:txBody>
      </p:sp>
      <p:grpSp>
        <p:nvGrpSpPr>
          <p:cNvPr id="18" name="群組 17">
            <a:extLst>
              <a:ext uri="{FF2B5EF4-FFF2-40B4-BE49-F238E27FC236}">
                <a16:creationId xmlns:a16="http://schemas.microsoft.com/office/drawing/2014/main" id="{6E6DA8A8-103B-4697-87D0-F2E33A44C358}"/>
              </a:ext>
            </a:extLst>
          </p:cNvPr>
          <p:cNvGrpSpPr/>
          <p:nvPr/>
        </p:nvGrpSpPr>
        <p:grpSpPr>
          <a:xfrm>
            <a:off x="6323012" y="1598613"/>
            <a:ext cx="3948452" cy="3400436"/>
            <a:chOff x="6360353" y="3548460"/>
            <a:chExt cx="3294187" cy="2797964"/>
          </a:xfrm>
        </p:grpSpPr>
        <p:pic>
          <p:nvPicPr>
            <p:cNvPr id="19" name="圖片 18">
              <a:extLst>
                <a:ext uri="{FF2B5EF4-FFF2-40B4-BE49-F238E27FC236}">
                  <a16:creationId xmlns:a16="http://schemas.microsoft.com/office/drawing/2014/main" id="{DF0F2352-CF2D-417E-A5CB-A824CF4EA896}"/>
                </a:ext>
              </a:extLst>
            </p:cNvPr>
            <p:cNvPicPr>
              <a:picLocks noChangeAspect="1"/>
            </p:cNvPicPr>
            <p:nvPr/>
          </p:nvPicPr>
          <p:blipFill rotWithShape="1">
            <a:blip r:embed="rId2"/>
            <a:srcRect l="27263" t="13463" r="27767" b="9385"/>
            <a:stretch/>
          </p:blipFill>
          <p:spPr>
            <a:xfrm>
              <a:off x="6360353" y="3548460"/>
              <a:ext cx="2899277" cy="2797964"/>
            </a:xfrm>
            <a:prstGeom prst="rect">
              <a:avLst/>
            </a:prstGeom>
          </p:spPr>
        </p:pic>
        <p:cxnSp>
          <p:nvCxnSpPr>
            <p:cNvPr id="20" name="直線接點 19">
              <a:extLst>
                <a:ext uri="{FF2B5EF4-FFF2-40B4-BE49-F238E27FC236}">
                  <a16:creationId xmlns:a16="http://schemas.microsoft.com/office/drawing/2014/main" id="{394BD58B-948F-4044-AA84-59D669477B9D}"/>
                </a:ext>
              </a:extLst>
            </p:cNvPr>
            <p:cNvCxnSpPr>
              <a:cxnSpLocks/>
            </p:cNvCxnSpPr>
            <p:nvPr/>
          </p:nvCxnSpPr>
          <p:spPr>
            <a:xfrm>
              <a:off x="7962900" y="5614497"/>
              <a:ext cx="16916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6B774FB6-417F-48AD-B45C-47C34616059F}"/>
                </a:ext>
              </a:extLst>
            </p:cNvPr>
            <p:cNvCxnSpPr>
              <a:cxnSpLocks/>
            </p:cNvCxnSpPr>
            <p:nvPr/>
          </p:nvCxnSpPr>
          <p:spPr>
            <a:xfrm flipV="1">
              <a:off x="9163674" y="5257800"/>
              <a:ext cx="464196" cy="4986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2" name="群組 21">
            <a:extLst>
              <a:ext uri="{FF2B5EF4-FFF2-40B4-BE49-F238E27FC236}">
                <a16:creationId xmlns:a16="http://schemas.microsoft.com/office/drawing/2014/main" id="{049E9B9B-FB70-4809-AFFF-EA0C259040A6}"/>
              </a:ext>
            </a:extLst>
          </p:cNvPr>
          <p:cNvGrpSpPr/>
          <p:nvPr/>
        </p:nvGrpSpPr>
        <p:grpSpPr>
          <a:xfrm>
            <a:off x="10271464" y="3740188"/>
            <a:ext cx="1602382" cy="369332"/>
            <a:chOff x="9627869" y="5245165"/>
            <a:chExt cx="2463653" cy="369332"/>
          </a:xfrm>
        </p:grpSpPr>
        <p:sp>
          <p:nvSpPr>
            <p:cNvPr id="23" name="向下箭號 7">
              <a:extLst>
                <a:ext uri="{FF2B5EF4-FFF2-40B4-BE49-F238E27FC236}">
                  <a16:creationId xmlns:a16="http://schemas.microsoft.com/office/drawing/2014/main" id="{3D034CB9-368A-412D-88F4-047E54D11AB6}"/>
                </a:ext>
              </a:extLst>
            </p:cNvPr>
            <p:cNvSpPr/>
            <p:nvPr/>
          </p:nvSpPr>
          <p:spPr>
            <a:xfrm rot="5400000">
              <a:off x="9840506" y="5114591"/>
              <a:ext cx="205208" cy="6304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文字方塊 23">
              <a:extLst>
                <a:ext uri="{FF2B5EF4-FFF2-40B4-BE49-F238E27FC236}">
                  <a16:creationId xmlns:a16="http://schemas.microsoft.com/office/drawing/2014/main" id="{A153FC5D-6432-47D0-923F-56B06E38EC93}"/>
                </a:ext>
              </a:extLst>
            </p:cNvPr>
            <p:cNvSpPr txBox="1"/>
            <p:nvPr/>
          </p:nvSpPr>
          <p:spPr>
            <a:xfrm>
              <a:off x="10285170" y="5245165"/>
              <a:ext cx="1806352" cy="369332"/>
            </a:xfrm>
            <a:prstGeom prst="rect">
              <a:avLst/>
            </a:prstGeom>
            <a:noFill/>
          </p:spPr>
          <p:txBody>
            <a:bodyPr wrap="square" rtlCol="0">
              <a:spAutoFit/>
            </a:bodyPr>
            <a:lstStyle/>
            <a:p>
              <a:r>
                <a:rPr lang="en-US" altLang="zh-TW" dirty="0"/>
                <a:t>Tilt Angle</a:t>
              </a:r>
              <a:endParaRPr lang="zh-TW" altLang="en-US" dirty="0"/>
            </a:p>
          </p:txBody>
        </p:sp>
      </p:grpSp>
    </p:spTree>
    <p:extLst>
      <p:ext uri="{BB962C8B-B14F-4D97-AF65-F5344CB8AC3E}">
        <p14:creationId xmlns:p14="http://schemas.microsoft.com/office/powerpoint/2010/main" val="1466618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a:t>Discussion</a:t>
            </a:r>
            <a:endParaRPr lang="zh-TW" altLang="en-US" dirty="0"/>
          </a:p>
        </p:txBody>
      </p:sp>
      <mc:AlternateContent xmlns:mc="http://schemas.openxmlformats.org/markup-compatibility/2006">
        <mc:Choice xmlns:a14="http://schemas.microsoft.com/office/drawing/2010/main" Requires="a14">
          <p:sp>
            <p:nvSpPr>
              <p:cNvPr id="8" name="內容版面配置區 7"/>
              <p:cNvSpPr>
                <a:spLocks noGrp="1"/>
              </p:cNvSpPr>
              <p:nvPr>
                <p:ph idx="1"/>
              </p:nvPr>
            </p:nvSpPr>
            <p:spPr>
              <a:xfrm>
                <a:off x="2589212" y="2133600"/>
                <a:ext cx="8915400" cy="4498109"/>
              </a:xfrm>
            </p:spPr>
            <p:txBody>
              <a:bodyPr>
                <a:normAutofit lnSpcReduction="10000"/>
              </a:bodyPr>
              <a:lstStyle/>
              <a:p>
                <a:pPr algn="just"/>
                <a:r>
                  <a:rPr lang="en-US" altLang="zh-TW" dirty="0"/>
                  <a:t>This machine is comprised of mostly mechanical mechanisms and components, which make it of less order in complexity than that built with electronical parts so that the machine should be easier to maintain, to repair, and to integrate if mounting on manufacturing lines is required.</a:t>
                </a:r>
              </a:p>
              <a:p>
                <a:pPr algn="just"/>
                <a:r>
                  <a:rPr lang="en-US" altLang="zh-TW" dirty="0"/>
                  <a:t>The dispenser contains a check valve, which is the essential component that greatly helps the dispenser machine need no more computational calculation; everything is simple physics.</a:t>
                </a:r>
              </a:p>
              <a:p>
                <a:pPr algn="just"/>
                <a:r>
                  <a:rPr lang="en-US" altLang="zh-TW" dirty="0"/>
                  <a:t>Toothpaste is delivered through Toothpaste Inlet to fill the chamber under a constant pressure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𝑖</m:t>
                        </m:r>
                      </m:sub>
                    </m:sSub>
                  </m:oMath>
                </a14:m>
                <a:r>
                  <a:rPr lang="en-US" altLang="zh-TW" dirty="0"/>
                  <a:t>, and toothpaste is not dripping because of Check Valve’s pressure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𝑐𝑣</m:t>
                        </m:r>
                      </m:sub>
                    </m:sSub>
                  </m:oMath>
                </a14:m>
                <a:r>
                  <a:rPr lang="en-US" altLang="zh-TW" dirty="0"/>
                  <a:t>, which is higher than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𝑖</m:t>
                        </m:r>
                      </m:sub>
                    </m:sSub>
                  </m:oMath>
                </a14:m>
                <a:r>
                  <a:rPr lang="en-US" altLang="zh-TW" dirty="0"/>
                  <a:t>. Once the chamber is full, the dispensing piston moves down to block toothpaste from coming in from Inlet and squeezes toothpaste out with a even higher pressure than </a:t>
                </a:r>
                <a14:m>
                  <m:oMath xmlns:m="http://schemas.openxmlformats.org/officeDocument/2006/math">
                    <m:sSub>
                      <m:sSubPr>
                        <m:ctrlPr>
                          <a:rPr lang="en-US" altLang="zh-TW" i="1">
                            <a:latin typeface="Cambria Math" panose="02040503050406030204" pitchFamily="18" charset="0"/>
                          </a:rPr>
                        </m:ctrlPr>
                      </m:sSubPr>
                      <m:e>
                        <m:r>
                          <a:rPr lang="en-GB" altLang="zh-TW" i="1">
                            <a:latin typeface="Cambria Math" panose="02040503050406030204" pitchFamily="18" charset="0"/>
                          </a:rPr>
                          <m:t>𝑃</m:t>
                        </m:r>
                      </m:e>
                      <m:sub>
                        <m:r>
                          <a:rPr lang="en-GB" altLang="zh-TW" i="1">
                            <a:latin typeface="Cambria Math" panose="02040503050406030204" pitchFamily="18" charset="0"/>
                          </a:rPr>
                          <m:t>𝑐𝑣</m:t>
                        </m:r>
                      </m:sub>
                    </m:sSub>
                  </m:oMath>
                </a14:m>
                <a:r>
                  <a:rPr lang="en-US" altLang="zh-TW" dirty="0"/>
                  <a:t>.</a:t>
                </a:r>
              </a:p>
              <a:p>
                <a:pPr algn="just"/>
                <a:r>
                  <a:rPr lang="en-US" altLang="zh-TW" dirty="0"/>
                  <a:t>As toothbrushes come in for being </a:t>
                </a:r>
                <a:r>
                  <a:rPr lang="en-US" altLang="zh-TW" dirty="0" err="1"/>
                  <a:t>toothpasted</a:t>
                </a:r>
                <a:r>
                  <a:rPr lang="en-US" altLang="zh-TW" dirty="0"/>
                  <a:t>, the tilt angle is recommended since the angle makes toothpaste “flow down” naturally on toothbrushes rather than “spreading” while no tilt angle is designed.</a:t>
                </a:r>
              </a:p>
            </p:txBody>
          </p:sp>
        </mc:Choice>
        <mc:Fallback>
          <p:sp>
            <p:nvSpPr>
              <p:cNvPr id="8" name="內容版面配置區 7"/>
              <p:cNvSpPr>
                <a:spLocks noGrp="1" noRot="1" noChangeAspect="1" noMove="1" noResize="1" noEditPoints="1" noAdjustHandles="1" noChangeArrowheads="1" noChangeShapeType="1" noTextEdit="1"/>
              </p:cNvSpPr>
              <p:nvPr>
                <p:ph idx="1"/>
              </p:nvPr>
            </p:nvSpPr>
            <p:spPr>
              <a:xfrm>
                <a:off x="2589212" y="2133600"/>
                <a:ext cx="8915400" cy="4498109"/>
              </a:xfrm>
              <a:blipFill>
                <a:blip r:embed="rId2"/>
                <a:stretch>
                  <a:fillRect l="-479" t="-1355" r="-547"/>
                </a:stretch>
              </a:blipFill>
            </p:spPr>
            <p:txBody>
              <a:bodyPr/>
              <a:lstStyle/>
              <a:p>
                <a:r>
                  <a:rPr lang="en-GB">
                    <a:noFill/>
                  </a:rPr>
                  <a:t> </a:t>
                </a:r>
              </a:p>
            </p:txBody>
          </p:sp>
        </mc:Fallback>
      </mc:AlternateContent>
    </p:spTree>
    <p:extLst>
      <p:ext uri="{BB962C8B-B14F-4D97-AF65-F5344CB8AC3E}">
        <p14:creationId xmlns:p14="http://schemas.microsoft.com/office/powerpoint/2010/main" val="988745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p:txBody>
          <a:bodyPr/>
          <a:lstStyle/>
          <a:p>
            <a:r>
              <a:rPr lang="en-US" altLang="zh-TW" dirty="0"/>
              <a:t>Previous design in 2015.Jan</a:t>
            </a:r>
            <a:endParaRPr lang="zh-TW" altLang="en-US" dirty="0"/>
          </a:p>
        </p:txBody>
      </p:sp>
      <p:sp>
        <p:nvSpPr>
          <p:cNvPr id="5" name="標題 4">
            <a:extLst>
              <a:ext uri="{FF2B5EF4-FFF2-40B4-BE49-F238E27FC236}">
                <a16:creationId xmlns:a16="http://schemas.microsoft.com/office/drawing/2014/main" id="{31C26A2A-9BA7-4A71-986A-40975C2F956E}"/>
              </a:ext>
            </a:extLst>
          </p:cNvPr>
          <p:cNvSpPr>
            <a:spLocks noGrp="1"/>
          </p:cNvSpPr>
          <p:nvPr>
            <p:ph type="ctrTitle"/>
          </p:nvPr>
        </p:nvSpPr>
        <p:spPr/>
        <p:txBody>
          <a:bodyPr/>
          <a:lstStyle/>
          <a:p>
            <a:r>
              <a:rPr lang="en-GB" dirty="0"/>
              <a:t>Appendix</a:t>
            </a:r>
          </a:p>
        </p:txBody>
      </p:sp>
    </p:spTree>
    <p:extLst>
      <p:ext uri="{BB962C8B-B14F-4D97-AF65-F5344CB8AC3E}">
        <p14:creationId xmlns:p14="http://schemas.microsoft.com/office/powerpoint/2010/main" val="1485212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Outline</a:t>
            </a:r>
            <a:endParaRPr lang="zh-TW" altLang="en-US" dirty="0"/>
          </a:p>
        </p:txBody>
      </p:sp>
      <p:sp>
        <p:nvSpPr>
          <p:cNvPr id="3" name="內容版面配置區 2"/>
          <p:cNvSpPr>
            <a:spLocks noGrp="1"/>
          </p:cNvSpPr>
          <p:nvPr>
            <p:ph idx="1"/>
          </p:nvPr>
        </p:nvSpPr>
        <p:spPr/>
        <p:txBody>
          <a:bodyPr/>
          <a:lstStyle/>
          <a:p>
            <a:r>
              <a:rPr lang="en-US" altLang="zh-TW" dirty="0"/>
              <a:t>Overview</a:t>
            </a:r>
          </a:p>
          <a:p>
            <a:r>
              <a:rPr lang="en-US" altLang="zh-TW" dirty="0"/>
              <a:t>Components</a:t>
            </a:r>
          </a:p>
          <a:p>
            <a:r>
              <a:rPr lang="en-US" altLang="zh-TW" dirty="0"/>
              <a:t>How to use</a:t>
            </a:r>
          </a:p>
          <a:p>
            <a:r>
              <a:rPr lang="en-US" altLang="zh-TW" dirty="0"/>
              <a:t>How it works</a:t>
            </a:r>
          </a:p>
          <a:p>
            <a:pPr lvl="1">
              <a:buFont typeface="Arial" panose="020B0604020202020204" pitchFamily="34" charset="0"/>
              <a:buChar char="•"/>
            </a:pPr>
            <a:r>
              <a:rPr lang="en-US" altLang="zh-TW" dirty="0"/>
              <a:t>The Driving System</a:t>
            </a:r>
          </a:p>
          <a:p>
            <a:pPr lvl="1">
              <a:buFont typeface="Arial" panose="020B0604020202020204" pitchFamily="34" charset="0"/>
              <a:buChar char="•"/>
            </a:pPr>
            <a:r>
              <a:rPr lang="en-US" altLang="zh-TW" dirty="0"/>
              <a:t>The Dispensing System</a:t>
            </a:r>
          </a:p>
          <a:p>
            <a:pPr lvl="1">
              <a:buFont typeface="Arial" panose="020B0604020202020204" pitchFamily="34" charset="0"/>
              <a:buChar char="•"/>
            </a:pPr>
            <a:r>
              <a:rPr lang="en-US" altLang="zh-TW" dirty="0"/>
              <a:t>The Positioning System</a:t>
            </a:r>
            <a:endParaRPr lang="zh-TW" altLang="en-US" dirty="0"/>
          </a:p>
          <a:p>
            <a:r>
              <a:rPr lang="en-US" altLang="zh-TW" dirty="0"/>
              <a:t>Discussion</a:t>
            </a:r>
          </a:p>
        </p:txBody>
      </p:sp>
    </p:spTree>
    <p:extLst>
      <p:ext uri="{BB962C8B-B14F-4D97-AF65-F5344CB8AC3E}">
        <p14:creationId xmlns:p14="http://schemas.microsoft.com/office/powerpoint/2010/main" val="51678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a:bodyPr>
          <a:lstStyle/>
          <a:p>
            <a:pPr algn="just"/>
            <a:r>
              <a:rPr lang="en-US" altLang="zh-TW" dirty="0"/>
              <a:t>This machine is achieved purely by mechanical mechanisms. It’s:</a:t>
            </a:r>
          </a:p>
          <a:p>
            <a:pPr marL="342900" indent="-342900" algn="just">
              <a:buFont typeface="+mj-lt"/>
              <a:buAutoNum type="arabicPeriod"/>
            </a:pPr>
            <a:r>
              <a:rPr lang="en-US" altLang="zh-TW" dirty="0"/>
              <a:t>Comprised of general mechanical components only.</a:t>
            </a:r>
          </a:p>
          <a:p>
            <a:pPr marL="800100" lvl="1" indent="-342900" algn="just">
              <a:buFont typeface="Arial" panose="020B0604020202020204" pitchFamily="34" charset="0"/>
              <a:buChar char="•"/>
            </a:pPr>
            <a:r>
              <a:rPr lang="en-US" altLang="zh-TW" dirty="0"/>
              <a:t>Only gears, cylinders, screws and conveyor belts are involved. These components are general and easy to get.</a:t>
            </a:r>
          </a:p>
          <a:p>
            <a:pPr marL="342900" indent="-342900" algn="just">
              <a:buFont typeface="+mj-lt"/>
              <a:buAutoNum type="arabicPeriod"/>
            </a:pPr>
            <a:r>
              <a:rPr lang="en-US" altLang="zh-TW" dirty="0"/>
              <a:t>Easy to repair.</a:t>
            </a:r>
          </a:p>
          <a:p>
            <a:pPr marL="800100" lvl="1" indent="-342900" algn="just">
              <a:buFont typeface="Arial" panose="020B0604020202020204" pitchFamily="34" charset="0"/>
              <a:buChar char="•"/>
            </a:pPr>
            <a:r>
              <a:rPr lang="en-US" altLang="zh-TW" dirty="0"/>
              <a:t>The dispensing system simply consists of one dispenser nozzle and four gears. The dispensing system will simply have the nozzles and gears replaced to be repaired, and the components are easy to mount and demount as seen.</a:t>
            </a:r>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a:t>Driving Pulley</a:t>
            </a:r>
          </a:p>
          <a:p>
            <a:r>
              <a:rPr lang="en-US" altLang="zh-TW" dirty="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a:t>Conveyor Belt &amp; Positioning System</a:t>
            </a:r>
            <a:endParaRPr lang="zh-TW" altLang="en-US" dirty="0"/>
          </a:p>
        </p:txBody>
      </p:sp>
    </p:spTree>
    <p:extLst>
      <p:ext uri="{BB962C8B-B14F-4D97-AF65-F5344CB8AC3E}">
        <p14:creationId xmlns:p14="http://schemas.microsoft.com/office/powerpoint/2010/main" val="896379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lnSpcReduction="10000"/>
          </a:bodyPr>
          <a:lstStyle/>
          <a:p>
            <a:pPr algn="just"/>
            <a:r>
              <a:rPr lang="en-US" altLang="zh-TW" dirty="0"/>
              <a:t>This machine is achieved purely by mechanical mechanisms. It’s:</a:t>
            </a:r>
          </a:p>
          <a:p>
            <a:pPr marL="342900" indent="-342900" algn="just">
              <a:buFont typeface="+mj-lt"/>
              <a:buAutoNum type="arabicPeriod" startAt="3"/>
            </a:pPr>
            <a:r>
              <a:rPr lang="en-US" altLang="zh-TW" dirty="0"/>
              <a:t>Modular design.</a:t>
            </a:r>
          </a:p>
          <a:p>
            <a:pPr marL="800100" lvl="1" indent="-342900" algn="just">
              <a:buFont typeface="Arial" panose="020B0604020202020204" pitchFamily="34" charset="0"/>
              <a:buChar char="•"/>
            </a:pPr>
            <a:r>
              <a:rPr lang="en-US" altLang="zh-TW" dirty="0"/>
              <a:t>The whole machine system only needs one motor attaching to the driving pulley to be actuated so that…</a:t>
            </a:r>
          </a:p>
          <a:p>
            <a:pPr marL="800100" lvl="1" indent="-342900" algn="just">
              <a:buFont typeface="Arial" panose="020B0604020202020204" pitchFamily="34" charset="0"/>
              <a:buChar char="•"/>
            </a:pPr>
            <a:r>
              <a:rPr lang="en-US" altLang="zh-TW" dirty="0"/>
              <a:t>It has high flexibility in assembling and dissembling.</a:t>
            </a:r>
          </a:p>
          <a:p>
            <a:pPr marL="342900" indent="-342900" algn="just">
              <a:buFont typeface="+mj-lt"/>
              <a:buAutoNum type="arabicPeriod" startAt="3"/>
            </a:pPr>
            <a:r>
              <a:rPr lang="en-US" altLang="zh-TW" dirty="0"/>
              <a:t>Highly compatible for production line.</a:t>
            </a:r>
          </a:p>
          <a:p>
            <a:pPr marL="800100" lvl="1" indent="-342900" algn="just">
              <a:buFont typeface="Arial" panose="020B0604020202020204" pitchFamily="34" charset="0"/>
              <a:buChar char="•"/>
            </a:pPr>
            <a:r>
              <a:rPr lang="en-US" altLang="zh-TW" dirty="0"/>
              <a:t>This machine utilizes conveyor belt transportation. It can be settled at the downstream of toothbrush’s production line or even share the conveyor belt with the production line.</a:t>
            </a:r>
          </a:p>
          <a:p>
            <a:pPr marL="712788" lvl="1" algn="just"/>
            <a:r>
              <a:rPr lang="en-US" altLang="zh-TW" dirty="0"/>
              <a:t>...</a:t>
            </a:r>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a:t>Driving Pulley</a:t>
            </a:r>
          </a:p>
          <a:p>
            <a:r>
              <a:rPr lang="en-US" altLang="zh-TW" dirty="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a:t>Conveyor Belt &amp; Positioning System</a:t>
            </a:r>
            <a:endParaRPr lang="zh-TW" altLang="en-US" dirty="0"/>
          </a:p>
        </p:txBody>
      </p:sp>
    </p:spTree>
    <p:extLst>
      <p:ext uri="{BB962C8B-B14F-4D97-AF65-F5344CB8AC3E}">
        <p14:creationId xmlns:p14="http://schemas.microsoft.com/office/powerpoint/2010/main" val="1396195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a:bodyPr>
          <a:lstStyle/>
          <a:p>
            <a:pPr algn="just"/>
            <a:r>
              <a:rPr lang="en-US" altLang="zh-TW" dirty="0"/>
              <a:t>This machine is achieved purely by mechanical mechanisms. It’s:</a:t>
            </a:r>
          </a:p>
          <a:p>
            <a:pPr marL="342900" indent="-342900" algn="just">
              <a:buFont typeface="+mj-lt"/>
              <a:buAutoNum type="arabicPeriod" startAt="4"/>
            </a:pPr>
            <a:r>
              <a:rPr lang="en-US" altLang="zh-TW" dirty="0"/>
              <a:t>Highly compatible for production line.</a:t>
            </a:r>
          </a:p>
          <a:p>
            <a:pPr marL="800100" lvl="1" indent="-342900" algn="just">
              <a:buFont typeface="Arial" panose="020B0604020202020204" pitchFamily="34" charset="0"/>
              <a:buChar char="•"/>
            </a:pPr>
            <a:r>
              <a:rPr lang="en-US" altLang="zh-TW" dirty="0"/>
              <a:t>... This machine can also be connected to toothpaste production line by directly conducting the toothpaste flow to the dispensing system.</a:t>
            </a:r>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a:t>Driving Pulley</a:t>
            </a:r>
          </a:p>
          <a:p>
            <a:r>
              <a:rPr lang="en-US" altLang="zh-TW" dirty="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a:t>Conveyor Belt &amp; Positioning System</a:t>
            </a:r>
            <a:endParaRPr lang="zh-TW" altLang="en-US" dirty="0"/>
          </a:p>
        </p:txBody>
      </p:sp>
    </p:spTree>
    <p:extLst>
      <p:ext uri="{BB962C8B-B14F-4D97-AF65-F5344CB8AC3E}">
        <p14:creationId xmlns:p14="http://schemas.microsoft.com/office/powerpoint/2010/main" val="1075891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Components</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4981" r="4795"/>
          <a:stretch/>
        </p:blipFill>
        <p:spPr>
          <a:xfrm>
            <a:off x="6416777" y="1321575"/>
            <a:ext cx="2569813" cy="2014053"/>
          </a:xfrm>
        </p:spPr>
      </p:pic>
      <p:sp>
        <p:nvSpPr>
          <p:cNvPr id="4" name="文字版面配置區 3"/>
          <p:cNvSpPr>
            <a:spLocks noGrp="1"/>
          </p:cNvSpPr>
          <p:nvPr>
            <p:ph type="body" sz="half" idx="2"/>
          </p:nvPr>
        </p:nvSpPr>
        <p:spPr/>
        <p:txBody>
          <a:bodyPr/>
          <a:lstStyle/>
          <a:p>
            <a:pPr marL="342900" indent="-342900" algn="just">
              <a:buAutoNum type="arabicPeriod"/>
            </a:pPr>
            <a:r>
              <a:rPr lang="en-US" altLang="zh-TW" dirty="0"/>
              <a:t>Isometric view of the machine</a:t>
            </a:r>
          </a:p>
          <a:p>
            <a:pPr marL="342900" indent="-342900" algn="just">
              <a:buFont typeface="Wingdings 3" charset="2"/>
              <a:buAutoNum type="arabicPeriod"/>
            </a:pPr>
            <a:r>
              <a:rPr lang="en-US" altLang="zh-TW" dirty="0"/>
              <a:t>Toothpastes</a:t>
            </a:r>
            <a:endParaRPr lang="zh-TW" altLang="en-US" dirty="0"/>
          </a:p>
          <a:p>
            <a:pPr marL="342900" indent="-342900" algn="just">
              <a:buAutoNum type="arabicPeriod"/>
            </a:pPr>
            <a:r>
              <a:rPr lang="en-US" altLang="zh-TW" dirty="0"/>
              <a:t>Toothpaste Wrap</a:t>
            </a:r>
          </a:p>
          <a:p>
            <a:pPr marL="342900" indent="-342900" algn="just">
              <a:buAutoNum type="arabicPeriod"/>
            </a:pPr>
            <a:r>
              <a:rPr lang="en-US" altLang="zh-TW" dirty="0"/>
              <a:t>Toothbrushes</a:t>
            </a:r>
            <a:endParaRPr lang="zh-TW" altLang="en-US" dirty="0"/>
          </a:p>
        </p:txBody>
      </p:sp>
      <p:sp>
        <p:nvSpPr>
          <p:cNvPr id="3" name="矩形 2"/>
          <p:cNvSpPr/>
          <p:nvPr/>
        </p:nvSpPr>
        <p:spPr>
          <a:xfrm>
            <a:off x="6581103" y="2412299"/>
            <a:ext cx="603975" cy="923330"/>
          </a:xfrm>
          <a:prstGeom prst="rect">
            <a:avLst/>
          </a:prstGeom>
          <a:noFill/>
        </p:spPr>
        <p:txBody>
          <a:bodyPr wrap="square" lIns="91440" tIns="45720" rIns="91440" bIns="45720">
            <a:spAutoFit/>
          </a:bodyPr>
          <a:lstStyle/>
          <a:p>
            <a:pPr algn="ct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6" name="內容版面配置區 5"/>
          <p:cNvPicPr>
            <a:picLocks noChangeAspect="1"/>
          </p:cNvPicPr>
          <p:nvPr/>
        </p:nvPicPr>
        <p:blipFill rotWithShape="1">
          <a:blip r:embed="rId3">
            <a:extLst>
              <a:ext uri="{28A0092B-C50C-407E-A947-70E740481C1C}">
                <a14:useLocalDpi xmlns:a14="http://schemas.microsoft.com/office/drawing/2010/main" val="0"/>
              </a:ext>
            </a:extLst>
          </a:blip>
          <a:srcRect l="7465" r="8027"/>
          <a:stretch/>
        </p:blipFill>
        <p:spPr>
          <a:xfrm>
            <a:off x="8986590" y="1321576"/>
            <a:ext cx="2406987" cy="2014053"/>
          </a:xfrm>
          <a:prstGeom prst="rect">
            <a:avLst/>
          </a:prstGeom>
        </p:spPr>
      </p:pic>
      <p:sp>
        <p:nvSpPr>
          <p:cNvPr id="7" name="矩形 6"/>
          <p:cNvSpPr/>
          <p:nvPr/>
        </p:nvSpPr>
        <p:spPr>
          <a:xfrm>
            <a:off x="8981383" y="241229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8" name="圖片 7"/>
          <p:cNvPicPr>
            <a:picLocks noChangeAspect="1"/>
          </p:cNvPicPr>
          <p:nvPr/>
        </p:nvPicPr>
        <p:blipFill rotWithShape="1">
          <a:blip r:embed="rId4">
            <a:extLst>
              <a:ext uri="{28A0092B-C50C-407E-A947-70E740481C1C}">
                <a14:useLocalDpi xmlns:a14="http://schemas.microsoft.com/office/drawing/2010/main" val="0"/>
              </a:ext>
            </a:extLst>
          </a:blip>
          <a:srcRect l="6607" r="6459"/>
          <a:stretch/>
        </p:blipFill>
        <p:spPr>
          <a:xfrm>
            <a:off x="6416777" y="3335629"/>
            <a:ext cx="2575020" cy="2094496"/>
          </a:xfrm>
          <a:prstGeom prst="rect">
            <a:avLst/>
          </a:prstGeom>
        </p:spPr>
      </p:pic>
      <p:sp>
        <p:nvSpPr>
          <p:cNvPr id="9" name="矩形 8"/>
          <p:cNvSpPr/>
          <p:nvPr/>
        </p:nvSpPr>
        <p:spPr>
          <a:xfrm>
            <a:off x="6416777" y="4506795"/>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10" name="圖片 9"/>
          <p:cNvPicPr>
            <a:picLocks noChangeAspect="1"/>
          </p:cNvPicPr>
          <p:nvPr/>
        </p:nvPicPr>
        <p:blipFill rotWithShape="1">
          <a:blip r:embed="rId5">
            <a:extLst>
              <a:ext uri="{28A0092B-C50C-407E-A947-70E740481C1C}">
                <a14:useLocalDpi xmlns:a14="http://schemas.microsoft.com/office/drawing/2010/main" val="0"/>
              </a:ext>
            </a:extLst>
          </a:blip>
          <a:srcRect l="5832" r="12589"/>
          <a:stretch/>
        </p:blipFill>
        <p:spPr>
          <a:xfrm>
            <a:off x="8981384" y="3335628"/>
            <a:ext cx="2416420" cy="2094497"/>
          </a:xfrm>
          <a:prstGeom prst="rect">
            <a:avLst/>
          </a:prstGeom>
        </p:spPr>
      </p:pic>
      <p:sp>
        <p:nvSpPr>
          <p:cNvPr id="11" name="矩形 10"/>
          <p:cNvSpPr/>
          <p:nvPr/>
        </p:nvSpPr>
        <p:spPr>
          <a:xfrm>
            <a:off x="8941413" y="4506795"/>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1378030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內容版面配置區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4411" y="446088"/>
            <a:ext cx="3791916" cy="3649394"/>
          </a:xfrm>
        </p:spPr>
      </p:pic>
      <p:sp>
        <p:nvSpPr>
          <p:cNvPr id="12" name="標題 11"/>
          <p:cNvSpPr>
            <a:spLocks noGrp="1"/>
          </p:cNvSpPr>
          <p:nvPr>
            <p:ph type="title"/>
          </p:nvPr>
        </p:nvSpPr>
        <p:spPr/>
        <p:txBody>
          <a:bodyPr/>
          <a:lstStyle/>
          <a:p>
            <a:r>
              <a:rPr lang="en-US" altLang="zh-TW" dirty="0"/>
              <a:t>How to use?</a:t>
            </a:r>
            <a:endParaRPr lang="zh-TW" altLang="en-US" dirty="0"/>
          </a:p>
        </p:txBody>
      </p:sp>
      <p:sp>
        <p:nvSpPr>
          <p:cNvPr id="3" name="文字版面配置區 2"/>
          <p:cNvSpPr>
            <a:spLocks noGrp="1"/>
          </p:cNvSpPr>
          <p:nvPr>
            <p:ph type="body" sz="half" idx="2"/>
          </p:nvPr>
        </p:nvSpPr>
        <p:spPr/>
        <p:txBody>
          <a:bodyPr/>
          <a:lstStyle/>
          <a:p>
            <a:pPr marL="342900" indent="-342900" algn="just">
              <a:buAutoNum type="arabicPeriod"/>
            </a:pPr>
            <a:r>
              <a:rPr lang="en-US" altLang="zh-TW" dirty="0"/>
              <a:t>Insert toothpastes</a:t>
            </a:r>
          </a:p>
          <a:p>
            <a:pPr marL="342900" indent="-342900" algn="just">
              <a:buAutoNum type="arabicPeriod"/>
            </a:pPr>
            <a:r>
              <a:rPr lang="en-US" altLang="zh-TW" dirty="0"/>
              <a:t>Mount the toothpaste wrap</a:t>
            </a:r>
          </a:p>
          <a:p>
            <a:pPr marL="342900" indent="-342900">
              <a:buAutoNum type="arabicPeriod"/>
            </a:pPr>
            <a:endParaRPr lang="zh-TW" altLang="en-US" dirty="0"/>
          </a:p>
        </p:txBody>
      </p:sp>
      <p:sp>
        <p:nvSpPr>
          <p:cNvPr id="11" name="矩形 10"/>
          <p:cNvSpPr/>
          <p:nvPr/>
        </p:nvSpPr>
        <p:spPr>
          <a:xfrm>
            <a:off x="6094411" y="3170689"/>
            <a:ext cx="603975" cy="923330"/>
          </a:xfrm>
          <a:prstGeom prst="rect">
            <a:avLst/>
          </a:prstGeom>
          <a:noFill/>
        </p:spPr>
        <p:txBody>
          <a:bodyPr wrap="square" lIns="91440" tIns="45720" rIns="91440" bIns="45720">
            <a:spAutoFit/>
          </a:bodyPr>
          <a:lstStyle/>
          <a:p>
            <a:pPr algn="ct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10" name="圖片 9"/>
          <p:cNvPicPr>
            <a:picLocks noChangeAspect="1"/>
          </p:cNvPicPr>
          <p:nvPr/>
        </p:nvPicPr>
        <p:blipFill rotWithShape="1">
          <a:blip r:embed="rId3">
            <a:extLst>
              <a:ext uri="{28A0092B-C50C-407E-A947-70E740481C1C}">
                <a14:useLocalDpi xmlns:a14="http://schemas.microsoft.com/office/drawing/2010/main" val="0"/>
              </a:ext>
            </a:extLst>
          </a:blip>
          <a:srcRect l="5869" r="20963"/>
          <a:stretch/>
        </p:blipFill>
        <p:spPr>
          <a:xfrm>
            <a:off x="8248477" y="3170689"/>
            <a:ext cx="3275700" cy="3165718"/>
          </a:xfrm>
          <a:prstGeom prst="rect">
            <a:avLst/>
          </a:prstGeom>
        </p:spPr>
      </p:pic>
      <p:sp>
        <p:nvSpPr>
          <p:cNvPr id="13" name="矩形 12"/>
          <p:cNvSpPr/>
          <p:nvPr/>
        </p:nvSpPr>
        <p:spPr>
          <a:xfrm>
            <a:off x="8248477" y="5413077"/>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027252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標題 11"/>
          <p:cNvSpPr>
            <a:spLocks noGrp="1"/>
          </p:cNvSpPr>
          <p:nvPr>
            <p:ph type="title"/>
          </p:nvPr>
        </p:nvSpPr>
        <p:spPr/>
        <p:txBody>
          <a:bodyPr/>
          <a:lstStyle/>
          <a:p>
            <a:r>
              <a:rPr lang="en-US" altLang="zh-TW" dirty="0"/>
              <a:t>How to use?</a:t>
            </a:r>
            <a:endParaRPr lang="zh-TW" altLang="en-US" dirty="0"/>
          </a:p>
        </p:txBody>
      </p:sp>
      <p:sp>
        <p:nvSpPr>
          <p:cNvPr id="3" name="文字版面配置區 2"/>
          <p:cNvSpPr>
            <a:spLocks noGrp="1"/>
          </p:cNvSpPr>
          <p:nvPr>
            <p:ph type="body" sz="half" idx="2"/>
          </p:nvPr>
        </p:nvSpPr>
        <p:spPr/>
        <p:txBody>
          <a:bodyPr/>
          <a:lstStyle/>
          <a:p>
            <a:pPr marL="342900" indent="-342900" algn="just">
              <a:buFont typeface="+mj-lt"/>
              <a:buAutoNum type="arabicPeriod" startAt="3"/>
            </a:pPr>
            <a:r>
              <a:rPr lang="en-US" altLang="zh-TW" dirty="0"/>
              <a:t>Put in toothbrushes</a:t>
            </a:r>
          </a:p>
          <a:p>
            <a:pPr marL="342900" indent="-342900" algn="just">
              <a:buFont typeface="+mj-lt"/>
              <a:buAutoNum type="arabicPeriod" startAt="3"/>
            </a:pPr>
            <a:r>
              <a:rPr lang="en-US" altLang="zh-TW" dirty="0"/>
              <a:t>Turn on the machine</a:t>
            </a:r>
          </a:p>
        </p:txBody>
      </p:sp>
      <p:pic>
        <p:nvPicPr>
          <p:cNvPr id="2" name="圖片 1"/>
          <p:cNvPicPr>
            <a:picLocks noChangeAspect="1"/>
          </p:cNvPicPr>
          <p:nvPr/>
        </p:nvPicPr>
        <p:blipFill rotWithShape="1">
          <a:blip r:embed="rId2">
            <a:extLst>
              <a:ext uri="{28A0092B-C50C-407E-A947-70E740481C1C}">
                <a14:useLocalDpi xmlns:a14="http://schemas.microsoft.com/office/drawing/2010/main" val="0"/>
              </a:ext>
            </a:extLst>
          </a:blip>
          <a:srcRect l="7462" r="7551"/>
          <a:stretch/>
        </p:blipFill>
        <p:spPr>
          <a:xfrm>
            <a:off x="6094411" y="446088"/>
            <a:ext cx="4384367" cy="3647931"/>
          </a:xfrm>
          <a:prstGeom prst="rect">
            <a:avLst/>
          </a:prstGeom>
        </p:spPr>
      </p:pic>
      <p:sp>
        <p:nvSpPr>
          <p:cNvPr id="11" name="矩形 10"/>
          <p:cNvSpPr/>
          <p:nvPr/>
        </p:nvSpPr>
        <p:spPr>
          <a:xfrm>
            <a:off x="6094411" y="317068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6" name="內容版面配置區 5"/>
          <p:cNvPicPr>
            <a:picLocks noGrp="1" noChangeAspect="1"/>
          </p:cNvPicPr>
          <p:nvPr>
            <p:ph idx="1"/>
          </p:nvPr>
        </p:nvPicPr>
        <p:blipFill rotWithShape="1">
          <a:blip r:embed="rId3">
            <a:extLst>
              <a:ext uri="{28A0092B-C50C-407E-A947-70E740481C1C}">
                <a14:useLocalDpi xmlns:a14="http://schemas.microsoft.com/office/drawing/2010/main" val="0"/>
              </a:ext>
            </a:extLst>
          </a:blip>
          <a:srcRect l="9703" r="10015"/>
          <a:stretch/>
        </p:blipFill>
        <p:spPr>
          <a:xfrm>
            <a:off x="8248477" y="3170689"/>
            <a:ext cx="3594171" cy="3165718"/>
          </a:xfrm>
        </p:spPr>
      </p:pic>
      <p:sp>
        <p:nvSpPr>
          <p:cNvPr id="13" name="矩形 12"/>
          <p:cNvSpPr/>
          <p:nvPr/>
        </p:nvSpPr>
        <p:spPr>
          <a:xfrm>
            <a:off x="8248477" y="5413077"/>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574768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How it works?</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4674" r="14738" b="12342"/>
          <a:stretch/>
        </p:blipFill>
        <p:spPr>
          <a:xfrm>
            <a:off x="6094410" y="1422400"/>
            <a:ext cx="5432181" cy="4770072"/>
          </a:xfrm>
        </p:spPr>
      </p:pic>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Driving System:</a:t>
            </a:r>
          </a:p>
          <a:p>
            <a:pPr marL="496888" lvl="1" indent="-228600" algn="just">
              <a:buAutoNum type="arabicPeriod"/>
            </a:pPr>
            <a:r>
              <a:rPr lang="en-US" altLang="zh-TW" dirty="0"/>
              <a:t>The driving pulley is attached to motors to drive the transmission pulley and the whole machine.</a:t>
            </a:r>
          </a:p>
          <a:p>
            <a:pPr marL="496888" lvl="1" indent="-228600" algn="just">
              <a:buAutoNum type="arabicPeriod"/>
            </a:pPr>
            <a:r>
              <a:rPr lang="en-US" altLang="zh-TW" dirty="0"/>
              <a:t>The transmission pulley could be associated with the driving pulley by belt, sprocket chain, or gears.</a:t>
            </a:r>
          </a:p>
          <a:p>
            <a:pPr marL="496888" lvl="1" indent="-228600" algn="just">
              <a:buAutoNum type="arabicPeriod"/>
            </a:pPr>
            <a:r>
              <a:rPr lang="en-US" altLang="zh-TW" dirty="0"/>
              <a:t>The radius ratio (or gear ratio) between driving and transmission pulley is appropriately chosen (here the driving to transmission ratio is tentatively 2:1) so that the conveyor belt will let go of one toothbrush when the dispenser nozzle circles one round.</a:t>
            </a:r>
            <a:endParaRPr lang="zh-TW" altLang="en-US" dirty="0"/>
          </a:p>
        </p:txBody>
      </p:sp>
      <p:sp>
        <p:nvSpPr>
          <p:cNvPr id="6" name="向上箭號 5"/>
          <p:cNvSpPr/>
          <p:nvPr/>
        </p:nvSpPr>
        <p:spPr>
          <a:xfrm rot="20197785">
            <a:off x="8630197" y="4237150"/>
            <a:ext cx="360609" cy="92727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8284163" y="5197914"/>
            <a:ext cx="1751527" cy="369332"/>
          </a:xfrm>
          <a:prstGeom prst="rect">
            <a:avLst/>
          </a:prstGeom>
          <a:noFill/>
        </p:spPr>
        <p:txBody>
          <a:bodyPr wrap="square" rtlCol="0">
            <a:spAutoFit/>
          </a:bodyPr>
          <a:lstStyle/>
          <a:p>
            <a:r>
              <a:rPr lang="en-US" altLang="zh-TW" dirty="0"/>
              <a:t>Driving Pulley</a:t>
            </a:r>
          </a:p>
        </p:txBody>
      </p:sp>
      <p:sp>
        <p:nvSpPr>
          <p:cNvPr id="8" name="向上箭號 7"/>
          <p:cNvSpPr/>
          <p:nvPr/>
        </p:nvSpPr>
        <p:spPr>
          <a:xfrm rot="11098672">
            <a:off x="8511220" y="2594397"/>
            <a:ext cx="360609" cy="11714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8046211" y="2131242"/>
            <a:ext cx="2294577" cy="369332"/>
          </a:xfrm>
          <a:prstGeom prst="rect">
            <a:avLst/>
          </a:prstGeom>
          <a:noFill/>
        </p:spPr>
        <p:txBody>
          <a:bodyPr wrap="square" rtlCol="0">
            <a:spAutoFit/>
          </a:bodyPr>
          <a:lstStyle/>
          <a:p>
            <a:r>
              <a:rPr lang="en-US" altLang="zh-TW" dirty="0"/>
              <a:t>Transmission Pulley</a:t>
            </a:r>
          </a:p>
        </p:txBody>
      </p:sp>
      <p:sp>
        <p:nvSpPr>
          <p:cNvPr id="10" name="向上箭號 9"/>
          <p:cNvSpPr/>
          <p:nvPr/>
        </p:nvSpPr>
        <p:spPr>
          <a:xfrm rot="11098672">
            <a:off x="7287333" y="1959506"/>
            <a:ext cx="360609" cy="123138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515923" y="1576851"/>
            <a:ext cx="2294577" cy="369332"/>
          </a:xfrm>
          <a:prstGeom prst="rect">
            <a:avLst/>
          </a:prstGeom>
          <a:noFill/>
        </p:spPr>
        <p:txBody>
          <a:bodyPr wrap="square" rtlCol="0">
            <a:spAutoFit/>
          </a:bodyPr>
          <a:lstStyle/>
          <a:p>
            <a:r>
              <a:rPr lang="en-US" altLang="zh-TW" dirty="0"/>
              <a:t>Dispenser Nozzle</a:t>
            </a:r>
          </a:p>
        </p:txBody>
      </p:sp>
      <p:sp>
        <p:nvSpPr>
          <p:cNvPr id="12" name="向上箭號 11"/>
          <p:cNvSpPr/>
          <p:nvPr/>
        </p:nvSpPr>
        <p:spPr>
          <a:xfrm>
            <a:off x="6648373" y="3972790"/>
            <a:ext cx="360609" cy="159445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6094409" y="5619844"/>
            <a:ext cx="1751527" cy="369332"/>
          </a:xfrm>
          <a:prstGeom prst="rect">
            <a:avLst/>
          </a:prstGeom>
          <a:noFill/>
        </p:spPr>
        <p:txBody>
          <a:bodyPr wrap="square" rtlCol="0">
            <a:spAutoFit/>
          </a:bodyPr>
          <a:lstStyle/>
          <a:p>
            <a:r>
              <a:rPr lang="en-US" altLang="zh-TW" dirty="0"/>
              <a:t>Conveyor Belt</a:t>
            </a:r>
          </a:p>
        </p:txBody>
      </p:sp>
    </p:spTree>
    <p:extLst>
      <p:ext uri="{BB962C8B-B14F-4D97-AF65-F5344CB8AC3E}">
        <p14:creationId xmlns:p14="http://schemas.microsoft.com/office/powerpoint/2010/main" val="1316620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內容版面配置區 9"/>
          <p:cNvPicPr>
            <a:picLocks noGrp="1" noChangeAspect="1"/>
          </p:cNvPicPr>
          <p:nvPr>
            <p:ph idx="1"/>
          </p:nvPr>
        </p:nvPicPr>
        <p:blipFill rotWithShape="1">
          <a:blip r:embed="rId2">
            <a:extLst>
              <a:ext uri="{28A0092B-C50C-407E-A947-70E740481C1C}">
                <a14:useLocalDpi xmlns:a14="http://schemas.microsoft.com/office/drawing/2010/main" val="0"/>
              </a:ext>
            </a:extLst>
          </a:blip>
          <a:srcRect l="19667" t="6871" r="19866" b="7984"/>
          <a:stretch/>
        </p:blipFill>
        <p:spPr>
          <a:xfrm>
            <a:off x="6094411" y="394290"/>
            <a:ext cx="3466448" cy="3451569"/>
          </a:xfrm>
        </p:spPr>
      </p:pic>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Dispensing System:</a:t>
            </a:r>
          </a:p>
          <a:p>
            <a:pPr marL="496888" lvl="1" indent="-228600" algn="just">
              <a:buFont typeface="Wingdings 3" charset="2"/>
              <a:buAutoNum type="arabicPeriod"/>
            </a:pPr>
            <a:r>
              <a:rPr lang="en-US" altLang="zh-TW" dirty="0"/>
              <a:t>Dispenser nozzle has an incoming vent, which connects to the toothpaste’s nozzle; an outgoing vent, which will extrude toothpaste onto the toothbrushes; and on the opposite end to the outgoing vent has a vent connecting to a pressure balancer. dispenser nozzle has four arms to be mounted with the nozzle cap and three gears.</a:t>
            </a:r>
          </a:p>
          <a:p>
            <a:pPr marL="496888" lvl="1" indent="-228600" algn="just">
              <a:buAutoNum type="arabicPeriod"/>
            </a:pPr>
            <a:r>
              <a:rPr lang="en-US" altLang="zh-TW" dirty="0"/>
              <a:t>Nozzle cap has an eccentric vent cut and is mounted to the end of the outgoing vent to work as a valve.</a:t>
            </a:r>
          </a:p>
        </p:txBody>
      </p:sp>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l="21326" t="8426" r="22318" b="8867"/>
          <a:stretch/>
        </p:blipFill>
        <p:spPr>
          <a:xfrm>
            <a:off x="8390965" y="3178606"/>
            <a:ext cx="3192086" cy="3312542"/>
          </a:xfrm>
          <a:prstGeom prst="rect">
            <a:avLst/>
          </a:prstGeom>
        </p:spPr>
      </p:pic>
      <p:sp>
        <p:nvSpPr>
          <p:cNvPr id="29" name="矩形 28"/>
          <p:cNvSpPr/>
          <p:nvPr/>
        </p:nvSpPr>
        <p:spPr>
          <a:xfrm>
            <a:off x="6100100" y="292252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r>
              <a:rPr lang="en-US" altLang="zh-TW"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7" name="矩形 6"/>
          <p:cNvSpPr/>
          <p:nvPr/>
        </p:nvSpPr>
        <p:spPr>
          <a:xfrm>
            <a:off x="8390965" y="5567818"/>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向左箭號 2"/>
          <p:cNvSpPr/>
          <p:nvPr/>
        </p:nvSpPr>
        <p:spPr>
          <a:xfrm>
            <a:off x="8543893" y="2280601"/>
            <a:ext cx="982778" cy="25607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9560859" y="2223973"/>
            <a:ext cx="2124635" cy="369332"/>
          </a:xfrm>
          <a:prstGeom prst="rect">
            <a:avLst/>
          </a:prstGeom>
          <a:noFill/>
        </p:spPr>
        <p:txBody>
          <a:bodyPr wrap="square" rtlCol="0">
            <a:spAutoFit/>
          </a:bodyPr>
          <a:lstStyle/>
          <a:p>
            <a:r>
              <a:rPr lang="en-US" altLang="zh-TW" dirty="0"/>
              <a:t>Outgoing Vent</a:t>
            </a:r>
            <a:endParaRPr lang="zh-TW" altLang="en-US" dirty="0"/>
          </a:p>
        </p:txBody>
      </p:sp>
      <p:sp>
        <p:nvSpPr>
          <p:cNvPr id="11" name="向上箭號 10"/>
          <p:cNvSpPr/>
          <p:nvPr/>
        </p:nvSpPr>
        <p:spPr>
          <a:xfrm>
            <a:off x="7624307" y="3264284"/>
            <a:ext cx="260040" cy="74405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6818677" y="4008337"/>
            <a:ext cx="1874275" cy="369332"/>
          </a:xfrm>
          <a:prstGeom prst="rect">
            <a:avLst/>
          </a:prstGeom>
          <a:noFill/>
        </p:spPr>
        <p:txBody>
          <a:bodyPr wrap="square" rtlCol="0">
            <a:spAutoFit/>
          </a:bodyPr>
          <a:lstStyle/>
          <a:p>
            <a:r>
              <a:rPr lang="en-US" altLang="zh-TW" dirty="0"/>
              <a:t>Incoming Vent</a:t>
            </a:r>
            <a:endParaRPr lang="zh-TW" altLang="en-US" dirty="0"/>
          </a:p>
        </p:txBody>
      </p:sp>
      <p:sp>
        <p:nvSpPr>
          <p:cNvPr id="12" name="向上箭號 11"/>
          <p:cNvSpPr/>
          <p:nvPr/>
        </p:nvSpPr>
        <p:spPr>
          <a:xfrm rot="13951712">
            <a:off x="10625468" y="4761795"/>
            <a:ext cx="314345" cy="9663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p:cNvSpPr txBox="1"/>
          <p:nvPr/>
        </p:nvSpPr>
        <p:spPr>
          <a:xfrm>
            <a:off x="10880739" y="4456952"/>
            <a:ext cx="1250577" cy="369332"/>
          </a:xfrm>
          <a:prstGeom prst="rect">
            <a:avLst/>
          </a:prstGeom>
          <a:noFill/>
        </p:spPr>
        <p:txBody>
          <a:bodyPr wrap="square" rtlCol="0">
            <a:spAutoFit/>
          </a:bodyPr>
          <a:lstStyle/>
          <a:p>
            <a:r>
              <a:rPr lang="en-US" altLang="zh-TW" dirty="0"/>
              <a:t>Vent Cut</a:t>
            </a:r>
            <a:endParaRPr lang="zh-TW" altLang="en-US" dirty="0"/>
          </a:p>
        </p:txBody>
      </p:sp>
      <p:sp>
        <p:nvSpPr>
          <p:cNvPr id="18" name="文字方塊 17"/>
          <p:cNvSpPr txBox="1"/>
          <p:nvPr/>
        </p:nvSpPr>
        <p:spPr>
          <a:xfrm>
            <a:off x="6739837" y="446088"/>
            <a:ext cx="2028980" cy="369332"/>
          </a:xfrm>
          <a:prstGeom prst="rect">
            <a:avLst/>
          </a:prstGeom>
          <a:noFill/>
        </p:spPr>
        <p:txBody>
          <a:bodyPr wrap="square" rtlCol="0">
            <a:spAutoFit/>
          </a:bodyPr>
          <a:lstStyle/>
          <a:p>
            <a:r>
              <a:rPr lang="en-US" altLang="zh-TW" dirty="0"/>
              <a:t>Dispenser Nozzle</a:t>
            </a:r>
            <a:endParaRPr lang="zh-TW" altLang="en-US" dirty="0"/>
          </a:p>
        </p:txBody>
      </p:sp>
      <p:sp>
        <p:nvSpPr>
          <p:cNvPr id="19" name="文字方塊 18"/>
          <p:cNvSpPr txBox="1"/>
          <p:nvPr/>
        </p:nvSpPr>
        <p:spPr>
          <a:xfrm>
            <a:off x="9208807" y="3259556"/>
            <a:ext cx="1556401" cy="369332"/>
          </a:xfrm>
          <a:prstGeom prst="rect">
            <a:avLst/>
          </a:prstGeom>
          <a:noFill/>
        </p:spPr>
        <p:txBody>
          <a:bodyPr wrap="square" rtlCol="0">
            <a:spAutoFit/>
          </a:bodyPr>
          <a:lstStyle/>
          <a:p>
            <a:r>
              <a:rPr lang="en-US" altLang="zh-TW" dirty="0"/>
              <a:t>Nozzle Cap</a:t>
            </a:r>
            <a:endParaRPr lang="zh-TW" altLang="en-US" dirty="0"/>
          </a:p>
        </p:txBody>
      </p:sp>
    </p:spTree>
    <p:extLst>
      <p:ext uri="{BB962C8B-B14F-4D97-AF65-F5344CB8AC3E}">
        <p14:creationId xmlns:p14="http://schemas.microsoft.com/office/powerpoint/2010/main" val="163718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a:t>How it works?</a:t>
            </a:r>
            <a:endParaRPr lang="zh-TW" altLang="en-US" dirty="0"/>
          </a:p>
        </p:txBody>
      </p:sp>
      <mc:AlternateContent xmlns:mc="http://schemas.openxmlformats.org/markup-compatibility/2006" xmlns:a14="http://schemas.microsoft.com/office/drawing/2010/main">
        <mc:Choice Requires="a14">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a:t>The Dispensing System:</a:t>
                </a:r>
              </a:p>
              <a:p>
                <a:pPr marL="496888" lvl="1" indent="-228600" algn="just">
                  <a:buFont typeface="+mj-lt"/>
                  <a:buAutoNum type="arabicPeriod" startAt="3"/>
                </a:pPr>
                <a:r>
                  <a:rPr lang="en-US" altLang="zh-TW" dirty="0"/>
                  <a:t>Toothpaste is packed in cylinder packages, and the packages have screwed pieces attached onto the bottom.</a:t>
                </a:r>
              </a:p>
              <a:p>
                <a:pPr marL="496888" lvl="1" indent="-228600" algn="just">
                  <a:buAutoNum type="arabicPeriod" startAt="3"/>
                </a:pPr>
                <a:r>
                  <a:rPr lang="en-US" altLang="zh-TW" dirty="0"/>
                  <a:t>Toothpaste wrap has inner screw cuts, which interact with the screwed piece and has key holes to synchronize the dispenser nozzle and the transmission pulley.</a:t>
                </a:r>
              </a:p>
              <a:p>
                <a:pPr marL="496888" lvl="1" indent="-228600" algn="just">
                  <a:buAutoNum type="arabicPeriod" startAt="3"/>
                </a:pPr>
                <a:r>
                  <a:rPr lang="en-US" altLang="zh-TW" dirty="0"/>
                  <a:t>When the transmission pulley starts working, the dispensing system will start to dispense with the extruding speed (per extrusion)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𝑠</m:t>
                        </m:r>
                      </m:sub>
                    </m:sSub>
                  </m:oMath>
                </a14:m>
                <a:r>
                  <a:rPr lang="en-US" altLang="zh-TW" dirty="0"/>
                  <a:t> of the section area of the toothpaste </a:t>
                </a:r>
                <a14:m>
                  <m:oMath xmlns:m="http://schemas.openxmlformats.org/officeDocument/2006/math">
                    <m:r>
                      <a:rPr lang="en-US" altLang="zh-TW" b="0" i="1" smtClean="0">
                        <a:latin typeface="Cambria Math" panose="02040503050406030204" pitchFamily="18" charset="0"/>
                      </a:rPr>
                      <m:t>𝐴</m:t>
                    </m:r>
                  </m:oMath>
                </a14:m>
                <a:r>
                  <a:rPr lang="en-US" altLang="zh-TW" dirty="0"/>
                  <a:t> times the pitch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marL="268288" lvl="1"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𝑃</m:t>
                    </m:r>
                  </m:oMath>
                </a14:m>
                <a:r>
                  <a:rPr lang="en-US" altLang="zh-TW" dirty="0"/>
                  <a:t> (per extrusion)</a:t>
                </a:r>
              </a:p>
              <a:p>
                <a:pPr marL="444500" lvl="1"/>
                <a:r>
                  <a:rPr lang="en-US" altLang="zh-TW" dirty="0"/>
                  <a:t>…</a:t>
                </a:r>
              </a:p>
            </p:txBody>
          </p:sp>
        </mc:Choice>
        <mc:Fallback xmlns="">
          <p:sp>
            <p:nvSpPr>
              <p:cNvPr id="4" name="文字版面配置區 3"/>
              <p:cNvSpPr>
                <a:spLocks noGrp="1" noRot="1" noChangeAspect="1" noMove="1" noResize="1" noEditPoints="1" noAdjustHandles="1" noChangeArrowheads="1" noChangeShapeType="1" noTextEdit="1"/>
              </p:cNvSpPr>
              <p:nvPr>
                <p:ph type="body" sz="half" idx="2"/>
              </p:nvPr>
            </p:nvSpPr>
            <p:spPr>
              <a:blipFill rotWithShape="0">
                <a:blip r:embed="rId3"/>
                <a:stretch>
                  <a:fillRect l="-348" t="-286"/>
                </a:stretch>
              </a:blipFill>
            </p:spPr>
            <p:txBody>
              <a:bodyPr/>
              <a:lstStyle/>
              <a:p>
                <a:r>
                  <a:rPr lang="zh-TW" altLang="en-US">
                    <a:noFill/>
                  </a:rPr>
                  <a:t> </a:t>
                </a:r>
              </a:p>
            </p:txBody>
          </p:sp>
        </mc:Fallback>
      </mc:AlternateContent>
      <p:pic>
        <p:nvPicPr>
          <p:cNvPr id="15" name="圖片 14"/>
          <p:cNvPicPr>
            <a:picLocks noChangeAspect="1"/>
          </p:cNvPicPr>
          <p:nvPr/>
        </p:nvPicPr>
        <p:blipFill rotWithShape="1">
          <a:blip r:embed="rId4">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1872971" cy="369332"/>
          </a:xfrm>
          <a:prstGeom prst="rect">
            <a:avLst/>
          </a:prstGeom>
          <a:noFill/>
        </p:spPr>
        <p:txBody>
          <a:bodyPr wrap="square" rtlCol="0">
            <a:spAutoFit/>
          </a:bodyPr>
          <a:lstStyle/>
          <a:p>
            <a:r>
              <a:rPr lang="en-US" altLang="zh-TW" dirty="0"/>
              <a:t>Screwed Piece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70" y="3451969"/>
            <a:ext cx="2093951" cy="369332"/>
          </a:xfrm>
          <a:prstGeom prst="rect">
            <a:avLst/>
          </a:prstGeom>
          <a:noFill/>
        </p:spPr>
        <p:txBody>
          <a:bodyPr wrap="square" rtlCol="0">
            <a:spAutoFit/>
          </a:bodyPr>
          <a:lstStyle/>
          <a:p>
            <a:r>
              <a:rPr lang="en-US" altLang="zh-TW" dirty="0"/>
              <a:t>Dispenser Nozzle</a:t>
            </a:r>
            <a:endParaRPr lang="zh-TW" altLang="en-US" dirty="0"/>
          </a:p>
        </p:txBody>
      </p:sp>
    </p:spTree>
    <p:extLst>
      <p:ext uri="{BB962C8B-B14F-4D97-AF65-F5344CB8AC3E}">
        <p14:creationId xmlns:p14="http://schemas.microsoft.com/office/powerpoint/2010/main" val="2855649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a:t>How it works?</a:t>
            </a:r>
            <a:endParaRPr lang="zh-TW" altLang="en-US" dirty="0"/>
          </a:p>
        </p:txBody>
      </p:sp>
      <mc:AlternateContent xmlns:mc="http://schemas.openxmlformats.org/markup-compatibility/2006" xmlns:a14="http://schemas.microsoft.com/office/drawing/2010/main">
        <mc:Choice Requires="a14">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a:t>The Dispensing System:</a:t>
                </a:r>
              </a:p>
              <a:p>
                <a:pPr marL="496888" lvl="1" indent="-228600" algn="just">
                  <a:buFont typeface="+mj-lt"/>
                  <a:buAutoNum type="arabicPeriod" startAt="5"/>
                </a:pPr>
                <a:r>
                  <a:rPr lang="en-US" altLang="zh-TW" dirty="0"/>
                  <a:t>... We could vision that the transmission pulley drives the toothpaste wrap and further the gears to rotate, and at the same time, the nozzle cap and the gear opposite to it will further revolve around the fixed gear; according to the property of the assembly of this way, the screwed piece will go one pitch forward per extrusion since every two round in the toothpaste wrap’s rotation is resulting in one round in the dispenser’s. Here comes the difference of one round between the screwed piece and the toothpaste wrap. So, we could reach the required dispensing amount by properly choosing the </a:t>
                </a:r>
                <a14:m>
                  <m:oMath xmlns:m="http://schemas.openxmlformats.org/officeDocument/2006/math">
                    <m:r>
                      <a:rPr lang="en-US" altLang="zh-TW" i="1">
                        <a:latin typeface="Cambria Math" panose="02040503050406030204" pitchFamily="18" charset="0"/>
                      </a:rPr>
                      <m:t>𝐴</m:t>
                    </m:r>
                  </m:oMath>
                </a14:m>
                <a:r>
                  <a:rPr lang="en-US" altLang="zh-TW" b="0" i="1" dirty="0">
                    <a:latin typeface="Cambria Math" panose="02040503050406030204" pitchFamily="18" charset="0"/>
                    <a:ea typeface="Cambria Math" panose="02040503050406030204" pitchFamily="18" charset="0"/>
                  </a:rPr>
                  <a:t> </a:t>
                </a:r>
                <a:r>
                  <a:rPr lang="en-US" altLang="zh-TW" dirty="0"/>
                  <a:t>and the </a:t>
                </a:r>
                <a14:m>
                  <m:oMath xmlns:m="http://schemas.openxmlformats.org/officeDocument/2006/math">
                    <m:r>
                      <a:rPr lang="en-US" altLang="zh-TW" i="1">
                        <a:latin typeface="Cambria Math" panose="02040503050406030204" pitchFamily="18" charset="0"/>
                        <a:ea typeface="Cambria Math" panose="02040503050406030204" pitchFamily="18" charset="0"/>
                      </a:rPr>
                      <m:t>𝑃</m:t>
                    </m:r>
                  </m:oMath>
                </a14:m>
                <a:r>
                  <a:rPr lang="en-US" altLang="zh-TW" dirty="0"/>
                  <a:t>.</a:t>
                </a:r>
              </a:p>
            </p:txBody>
          </p:sp>
        </mc:Choice>
        <mc:Fallback xmlns="">
          <p:sp>
            <p:nvSpPr>
              <p:cNvPr id="4" name="文字版面配置區 3"/>
              <p:cNvSpPr>
                <a:spLocks noGrp="1" noRot="1" noChangeAspect="1" noMove="1" noResize="1" noEditPoints="1" noAdjustHandles="1" noChangeArrowheads="1" noChangeShapeType="1" noTextEdit="1"/>
              </p:cNvSpPr>
              <p:nvPr>
                <p:ph type="body" sz="half" idx="2"/>
              </p:nvPr>
            </p:nvSpPr>
            <p:spPr>
              <a:blipFill rotWithShape="0">
                <a:blip r:embed="rId3"/>
                <a:stretch>
                  <a:fillRect l="-348" t="-286" r="-1217"/>
                </a:stretch>
              </a:blipFill>
            </p:spPr>
            <p:txBody>
              <a:bodyPr/>
              <a:lstStyle/>
              <a:p>
                <a:r>
                  <a:rPr lang="zh-TW" altLang="en-US">
                    <a:noFill/>
                  </a:rPr>
                  <a:t> </a:t>
                </a:r>
              </a:p>
            </p:txBody>
          </p:sp>
        </mc:Fallback>
      </mc:AlternateContent>
      <p:pic>
        <p:nvPicPr>
          <p:cNvPr id="15" name="圖片 14"/>
          <p:cNvPicPr>
            <a:picLocks noChangeAspect="1"/>
          </p:cNvPicPr>
          <p:nvPr/>
        </p:nvPicPr>
        <p:blipFill rotWithShape="1">
          <a:blip r:embed="rId4">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2699713" cy="923330"/>
          </a:xfrm>
          <a:prstGeom prst="rect">
            <a:avLst/>
          </a:prstGeom>
          <a:noFill/>
        </p:spPr>
        <p:txBody>
          <a:bodyPr wrap="square" rtlCol="0">
            <a:spAutoFit/>
          </a:bodyPr>
          <a:lstStyle/>
          <a:p>
            <a:r>
              <a:rPr lang="en-US" altLang="zh-TW" dirty="0"/>
              <a:t>Screwed Piece</a:t>
            </a:r>
          </a:p>
          <a:p>
            <a:r>
              <a:rPr lang="en-US" altLang="zh-TW" dirty="0"/>
              <a:t>(Synchronized with the dispenser nozzle)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69" y="3451969"/>
            <a:ext cx="2093952" cy="369332"/>
          </a:xfrm>
          <a:prstGeom prst="rect">
            <a:avLst/>
          </a:prstGeom>
          <a:noFill/>
        </p:spPr>
        <p:txBody>
          <a:bodyPr wrap="square" rtlCol="0">
            <a:spAutoFit/>
          </a:bodyPr>
          <a:lstStyle/>
          <a:p>
            <a:r>
              <a:rPr lang="en-US" altLang="zh-TW" dirty="0"/>
              <a:t>Dispenser Nozzle</a:t>
            </a:r>
            <a:endParaRPr lang="zh-TW" altLang="en-US" dirty="0"/>
          </a:p>
        </p:txBody>
      </p:sp>
    </p:spTree>
    <p:extLst>
      <p:ext uri="{BB962C8B-B14F-4D97-AF65-F5344CB8AC3E}">
        <p14:creationId xmlns:p14="http://schemas.microsoft.com/office/powerpoint/2010/main" val="508254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a:t>The Dispensing System:</a:t>
            </a:r>
          </a:p>
          <a:p>
            <a:pPr marL="496888" lvl="1" indent="-228600" algn="just">
              <a:buFont typeface="+mj-lt"/>
              <a:buAutoNum type="arabicPeriod" startAt="6"/>
            </a:pPr>
            <a:r>
              <a:rPr lang="en-US" altLang="zh-TW" dirty="0"/>
              <a:t>The dispenser vent will open once per round of dispenser nozzle’s rotation with the gear ratio set to be 1:1, and the pressure balancer will balance the pressure in the dispenser nozzle when the vent is closed.</a:t>
            </a:r>
          </a:p>
        </p:txBody>
      </p:sp>
      <p:pic>
        <p:nvPicPr>
          <p:cNvPr id="15" name="圖片 14"/>
          <p:cNvPicPr>
            <a:picLocks noChangeAspect="1"/>
          </p:cNvPicPr>
          <p:nvPr/>
        </p:nvPicPr>
        <p:blipFill rotWithShape="1">
          <a:blip r:embed="rId3">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2699713" cy="923330"/>
          </a:xfrm>
          <a:prstGeom prst="rect">
            <a:avLst/>
          </a:prstGeom>
          <a:noFill/>
        </p:spPr>
        <p:txBody>
          <a:bodyPr wrap="square" rtlCol="0">
            <a:spAutoFit/>
          </a:bodyPr>
          <a:lstStyle/>
          <a:p>
            <a:r>
              <a:rPr lang="en-US" altLang="zh-TW" dirty="0"/>
              <a:t>Screwed Piece</a:t>
            </a:r>
          </a:p>
          <a:p>
            <a:r>
              <a:rPr lang="en-US" altLang="zh-TW" dirty="0"/>
              <a:t>(Synchronized with the dispenser nozzle)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69" y="3451969"/>
            <a:ext cx="2093951" cy="369332"/>
          </a:xfrm>
          <a:prstGeom prst="rect">
            <a:avLst/>
          </a:prstGeom>
          <a:noFill/>
        </p:spPr>
        <p:txBody>
          <a:bodyPr wrap="square" rtlCol="0">
            <a:spAutoFit/>
          </a:bodyPr>
          <a:lstStyle/>
          <a:p>
            <a:r>
              <a:rPr lang="en-US" altLang="zh-TW" dirty="0"/>
              <a:t>Dispenser Nozzle</a:t>
            </a:r>
            <a:endParaRPr lang="zh-TW" altLang="en-US" dirty="0"/>
          </a:p>
        </p:txBody>
      </p:sp>
    </p:spTree>
    <p:extLst>
      <p:ext uri="{BB962C8B-B14F-4D97-AF65-F5344CB8AC3E}">
        <p14:creationId xmlns:p14="http://schemas.microsoft.com/office/powerpoint/2010/main" val="3127483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內容版面配置區 12"/>
          <p:cNvSpPr>
            <a:spLocks noGrp="1"/>
          </p:cNvSpPr>
          <p:nvPr>
            <p:ph idx="1"/>
          </p:nvPr>
        </p:nvSpPr>
        <p:spPr/>
        <p:txBody>
          <a:bodyPr/>
          <a:lstStyle/>
          <a:p>
            <a:endParaRPr lang="zh-TW" altLang="en-US" dirty="0"/>
          </a:p>
        </p:txBody>
      </p:sp>
      <p:pic>
        <p:nvPicPr>
          <p:cNvPr id="11" name="圖片 10"/>
          <p:cNvPicPr>
            <a:picLocks noChangeAspect="1"/>
          </p:cNvPicPr>
          <p:nvPr/>
        </p:nvPicPr>
        <p:blipFill rotWithShape="1">
          <a:blip r:embed="rId2">
            <a:extLst>
              <a:ext uri="{28A0092B-C50C-407E-A947-70E740481C1C}">
                <a14:useLocalDpi xmlns:a14="http://schemas.microsoft.com/office/drawing/2010/main" val="0"/>
              </a:ext>
            </a:extLst>
          </a:blip>
          <a:srcRect l="18577" t="4391" r="18846" b="4626"/>
          <a:stretch/>
        </p:blipFill>
        <p:spPr>
          <a:xfrm>
            <a:off x="6121305" y="699944"/>
            <a:ext cx="5607841" cy="5765561"/>
          </a:xfrm>
          <a:prstGeom prst="rect">
            <a:avLst/>
          </a:prstGeom>
        </p:spPr>
      </p:pic>
      <p:sp>
        <p:nvSpPr>
          <p:cNvPr id="2" name="標題 1"/>
          <p:cNvSpPr>
            <a:spLocks noGrp="1"/>
          </p:cNvSpPr>
          <p:nvPr>
            <p:ph type="title"/>
          </p:nvPr>
        </p:nvSpPr>
        <p:spPr/>
        <p:txBody>
          <a:bodyPr/>
          <a:lstStyle/>
          <a:p>
            <a:r>
              <a:rPr lang="en-US" altLang="zh-TW" dirty="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a:t>The Positioning System:</a:t>
            </a:r>
          </a:p>
          <a:p>
            <a:pPr marL="496888" lvl="1" indent="-228600" algn="just">
              <a:buAutoNum type="arabicPeriod"/>
            </a:pPr>
            <a:r>
              <a:rPr lang="en-US" altLang="zh-TW" dirty="0"/>
              <a:t>Driving roller is mounted with a driving pulley at one end and attached with a cam at the other. Driving roller associates other rollers by the conveyor belt to transport toothbrushes through the path to be </a:t>
            </a:r>
            <a:r>
              <a:rPr lang="en-US" altLang="zh-TW" dirty="0" err="1"/>
              <a:t>toothpasted</a:t>
            </a:r>
            <a:r>
              <a:rPr lang="en-US" altLang="zh-TW" dirty="0"/>
              <a:t>.</a:t>
            </a:r>
          </a:p>
          <a:p>
            <a:pPr marL="496888" lvl="1" indent="-228600" algn="just">
              <a:buAutoNum type="arabicPeriod"/>
            </a:pPr>
            <a:r>
              <a:rPr lang="en-US" altLang="zh-TW" dirty="0"/>
              <a:t>Blocking bolt is to position the toothbrushes. Blocking bolt interacts with the cam and blocks per every toothpaste extrusion.</a:t>
            </a:r>
            <a:endParaRPr lang="zh-TW" altLang="en-US" dirty="0"/>
          </a:p>
        </p:txBody>
      </p:sp>
      <p:sp>
        <p:nvSpPr>
          <p:cNvPr id="6" name="向下箭號 5"/>
          <p:cNvSpPr/>
          <p:nvPr/>
        </p:nvSpPr>
        <p:spPr>
          <a:xfrm rot="19306430">
            <a:off x="8193229" y="3818965"/>
            <a:ext cx="349624" cy="11026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7089226" y="3459684"/>
            <a:ext cx="1600683" cy="369332"/>
          </a:xfrm>
          <a:prstGeom prst="rect">
            <a:avLst/>
          </a:prstGeom>
          <a:noFill/>
        </p:spPr>
        <p:txBody>
          <a:bodyPr wrap="square" rtlCol="0">
            <a:spAutoFit/>
          </a:bodyPr>
          <a:lstStyle/>
          <a:p>
            <a:r>
              <a:rPr lang="en-US" altLang="zh-TW" dirty="0"/>
              <a:t>Blocking Bolt</a:t>
            </a:r>
            <a:endParaRPr lang="zh-TW" altLang="en-US" dirty="0"/>
          </a:p>
        </p:txBody>
      </p:sp>
      <p:sp>
        <p:nvSpPr>
          <p:cNvPr id="8" name="向下箭號 7"/>
          <p:cNvSpPr/>
          <p:nvPr/>
        </p:nvSpPr>
        <p:spPr>
          <a:xfrm rot="1733154">
            <a:off x="9128947" y="4771950"/>
            <a:ext cx="336177" cy="1074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8829096" y="4390556"/>
            <a:ext cx="2741995" cy="369332"/>
          </a:xfrm>
          <a:prstGeom prst="rect">
            <a:avLst/>
          </a:prstGeom>
          <a:noFill/>
        </p:spPr>
        <p:txBody>
          <a:bodyPr wrap="square" rtlCol="0">
            <a:spAutoFit/>
          </a:bodyPr>
          <a:lstStyle/>
          <a:p>
            <a:r>
              <a:rPr lang="en-US" altLang="zh-TW" dirty="0"/>
              <a:t>Driving Roller with Cam</a:t>
            </a:r>
            <a:endParaRPr lang="zh-TW" altLang="en-US" dirty="0"/>
          </a:p>
        </p:txBody>
      </p:sp>
      <p:sp>
        <p:nvSpPr>
          <p:cNvPr id="3" name="向上箭號 2"/>
          <p:cNvSpPr/>
          <p:nvPr/>
        </p:nvSpPr>
        <p:spPr>
          <a:xfrm rot="19688338">
            <a:off x="9572133" y="1900030"/>
            <a:ext cx="306286" cy="98357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9296350" y="2888071"/>
            <a:ext cx="1637184" cy="369332"/>
          </a:xfrm>
          <a:prstGeom prst="rect">
            <a:avLst/>
          </a:prstGeom>
          <a:noFill/>
        </p:spPr>
        <p:txBody>
          <a:bodyPr wrap="square" rtlCol="0">
            <a:spAutoFit/>
          </a:bodyPr>
          <a:lstStyle/>
          <a:p>
            <a:r>
              <a:rPr lang="en-US" altLang="zh-TW" dirty="0"/>
              <a:t>Driving Pulley</a:t>
            </a:r>
            <a:endParaRPr lang="zh-TW" altLang="en-US" dirty="0"/>
          </a:p>
        </p:txBody>
      </p:sp>
    </p:spTree>
    <p:extLst>
      <p:ext uri="{BB962C8B-B14F-4D97-AF65-F5344CB8AC3E}">
        <p14:creationId xmlns:p14="http://schemas.microsoft.com/office/powerpoint/2010/main" val="1994480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a:t>Discussion</a:t>
            </a:r>
            <a:endParaRPr lang="zh-TW" altLang="en-US" dirty="0"/>
          </a:p>
        </p:txBody>
      </p:sp>
      <p:sp>
        <p:nvSpPr>
          <p:cNvPr id="8" name="內容版面配置區 7"/>
          <p:cNvSpPr>
            <a:spLocks noGrp="1"/>
          </p:cNvSpPr>
          <p:nvPr>
            <p:ph idx="1"/>
          </p:nvPr>
        </p:nvSpPr>
        <p:spPr/>
        <p:txBody>
          <a:bodyPr>
            <a:normAutofit/>
          </a:bodyPr>
          <a:lstStyle/>
          <a:p>
            <a:pPr algn="just"/>
            <a:r>
              <a:rPr lang="en-US" altLang="zh-TW" dirty="0"/>
              <a:t>Pure mechanical mechanism design offers a sensor-free and control-free system. All the mechanical components are associated with each other by their mechanical properties, and only one general motor will be needed to drive the whole machine. The complexity and further the cost of the machine will be then greatly decreased. Furthermore, by the use of the blocking bolt we’ll still be able to squeeze toothpaste precisely onto the toothbrushes without the need of precision positioning methods.</a:t>
            </a:r>
          </a:p>
          <a:p>
            <a:pPr algn="just"/>
            <a:r>
              <a:rPr lang="en-US" altLang="zh-TW" dirty="0"/>
              <a:t>Rotating dispenser nozzle will distribute toothpaste on the entire bristle surface of the toothbrushes; the distribution can avoid toothpaste dripping.</a:t>
            </a:r>
          </a:p>
          <a:p>
            <a:pPr algn="just"/>
            <a:r>
              <a:rPr lang="en-US" altLang="zh-TW" dirty="0"/>
              <a:t>The dispenser vent should locate eccentrically to the rim in order to make sure the vent opens within the bristle area, closes before getting out of the area, and not to crash into the toothbrushes.</a:t>
            </a:r>
          </a:p>
        </p:txBody>
      </p:sp>
    </p:spTree>
    <p:extLst>
      <p:ext uri="{BB962C8B-B14F-4D97-AF65-F5344CB8AC3E}">
        <p14:creationId xmlns:p14="http://schemas.microsoft.com/office/powerpoint/2010/main" val="3182146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a:t>Discussion</a:t>
            </a:r>
            <a:endParaRPr lang="zh-TW" altLang="en-US" dirty="0"/>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p:txBody>
              <a:bodyPr>
                <a:normAutofit fontScale="92500" lnSpcReduction="20000"/>
              </a:bodyPr>
              <a:lstStyle/>
              <a:p>
                <a:pPr algn="just"/>
                <a:r>
                  <a:rPr lang="en-US" altLang="zh-TW" dirty="0"/>
                  <a:t>The incoming path for the toothbrushes may need to be slanted a little bit, for there needs larger nozzle-to-bristle displacement in the front of the toothbrushes for the dispenser nozzle to pass while there should be close enough at the rear for the toothbrushes to “scrape off” toothpaste from the nozzle.</a:t>
                </a:r>
              </a:p>
              <a:p>
                <a:pPr algn="just"/>
                <a:r>
                  <a:rPr lang="en-US" altLang="zh-TW" dirty="0"/>
                  <a:t>Toothpaste is a common example of Bingham plastic; it needs to be squeezed to flow. By assuming toothpaste is incompressible, the extruded volume of toothpaste must equal to the decrement in volume of the container. So, we are able to get desired extruding volume by setting proper screw pitch and the section area of the toothpaste’s container (as discussed in the paragraph 5 of The Dispensing System in How It Works). On the other hand, toothpaste is acting as viscous fluid when it comes to flow, so the smallest nozzle-to-bristle displacement should be at most 1(mm) to hold the accuracy and not dripping.</a:t>
                </a:r>
              </a:p>
              <a:p>
                <a:pPr algn="just"/>
                <a:r>
                  <a:rPr lang="en-US" altLang="zh-TW" dirty="0"/>
                  <a:t>Considering the possibility of inserting this machine into toothpaste production line, we can simply conduct toothpaste into the dispenser nozzle by a pipe, and by the incoming volume per unit time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𝑖𝑛</m:t>
                        </m:r>
                      </m:sub>
                    </m:sSub>
                  </m:oMath>
                </a14:m>
                <a:r>
                  <a:rPr lang="en-US" altLang="zh-TW" dirty="0"/>
                  <a:t>, we can determine proper angular velocity </a:t>
                </a:r>
                <a14:m>
                  <m:oMath xmlns:m="http://schemas.openxmlformats.org/officeDocument/2006/math">
                    <m:r>
                      <a:rPr lang="zh-TW" altLang="en-US" i="1" smtClean="0">
                        <a:latin typeface="Cambria Math" panose="02040503050406030204" pitchFamily="18" charset="0"/>
                      </a:rPr>
                      <m:t>𝜔</m:t>
                    </m:r>
                  </m:oMath>
                </a14:m>
                <a:r>
                  <a:rPr lang="en-US" altLang="zh-TW" dirty="0"/>
                  <a:t> for the nozzle to compensate for the desired amount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b="0" i="1" smtClean="0">
                            <a:latin typeface="Cambria Math" panose="02040503050406030204" pitchFamily="18" charset="0"/>
                          </a:rPr>
                          <m:t>𝐷</m:t>
                        </m:r>
                      </m:sub>
                    </m:sSub>
                  </m:oMath>
                </a14:m>
                <a:r>
                  <a:rPr lang="en-US" altLang="zh-TW" dirty="0"/>
                  <a:t> by </a:t>
                </a:r>
                <a14:m>
                  <m:oMath xmlns:m="http://schemas.openxmlformats.org/officeDocument/2006/math">
                    <m:r>
                      <a:rPr lang="zh-TW" altLang="en-US" i="1">
                        <a:latin typeface="Cambria Math" panose="02040503050406030204" pitchFamily="18" charset="0"/>
                      </a:rPr>
                      <m:t>𝜔</m:t>
                    </m:r>
                    <m:r>
                      <a:rPr lang="en-US" altLang="zh-TW" b="0" i="1" smtClean="0">
                        <a:latin typeface="Cambria Math" panose="02040503050406030204" pitchFamily="18" charset="0"/>
                      </a:rPr>
                      <m:t>=</m:t>
                    </m:r>
                    <m:f>
                      <m:fPr>
                        <m:type m:val="skw"/>
                        <m:ctrlPr>
                          <a:rPr lang="en-US" altLang="zh-TW" b="0" i="1" smtClean="0">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𝑖𝑛</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𝐷</m:t>
                            </m:r>
                          </m:sub>
                        </m:sSub>
                      </m:den>
                    </m:f>
                  </m:oMath>
                </a14:m>
                <a:r>
                  <a:rPr lang="en-US" altLang="zh-TW" dirty="0"/>
                  <a:t>.</a:t>
                </a:r>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blipFill rotWithShape="0">
                <a:blip r:embed="rId2"/>
                <a:stretch>
                  <a:fillRect l="-342" t="-1774" r="-4788" b="-193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29852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The End</a:t>
            </a:r>
            <a:endParaRPr lang="zh-TW" altLang="en-US" dirty="0"/>
          </a:p>
        </p:txBody>
      </p:sp>
      <p:sp>
        <p:nvSpPr>
          <p:cNvPr id="5" name="文字版面配置區 4"/>
          <p:cNvSpPr>
            <a:spLocks noGrp="1"/>
          </p:cNvSpPr>
          <p:nvPr>
            <p:ph type="body" idx="1"/>
          </p:nvPr>
        </p:nvSpPr>
        <p:spPr/>
        <p:txBody>
          <a:bodyPr/>
          <a:lstStyle/>
          <a:p>
            <a:r>
              <a:rPr lang="en-US" altLang="zh-TW" dirty="0"/>
              <a:t>Thank You</a:t>
            </a:r>
            <a:endParaRPr lang="zh-TW" altLang="en-US" dirty="0"/>
          </a:p>
        </p:txBody>
      </p:sp>
    </p:spTree>
    <p:extLst>
      <p:ext uri="{BB962C8B-B14F-4D97-AF65-F5344CB8AC3E}">
        <p14:creationId xmlns:p14="http://schemas.microsoft.com/office/powerpoint/2010/main" val="148882947"/>
      </p:ext>
    </p:extLst>
  </p:cSld>
  <p:clrMapOvr>
    <a:masterClrMapping/>
  </p:clrMapOvr>
</p:sld>
</file>

<file path=ppt/theme/theme1.xml><?xml version="1.0" encoding="utf-8"?>
<a:theme xmlns:a="http://schemas.openxmlformats.org/drawingml/2006/main" name="絲縷">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3608</TotalTime>
  <Words>1922</Words>
  <Application>Microsoft Office PowerPoint</Application>
  <PresentationFormat>寬螢幕</PresentationFormat>
  <Paragraphs>213</Paragraphs>
  <Slides>27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27</vt:i4>
      </vt:variant>
    </vt:vector>
  </HeadingPairs>
  <TitlesOfParts>
    <vt:vector size="33" baseType="lpstr">
      <vt:lpstr>微軟正黑體</vt:lpstr>
      <vt:lpstr>Arial</vt:lpstr>
      <vt:lpstr>Cambria Math</vt:lpstr>
      <vt:lpstr>Century Gothic</vt:lpstr>
      <vt:lpstr>Wingdings 3</vt:lpstr>
      <vt:lpstr>絲縷</vt:lpstr>
      <vt:lpstr>Toothpaste Dispenser</vt:lpstr>
      <vt:lpstr>Outline</vt:lpstr>
      <vt:lpstr>Overview</vt:lpstr>
      <vt:lpstr>Overview</vt:lpstr>
      <vt:lpstr>Components</vt:lpstr>
      <vt:lpstr>How it works?</vt:lpstr>
      <vt:lpstr>How it works?</vt:lpstr>
      <vt:lpstr>How it works?</vt:lpstr>
      <vt:lpstr>How it works?</vt:lpstr>
      <vt:lpstr>Discussion</vt:lpstr>
      <vt:lpstr>Appendix</vt:lpstr>
      <vt:lpstr>Outline</vt:lpstr>
      <vt:lpstr>Overview</vt:lpstr>
      <vt:lpstr>Overview</vt:lpstr>
      <vt:lpstr>Overview</vt:lpstr>
      <vt:lpstr>Components</vt:lpstr>
      <vt:lpstr>How to use?</vt:lpstr>
      <vt:lpstr>How to use?</vt:lpstr>
      <vt:lpstr>How it works?</vt:lpstr>
      <vt:lpstr>How it works?</vt:lpstr>
      <vt:lpstr>How it works?</vt:lpstr>
      <vt:lpstr>How it works?</vt:lpstr>
      <vt:lpstr>How it works?</vt:lpstr>
      <vt:lpstr>How it works?</vt:lpstr>
      <vt:lpstr>Discussion</vt:lpstr>
      <vt:lpstr>Discussion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Sherlock Wang</dc:creator>
  <cp:lastModifiedBy>Sherlock Holmes</cp:lastModifiedBy>
  <cp:revision>574</cp:revision>
  <dcterms:created xsi:type="dcterms:W3CDTF">2015-01-21T09:11:56Z</dcterms:created>
  <dcterms:modified xsi:type="dcterms:W3CDTF">2017-09-02T18:53:22Z</dcterms:modified>
  <cp:contentStatus>完稿</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